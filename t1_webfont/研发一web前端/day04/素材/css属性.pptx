
<file path=[Content_Types].xml><?xml version="1.0" encoding="utf-8"?>
<Types xmlns="http://schemas.openxmlformats.org/package/2006/content-types">
  <Default Extension="jpeg" ContentType="image/jpe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02" r:id="rId3"/>
    <p:sldId id="423" r:id="rId5"/>
    <p:sldId id="421" r:id="rId6"/>
    <p:sldId id="490" r:id="rId7"/>
    <p:sldId id="491" r:id="rId8"/>
    <p:sldId id="492" r:id="rId9"/>
    <p:sldId id="493" r:id="rId10"/>
    <p:sldId id="495" r:id="rId11"/>
    <p:sldId id="494" r:id="rId12"/>
    <p:sldId id="496" r:id="rId13"/>
    <p:sldId id="497" r:id="rId14"/>
    <p:sldId id="498" r:id="rId15"/>
    <p:sldId id="499" r:id="rId16"/>
    <p:sldId id="502" r:id="rId17"/>
    <p:sldId id="503" r:id="rId18"/>
    <p:sldId id="504" r:id="rId19"/>
    <p:sldId id="507" r:id="rId20"/>
    <p:sldId id="505" r:id="rId21"/>
    <p:sldId id="506" r:id="rId22"/>
    <p:sldId id="508" r:id="rId23"/>
    <p:sldId id="509" r:id="rId24"/>
    <p:sldId id="510" r:id="rId25"/>
    <p:sldId id="511" r:id="rId26"/>
    <p:sldId id="512" r:id="rId27"/>
    <p:sldId id="513" r:id="rId28"/>
    <p:sldId id="514" r:id="rId29"/>
    <p:sldId id="515" r:id="rId30"/>
    <p:sldId id="516" r:id="rId31"/>
    <p:sldId id="522" r:id="rId32"/>
    <p:sldId id="517" r:id="rId33"/>
    <p:sldId id="518" r:id="rId34"/>
    <p:sldId id="519" r:id="rId35"/>
    <p:sldId id="520" r:id="rId36"/>
    <p:sldId id="523" r:id="rId37"/>
    <p:sldId id="524" r:id="rId38"/>
    <p:sldId id="300" r:id="rId39"/>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howGuides="1">
      <p:cViewPr varScale="1">
        <p:scale>
          <a:sx n="77" d="100"/>
          <a:sy n="77" d="100"/>
        </p:scale>
        <p:origin x="-102" y="-1542"/>
      </p:cViewPr>
      <p:guideLst>
        <p:guide orient="horz" pos="1656"/>
        <p:guide pos="2880"/>
      </p:guideLst>
    </p:cSldViewPr>
  </p:slideViewPr>
  <p:notesTextViewPr>
    <p:cViewPr>
      <p:scale>
        <a:sx n="1" d="1"/>
        <a:sy n="1" d="1"/>
      </p:scale>
      <p:origin x="0" y="0"/>
    </p:cViewPr>
  </p:notesTextViewPr>
  <p:sorterViewPr>
    <p:cViewPr>
      <p:scale>
        <a:sx n="186" d="100"/>
        <a:sy n="18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54A1DB-77B4-46A1-8248-376E3A82654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533" y="685800"/>
            <a:ext cx="6094933"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F4DA30-AA03-4F72-96B9-33D624FA8F4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099"/>
            <a:ext cx="7772400" cy="1102712"/>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5160"/>
            <a:ext cx="6400800" cy="131468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8035" indent="0" algn="ctr">
              <a:buNone/>
              <a:defRPr>
                <a:solidFill>
                  <a:schemeClr val="tx1">
                    <a:tint val="75000"/>
                  </a:schemeClr>
                </a:solidFill>
              </a:defRPr>
            </a:lvl7pPr>
            <a:lvl8pPr marL="2400935" indent="0" algn="ctr">
              <a:buNone/>
              <a:defRPr>
                <a:solidFill>
                  <a:schemeClr val="tx1">
                    <a:tint val="75000"/>
                  </a:schemeClr>
                </a:solidFill>
              </a:defRPr>
            </a:lvl8pPr>
            <a:lvl9pPr marL="2743835"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2FABEE-F649-434F-AA04-C5194DFCC830}"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2FABEE-F649-434F-AA04-C5194DFCC83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754"/>
            <a:ext cx="7772400" cy="1021735"/>
          </a:xfr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416"/>
            <a:ext cx="7772400" cy="112533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8035" indent="0">
              <a:buNone/>
              <a:defRPr sz="1050">
                <a:solidFill>
                  <a:schemeClr val="tx1">
                    <a:tint val="75000"/>
                  </a:schemeClr>
                </a:solidFill>
              </a:defRPr>
            </a:lvl7pPr>
            <a:lvl8pPr marL="2400935" indent="0">
              <a:buNone/>
              <a:defRPr sz="1050">
                <a:solidFill>
                  <a:schemeClr val="tx1">
                    <a:tint val="75000"/>
                  </a:schemeClr>
                </a:solidFill>
              </a:defRPr>
            </a:lvl8pPr>
            <a:lvl9pPr marL="2743835" indent="0">
              <a:buNone/>
              <a:defRPr sz="105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2FABEE-F649-434F-AA04-C5194DFCC83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200361"/>
            <a:ext cx="5411788" cy="3395066"/>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3789" y="1200361"/>
            <a:ext cx="5411787" cy="3395066"/>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D2FABEE-F649-434F-AA04-C5194DFCC83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D2FABEE-F649-434F-AA04-C5194DFCC830}" type="slidenum">
              <a:rPr lang="zh-CN" altLang="en-US" smtClean="0"/>
            </a:fld>
            <a:endParaRPr lang="zh-CN" altLang="en-US"/>
          </a:p>
        </p:txBody>
      </p:sp>
      <p:sp>
        <p:nvSpPr>
          <p:cNvPr id="7" name="矩形 6"/>
          <p:cNvSpPr/>
          <p:nvPr userDrawn="1"/>
        </p:nvSpPr>
        <p:spPr>
          <a:xfrm>
            <a:off x="7550092" y="4731990"/>
            <a:ext cx="775136" cy="24622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schemeClr val="bg1">
                    <a:lumMod val="85000"/>
                  </a:schemeClr>
                </a:solidFill>
                <a:effectLst/>
                <a:uLnTx/>
                <a:uFillTx/>
              </a:rPr>
              <a:t>PPT</a:t>
            </a:r>
            <a:r>
              <a:rPr kumimoji="0" lang="zh-CN" altLang="en-US" sz="100" b="0" i="0" u="none" strike="noStrike" kern="0" cap="none" spc="0" normalizeH="0" baseline="0" noProof="0" dirty="0" smtClean="0">
                <a:ln>
                  <a:noFill/>
                </a:ln>
                <a:solidFill>
                  <a:schemeClr val="bg1">
                    <a:lumMod val="85000"/>
                  </a:schemeClr>
                </a:solidFill>
                <a:effectLst/>
                <a:uLnTx/>
                <a:uFillTx/>
              </a:rPr>
              <a:t>模板下载：</a:t>
            </a:r>
            <a:r>
              <a:rPr kumimoji="0" lang="en-US" altLang="zh-CN" sz="100" b="0" i="0" u="none" strike="noStrike" kern="0" cap="none" spc="0" normalizeH="0" baseline="0" noProof="0" dirty="0" smtClean="0">
                <a:ln>
                  <a:noFill/>
                </a:ln>
                <a:solidFill>
                  <a:schemeClr val="bg1">
                    <a:lumMod val="85000"/>
                  </a:schemeClr>
                </a:solidFill>
                <a:effectLst/>
                <a:uLnTx/>
                <a:uFillTx/>
              </a:rPr>
              <a:t>www.1ppt.com/moban/     </a:t>
            </a:r>
            <a:r>
              <a:rPr kumimoji="0" lang="zh-CN" altLang="en-US" sz="100" b="0" i="0" u="none" strike="noStrike" kern="0" cap="none" spc="0" normalizeH="0" baseline="0" noProof="0" dirty="0" smtClean="0">
                <a:ln>
                  <a:noFill/>
                </a:ln>
                <a:solidFill>
                  <a:schemeClr val="bg1">
                    <a:lumMod val="85000"/>
                  </a:schemeClr>
                </a:solidFill>
                <a:effectLst/>
                <a:uLnTx/>
                <a:uFillTx/>
              </a:rPr>
              <a:t>行业</a:t>
            </a:r>
            <a:r>
              <a:rPr kumimoji="0" lang="en-US" altLang="zh-CN" sz="100" b="0" i="0" u="none" strike="noStrike" kern="0" cap="none" spc="0" normalizeH="0" baseline="0" noProof="0" dirty="0" smtClean="0">
                <a:ln>
                  <a:noFill/>
                </a:ln>
                <a:solidFill>
                  <a:schemeClr val="bg1">
                    <a:lumMod val="85000"/>
                  </a:schemeClr>
                </a:solidFill>
                <a:effectLst/>
                <a:uLnTx/>
                <a:uFillTx/>
              </a:rPr>
              <a:t>PPT</a:t>
            </a:r>
            <a:r>
              <a:rPr kumimoji="0" lang="zh-CN" altLang="en-US" sz="100" b="0" i="0" u="none" strike="noStrike" kern="0" cap="none" spc="0" normalizeH="0" baseline="0" noProof="0" dirty="0" smtClean="0">
                <a:ln>
                  <a:noFill/>
                </a:ln>
                <a:solidFill>
                  <a:schemeClr val="bg1">
                    <a:lumMod val="85000"/>
                  </a:schemeClr>
                </a:solidFill>
                <a:effectLst/>
                <a:uLnTx/>
                <a:uFillTx/>
              </a:rPr>
              <a:t>模板：</a:t>
            </a:r>
            <a:r>
              <a:rPr kumimoji="0" lang="en-US" altLang="zh-CN" sz="100" b="0" i="0" u="none" strike="noStrike" kern="0" cap="none" spc="0" normalizeH="0" baseline="0" noProof="0" dirty="0" smtClean="0">
                <a:ln>
                  <a:noFill/>
                </a:ln>
                <a:solidFill>
                  <a:schemeClr val="bg1">
                    <a:lumMod val="85000"/>
                  </a:schemeClr>
                </a:solidFill>
                <a:effectLst/>
                <a:uLnTx/>
                <a:uFillTx/>
              </a:rPr>
              <a:t>www.1ppt.com/hangye/ </a:t>
            </a:r>
            <a:endParaRPr kumimoji="0" lang="en-US" altLang="zh-CN" sz="100" b="0" i="0" u="none" strike="noStrike" kern="0" cap="none" spc="0" normalizeH="0" baseline="0" noProof="0" dirty="0" smtClean="0">
              <a:ln>
                <a:noFill/>
              </a:ln>
              <a:solidFill>
                <a:schemeClr val="bg1">
                  <a:lumMod val="85000"/>
                </a:schemeClr>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schemeClr val="bg1">
                    <a:lumMod val="85000"/>
                  </a:schemeClr>
                </a:solidFill>
                <a:effectLst/>
                <a:uLnTx/>
                <a:uFillTx/>
              </a:rPr>
              <a:t>节日</a:t>
            </a:r>
            <a:r>
              <a:rPr kumimoji="0" lang="en-US" altLang="zh-CN" sz="100" b="0" i="0" u="none" strike="noStrike" kern="0" cap="none" spc="0" normalizeH="0" baseline="0" noProof="0" dirty="0" smtClean="0">
                <a:ln>
                  <a:noFill/>
                </a:ln>
                <a:solidFill>
                  <a:schemeClr val="bg1">
                    <a:lumMod val="85000"/>
                  </a:schemeClr>
                </a:solidFill>
                <a:effectLst/>
                <a:uLnTx/>
                <a:uFillTx/>
              </a:rPr>
              <a:t>PPT</a:t>
            </a:r>
            <a:r>
              <a:rPr kumimoji="0" lang="zh-CN" altLang="en-US" sz="100" b="0" i="0" u="none" strike="noStrike" kern="0" cap="none" spc="0" normalizeH="0" baseline="0" noProof="0" dirty="0" smtClean="0">
                <a:ln>
                  <a:noFill/>
                </a:ln>
                <a:solidFill>
                  <a:schemeClr val="bg1">
                    <a:lumMod val="85000"/>
                  </a:schemeClr>
                </a:solidFill>
                <a:effectLst/>
                <a:uLnTx/>
                <a:uFillTx/>
              </a:rPr>
              <a:t>模板：</a:t>
            </a:r>
            <a:r>
              <a:rPr kumimoji="0" lang="en-US" altLang="zh-CN" sz="100" b="0" i="0" u="none" strike="noStrike" kern="0" cap="none" spc="0" normalizeH="0" baseline="0" noProof="0" dirty="0" smtClean="0">
                <a:ln>
                  <a:noFill/>
                </a:ln>
                <a:solidFill>
                  <a:schemeClr val="bg1">
                    <a:lumMod val="85000"/>
                  </a:schemeClr>
                </a:solidFill>
                <a:effectLst/>
                <a:uLnTx/>
                <a:uFillTx/>
              </a:rPr>
              <a:t>www.1ppt.com/jieri/           PPT</a:t>
            </a:r>
            <a:r>
              <a:rPr kumimoji="0" lang="zh-CN" altLang="en-US" sz="100" b="0" i="0" u="none" strike="noStrike" kern="0" cap="none" spc="0" normalizeH="0" baseline="0" noProof="0" dirty="0" smtClean="0">
                <a:ln>
                  <a:noFill/>
                </a:ln>
                <a:solidFill>
                  <a:schemeClr val="bg1">
                    <a:lumMod val="85000"/>
                  </a:schemeClr>
                </a:solidFill>
                <a:effectLst/>
                <a:uLnTx/>
                <a:uFillTx/>
              </a:rPr>
              <a:t>素材下载：</a:t>
            </a:r>
            <a:r>
              <a:rPr kumimoji="0" lang="en-US" altLang="zh-CN" sz="100" b="0" i="0" u="none" strike="noStrike" kern="0" cap="none" spc="0" normalizeH="0" baseline="0" noProof="0" dirty="0" smtClean="0">
                <a:ln>
                  <a:noFill/>
                </a:ln>
                <a:solidFill>
                  <a:schemeClr val="bg1">
                    <a:lumMod val="85000"/>
                  </a:schemeClr>
                </a:solidFill>
                <a:effectLst/>
                <a:uLnTx/>
                <a:uFillTx/>
              </a:rPr>
              <a:t>www.1ppt.com/sucai/</a:t>
            </a:r>
            <a:endParaRPr kumimoji="0" lang="en-US" altLang="zh-CN" sz="100" b="0" i="0" u="none" strike="noStrike" kern="0" cap="none" spc="0" normalizeH="0" baseline="0" noProof="0" dirty="0" smtClean="0">
              <a:ln>
                <a:noFill/>
              </a:ln>
              <a:solidFill>
                <a:schemeClr val="bg1">
                  <a:lumMod val="85000"/>
                </a:schemeClr>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schemeClr val="bg1">
                    <a:lumMod val="85000"/>
                  </a:schemeClr>
                </a:solidFill>
                <a:effectLst/>
                <a:uLnTx/>
                <a:uFillTx/>
              </a:rPr>
              <a:t>PPT</a:t>
            </a:r>
            <a:r>
              <a:rPr kumimoji="0" lang="zh-CN" altLang="en-US" sz="100" b="0" i="0" u="none" strike="noStrike" kern="0" cap="none" spc="0" normalizeH="0" baseline="0" noProof="0" dirty="0" smtClean="0">
                <a:ln>
                  <a:noFill/>
                </a:ln>
                <a:solidFill>
                  <a:schemeClr val="bg1">
                    <a:lumMod val="85000"/>
                  </a:schemeClr>
                </a:solidFill>
                <a:effectLst/>
                <a:uLnTx/>
                <a:uFillTx/>
              </a:rPr>
              <a:t>背景图片：</a:t>
            </a:r>
            <a:r>
              <a:rPr kumimoji="0" lang="en-US" altLang="zh-CN" sz="100" b="0" i="0" u="none" strike="noStrike" kern="0" cap="none" spc="0" normalizeH="0" baseline="0" noProof="0" dirty="0" smtClean="0">
                <a:ln>
                  <a:noFill/>
                </a:ln>
                <a:solidFill>
                  <a:schemeClr val="bg1">
                    <a:lumMod val="85000"/>
                  </a:schemeClr>
                </a:solidFill>
                <a:effectLst/>
                <a:uLnTx/>
                <a:uFillTx/>
              </a:rPr>
              <a:t>www.1ppt.com/beijing/      PPT</a:t>
            </a:r>
            <a:r>
              <a:rPr kumimoji="0" lang="zh-CN" altLang="en-US" sz="100" b="0" i="0" u="none" strike="noStrike" kern="0" cap="none" spc="0" normalizeH="0" baseline="0" noProof="0" dirty="0" smtClean="0">
                <a:ln>
                  <a:noFill/>
                </a:ln>
                <a:solidFill>
                  <a:schemeClr val="bg1">
                    <a:lumMod val="85000"/>
                  </a:schemeClr>
                </a:solidFill>
                <a:effectLst/>
                <a:uLnTx/>
                <a:uFillTx/>
              </a:rPr>
              <a:t>图表下载：</a:t>
            </a:r>
            <a:r>
              <a:rPr kumimoji="0" lang="en-US" altLang="zh-CN" sz="100" b="0" i="0" u="none" strike="noStrike" kern="0" cap="none" spc="0" normalizeH="0" baseline="0" noProof="0" dirty="0" smtClean="0">
                <a:ln>
                  <a:noFill/>
                </a:ln>
                <a:solidFill>
                  <a:schemeClr val="bg1">
                    <a:lumMod val="85000"/>
                  </a:schemeClr>
                </a:solidFill>
                <a:effectLst/>
                <a:uLnTx/>
                <a:uFillTx/>
              </a:rPr>
              <a:t>www.1ppt.com/tubiao/      </a:t>
            </a:r>
            <a:endParaRPr kumimoji="0" lang="en-US" altLang="zh-CN" sz="100" b="0" i="0" u="none" strike="noStrike" kern="0" cap="none" spc="0" normalizeH="0" baseline="0" noProof="0" dirty="0" smtClean="0">
              <a:ln>
                <a:noFill/>
              </a:ln>
              <a:solidFill>
                <a:schemeClr val="bg1">
                  <a:lumMod val="85000"/>
                </a:schemeClr>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schemeClr val="bg1">
                    <a:lumMod val="85000"/>
                  </a:schemeClr>
                </a:solidFill>
                <a:effectLst/>
                <a:uLnTx/>
                <a:uFillTx/>
              </a:rPr>
              <a:t>优秀</a:t>
            </a:r>
            <a:r>
              <a:rPr kumimoji="0" lang="en-US" altLang="zh-CN" sz="100" b="0" i="0" u="none" strike="noStrike" kern="0" cap="none" spc="0" normalizeH="0" baseline="0" noProof="0" dirty="0" smtClean="0">
                <a:ln>
                  <a:noFill/>
                </a:ln>
                <a:solidFill>
                  <a:schemeClr val="bg1">
                    <a:lumMod val="85000"/>
                  </a:schemeClr>
                </a:solidFill>
                <a:effectLst/>
                <a:uLnTx/>
                <a:uFillTx/>
              </a:rPr>
              <a:t>PPT</a:t>
            </a:r>
            <a:r>
              <a:rPr kumimoji="0" lang="zh-CN" altLang="en-US" sz="100" b="0" i="0" u="none" strike="noStrike" kern="0" cap="none" spc="0" normalizeH="0" baseline="0" noProof="0" dirty="0" smtClean="0">
                <a:ln>
                  <a:noFill/>
                </a:ln>
                <a:solidFill>
                  <a:schemeClr val="bg1">
                    <a:lumMod val="85000"/>
                  </a:schemeClr>
                </a:solidFill>
                <a:effectLst/>
                <a:uLnTx/>
                <a:uFillTx/>
              </a:rPr>
              <a:t>下载：</a:t>
            </a:r>
            <a:r>
              <a:rPr kumimoji="0" lang="en-US" altLang="zh-CN" sz="100" b="0" i="0" u="none" strike="noStrike" kern="0" cap="none" spc="0" normalizeH="0" baseline="0" noProof="0" dirty="0" smtClean="0">
                <a:ln>
                  <a:noFill/>
                </a:ln>
                <a:solidFill>
                  <a:schemeClr val="bg1">
                    <a:lumMod val="85000"/>
                  </a:schemeClr>
                </a:solidFill>
                <a:effectLst/>
                <a:uLnTx/>
                <a:uFillTx/>
              </a:rPr>
              <a:t>www.1ppt.com/xiazai/        PPT</a:t>
            </a:r>
            <a:r>
              <a:rPr kumimoji="0" lang="zh-CN" altLang="en-US" sz="100" b="0" i="0" u="none" strike="noStrike" kern="0" cap="none" spc="0" normalizeH="0" baseline="0" noProof="0" dirty="0" smtClean="0">
                <a:ln>
                  <a:noFill/>
                </a:ln>
                <a:solidFill>
                  <a:schemeClr val="bg1">
                    <a:lumMod val="85000"/>
                  </a:schemeClr>
                </a:solidFill>
                <a:effectLst/>
                <a:uLnTx/>
                <a:uFillTx/>
              </a:rPr>
              <a:t>教程： </a:t>
            </a:r>
            <a:r>
              <a:rPr kumimoji="0" lang="en-US" altLang="zh-CN" sz="100" b="0" i="0" u="none" strike="noStrike" kern="0" cap="none" spc="0" normalizeH="0" baseline="0" noProof="0" dirty="0" smtClean="0">
                <a:ln>
                  <a:noFill/>
                </a:ln>
                <a:solidFill>
                  <a:schemeClr val="bg1">
                    <a:lumMod val="85000"/>
                  </a:schemeClr>
                </a:solidFill>
                <a:effectLst/>
                <a:uLnTx/>
                <a:uFillTx/>
              </a:rPr>
              <a:t>www.1ppt.com/powerpoint/      </a:t>
            </a:r>
            <a:endParaRPr kumimoji="0" lang="en-US" altLang="zh-CN" sz="100" b="0" i="0" u="none" strike="noStrike" kern="0" cap="none" spc="0" normalizeH="0" baseline="0" noProof="0" dirty="0" smtClean="0">
              <a:ln>
                <a:noFill/>
              </a:ln>
              <a:solidFill>
                <a:schemeClr val="bg1">
                  <a:lumMod val="85000"/>
                </a:schemeClr>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schemeClr val="bg1">
                    <a:lumMod val="85000"/>
                  </a:schemeClr>
                </a:solidFill>
                <a:effectLst/>
                <a:uLnTx/>
                <a:uFillTx/>
              </a:rPr>
              <a:t>Word</a:t>
            </a:r>
            <a:r>
              <a:rPr kumimoji="0" lang="zh-CN" altLang="en-US" sz="100" b="0" i="0" u="none" strike="noStrike" kern="0" cap="none" spc="0" normalizeH="0" baseline="0" noProof="0" dirty="0" smtClean="0">
                <a:ln>
                  <a:noFill/>
                </a:ln>
                <a:solidFill>
                  <a:schemeClr val="bg1">
                    <a:lumMod val="85000"/>
                  </a:schemeClr>
                </a:solidFill>
                <a:effectLst/>
                <a:uLnTx/>
                <a:uFillTx/>
              </a:rPr>
              <a:t>教程： </a:t>
            </a:r>
            <a:r>
              <a:rPr kumimoji="0" lang="en-US" altLang="zh-CN" sz="100" b="0" i="0" u="none" strike="noStrike" kern="0" cap="none" spc="0" normalizeH="0" baseline="0" noProof="0" dirty="0" smtClean="0">
                <a:ln>
                  <a:noFill/>
                </a:ln>
                <a:solidFill>
                  <a:schemeClr val="bg1">
                    <a:lumMod val="85000"/>
                  </a:schemeClr>
                </a:solidFill>
                <a:effectLst/>
                <a:uLnTx/>
                <a:uFillTx/>
              </a:rPr>
              <a:t>www.1ppt.com/word/              Excel</a:t>
            </a:r>
            <a:r>
              <a:rPr kumimoji="0" lang="zh-CN" altLang="en-US" sz="100" b="0" i="0" u="none" strike="noStrike" kern="0" cap="none" spc="0" normalizeH="0" baseline="0" noProof="0" dirty="0" smtClean="0">
                <a:ln>
                  <a:noFill/>
                </a:ln>
                <a:solidFill>
                  <a:schemeClr val="bg1">
                    <a:lumMod val="85000"/>
                  </a:schemeClr>
                </a:solidFill>
                <a:effectLst/>
                <a:uLnTx/>
                <a:uFillTx/>
              </a:rPr>
              <a:t>教程：</a:t>
            </a:r>
            <a:r>
              <a:rPr kumimoji="0" lang="en-US" altLang="zh-CN" sz="100" b="0" i="0" u="none" strike="noStrike" kern="0" cap="none" spc="0" normalizeH="0" baseline="0" noProof="0" dirty="0" smtClean="0">
                <a:ln>
                  <a:noFill/>
                </a:ln>
                <a:solidFill>
                  <a:schemeClr val="bg1">
                    <a:lumMod val="85000"/>
                  </a:schemeClr>
                </a:solidFill>
                <a:effectLst/>
                <a:uLnTx/>
                <a:uFillTx/>
              </a:rPr>
              <a:t>www.1ppt.com/excel/  </a:t>
            </a:r>
            <a:endParaRPr kumimoji="0" lang="en-US" altLang="zh-CN" sz="100" b="0" i="0" u="none" strike="noStrike" kern="0" cap="none" spc="0" normalizeH="0" baseline="0" noProof="0" dirty="0" smtClean="0">
              <a:ln>
                <a:noFill/>
              </a:ln>
              <a:solidFill>
                <a:schemeClr val="bg1">
                  <a:lumMod val="85000"/>
                </a:schemeClr>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schemeClr val="bg1">
                    <a:lumMod val="85000"/>
                  </a:schemeClr>
                </a:solidFill>
                <a:effectLst/>
                <a:uLnTx/>
                <a:uFillTx/>
              </a:rPr>
              <a:t>资料下载：</a:t>
            </a:r>
            <a:r>
              <a:rPr kumimoji="0" lang="en-US" altLang="zh-CN" sz="100" b="0" i="0" u="none" strike="noStrike" kern="0" cap="none" spc="0" normalizeH="0" baseline="0" noProof="0" dirty="0" smtClean="0">
                <a:ln>
                  <a:noFill/>
                </a:ln>
                <a:solidFill>
                  <a:schemeClr val="bg1">
                    <a:lumMod val="85000"/>
                  </a:schemeClr>
                </a:solidFill>
                <a:effectLst/>
                <a:uLnTx/>
                <a:uFillTx/>
              </a:rPr>
              <a:t>www.1ppt.com/ziliao/                PPT</a:t>
            </a:r>
            <a:r>
              <a:rPr kumimoji="0" lang="zh-CN" altLang="en-US" sz="100" b="0" i="0" u="none" strike="noStrike" kern="0" cap="none" spc="0" normalizeH="0" baseline="0" noProof="0" dirty="0" smtClean="0">
                <a:ln>
                  <a:noFill/>
                </a:ln>
                <a:solidFill>
                  <a:schemeClr val="bg1">
                    <a:lumMod val="85000"/>
                  </a:schemeClr>
                </a:solidFill>
                <a:effectLst/>
                <a:uLnTx/>
                <a:uFillTx/>
              </a:rPr>
              <a:t>课件下载：</a:t>
            </a:r>
            <a:r>
              <a:rPr kumimoji="0" lang="en-US" altLang="zh-CN" sz="100" b="0" i="0" u="none" strike="noStrike" kern="0" cap="none" spc="0" normalizeH="0" baseline="0" noProof="0" dirty="0" smtClean="0">
                <a:ln>
                  <a:noFill/>
                </a:ln>
                <a:solidFill>
                  <a:schemeClr val="bg1">
                    <a:lumMod val="85000"/>
                  </a:schemeClr>
                </a:solidFill>
                <a:effectLst/>
                <a:uLnTx/>
                <a:uFillTx/>
              </a:rPr>
              <a:t>www.1ppt.com/kejian/ </a:t>
            </a:r>
            <a:endParaRPr kumimoji="0" lang="en-US" altLang="zh-CN" sz="100" b="0" i="0" u="none" strike="noStrike" kern="0" cap="none" spc="0" normalizeH="0" baseline="0" noProof="0" dirty="0" smtClean="0">
              <a:ln>
                <a:noFill/>
              </a:ln>
              <a:solidFill>
                <a:schemeClr val="bg1">
                  <a:lumMod val="85000"/>
                </a:schemeClr>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schemeClr val="bg1">
                    <a:lumMod val="85000"/>
                  </a:schemeClr>
                </a:solidFill>
                <a:effectLst/>
                <a:uLnTx/>
                <a:uFillTx/>
              </a:rPr>
              <a:t>范文下载：</a:t>
            </a:r>
            <a:r>
              <a:rPr kumimoji="0" lang="en-US" altLang="zh-CN" sz="100" b="0" i="0" u="none" strike="noStrike" kern="0" cap="none" spc="0" normalizeH="0" baseline="0" noProof="0" dirty="0" smtClean="0">
                <a:ln>
                  <a:noFill/>
                </a:ln>
                <a:solidFill>
                  <a:schemeClr val="bg1">
                    <a:lumMod val="85000"/>
                  </a:schemeClr>
                </a:solidFill>
                <a:effectLst/>
                <a:uLnTx/>
                <a:uFillTx/>
              </a:rPr>
              <a:t>www.1ppt.com/fanwen/             </a:t>
            </a:r>
            <a:r>
              <a:rPr kumimoji="0" lang="zh-CN" altLang="en-US" sz="100" b="0" i="0" u="none" strike="noStrike" kern="0" cap="none" spc="0" normalizeH="0" baseline="0" noProof="0" dirty="0" smtClean="0">
                <a:ln>
                  <a:noFill/>
                </a:ln>
                <a:solidFill>
                  <a:schemeClr val="bg1">
                    <a:lumMod val="85000"/>
                  </a:schemeClr>
                </a:solidFill>
                <a:effectLst/>
                <a:uLnTx/>
                <a:uFillTx/>
              </a:rPr>
              <a:t>试卷下载：</a:t>
            </a:r>
            <a:r>
              <a:rPr kumimoji="0" lang="en-US" altLang="zh-CN" sz="100" b="0" i="0" u="none" strike="noStrike" kern="0" cap="none" spc="0" normalizeH="0" baseline="0" noProof="0" dirty="0" smtClean="0">
                <a:ln>
                  <a:noFill/>
                </a:ln>
                <a:solidFill>
                  <a:schemeClr val="bg1">
                    <a:lumMod val="85000"/>
                  </a:schemeClr>
                </a:solidFill>
                <a:effectLst/>
                <a:uLnTx/>
                <a:uFillTx/>
              </a:rPr>
              <a:t>www.1ppt.com/shiti/  </a:t>
            </a:r>
            <a:endParaRPr kumimoji="0" lang="en-US" altLang="zh-CN" sz="100" b="0" i="0" u="none" strike="noStrike" kern="0" cap="none" spc="0" normalizeH="0" baseline="0" noProof="0" dirty="0" smtClean="0">
              <a:ln>
                <a:noFill/>
              </a:ln>
              <a:solidFill>
                <a:schemeClr val="bg1">
                  <a:lumMod val="85000"/>
                </a:schemeClr>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schemeClr val="bg1">
                    <a:lumMod val="85000"/>
                  </a:schemeClr>
                </a:solidFill>
                <a:effectLst/>
                <a:uLnTx/>
                <a:uFillTx/>
              </a:rPr>
              <a:t>教案下载：</a:t>
            </a:r>
            <a:r>
              <a:rPr kumimoji="0" lang="en-US" altLang="zh-CN" sz="100" b="0" i="0" u="none" strike="noStrike" kern="0" cap="none" spc="0" normalizeH="0" baseline="0" noProof="0" dirty="0" smtClean="0">
                <a:ln>
                  <a:noFill/>
                </a:ln>
                <a:solidFill>
                  <a:schemeClr val="bg1">
                    <a:lumMod val="85000"/>
                  </a:schemeClr>
                </a:solidFill>
                <a:effectLst/>
                <a:uLnTx/>
                <a:uFillTx/>
              </a:rPr>
              <a:t>www.1ppt.com/jiaoan/        </a:t>
            </a:r>
            <a:endParaRPr kumimoji="0" lang="en-US" altLang="zh-CN" sz="100" b="0" i="0" u="none" strike="noStrike" kern="0" cap="none" spc="0" normalizeH="0" baseline="0" noProof="0" dirty="0" smtClean="0">
              <a:ln>
                <a:noFill/>
              </a:ln>
              <a:solidFill>
                <a:schemeClr val="bg1">
                  <a:lumMod val="85000"/>
                </a:schemeClr>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schemeClr val="bg1">
                    <a:lumMod val="85000"/>
                  </a:schemeClr>
                </a:solidFill>
                <a:effectLst/>
                <a:uLnTx/>
                <a:uFillTx/>
              </a:rPr>
              <a:t>字体下载：</a:t>
            </a:r>
            <a:r>
              <a:rPr kumimoji="0" lang="en-US" altLang="zh-CN" sz="100" b="0" i="0" u="none" strike="noStrike" kern="0" cap="none" spc="0" normalizeH="0" baseline="0" noProof="0" dirty="0" smtClean="0">
                <a:ln>
                  <a:noFill/>
                </a:ln>
                <a:solidFill>
                  <a:schemeClr val="bg1">
                    <a:lumMod val="85000"/>
                  </a:schemeClr>
                </a:solidFill>
                <a:effectLst/>
                <a:uLnTx/>
                <a:uFillTx/>
              </a:rPr>
              <a:t>www.1ppt.com/ziti/</a:t>
            </a:r>
            <a:endParaRPr kumimoji="0" lang="en-US" altLang="zh-CN" sz="100" b="0" i="0" u="none" strike="noStrike" kern="0" cap="none" spc="0" normalizeH="0" baseline="0" noProof="0" dirty="0" smtClean="0">
              <a:ln>
                <a:noFill/>
              </a:ln>
              <a:solidFill>
                <a:schemeClr val="bg1">
                  <a:lumMod val="85000"/>
                </a:schemeClr>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schemeClr val="bg1">
                    <a:lumMod val="85000"/>
                  </a:schemeClr>
                </a:solidFill>
                <a:effectLst/>
                <a:uLnTx/>
                <a:uFillTx/>
              </a:rPr>
              <a:t> </a:t>
            </a:r>
            <a:endParaRPr kumimoji="0" lang="zh-CN" altLang="en-US" sz="100" b="0" i="0" u="none" strike="noStrike" kern="0" cap="none" spc="0" normalizeH="0" baseline="0" noProof="0" dirty="0" smtClean="0">
              <a:ln>
                <a:noFill/>
              </a:ln>
              <a:solidFill>
                <a:schemeClr val="bg1">
                  <a:lumMod val="85000"/>
                </a:schemeClr>
              </a:solidFill>
              <a:effectLst/>
              <a:uLnTx/>
              <a:uFillTx/>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015"/>
            <a:ext cx="8229600" cy="8574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536"/>
            <a:ext cx="4040188" cy="47990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442"/>
            <a:ext cx="4040188" cy="2963985"/>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1536"/>
            <a:ext cx="4041775" cy="47990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442"/>
            <a:ext cx="4041775" cy="2963985"/>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D2FABEE-F649-434F-AA04-C5194DFCC83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D2FABEE-F649-434F-AA04-C5194DFCC83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D2FABEE-F649-434F-AA04-C5194DFCC83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823"/>
            <a:ext cx="3008313" cy="871690"/>
          </a:xfr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49" y="204824"/>
            <a:ext cx="5111750" cy="439060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514"/>
            <a:ext cx="3008313" cy="351891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D2FABEE-F649-434F-AA04-C5194DFCC830}"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1080"/>
            <a:ext cx="5486400" cy="425128"/>
          </a:xfr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662"/>
            <a:ext cx="5486400" cy="308664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8035" indent="0">
              <a:buNone/>
              <a:defRPr sz="1500"/>
            </a:lvl7pPr>
            <a:lvl8pPr marL="2400935" indent="0">
              <a:buNone/>
              <a:defRPr sz="1500"/>
            </a:lvl8pPr>
            <a:lvl9pPr marL="2743835" indent="0">
              <a:buNone/>
              <a:defRPr sz="1500"/>
            </a:lvl9pPr>
          </a:lstStyle>
          <a:p>
            <a:endParaRPr lang="zh-CN" altLang="en-US"/>
          </a:p>
        </p:txBody>
      </p:sp>
      <p:sp>
        <p:nvSpPr>
          <p:cNvPr id="4" name="文本占位符 3"/>
          <p:cNvSpPr>
            <a:spLocks noGrp="1"/>
          </p:cNvSpPr>
          <p:nvPr>
            <p:ph type="body" sz="half" idx="2"/>
          </p:nvPr>
        </p:nvSpPr>
        <p:spPr>
          <a:xfrm>
            <a:off x="1792288" y="4026208"/>
            <a:ext cx="5486400" cy="60375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D2FABEE-F649-434F-AA04-C5194DFCC83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2FABEE-F649-434F-AA04-C5194DFCC830}"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2375" y="206015"/>
            <a:ext cx="2743200" cy="43894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06015"/>
            <a:ext cx="8080375" cy="43894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3EF50FB-A872-4548-BE96-D5572656878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D2FABEE-F649-434F-AA04-C5194DFCC83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png"/><Relationship Id="rId14" Type="http://schemas.microsoft.com/office/2007/relationships/hdphoto" Target="../media/image2.wdp"/><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screen">
            <a:lum/>
            <a:extLst>
              <a:ext uri="{BEBA8EAE-BF5A-486C-A8C5-ECC9F3942E4B}">
                <a14:imgProps xmlns:a14="http://schemas.microsoft.com/office/drawing/2010/main">
                  <a14:imgLayer r:embed="rId14">
                    <a14:imgEffect>
                      <a14:brightnessContrast bright="12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6015"/>
            <a:ext cx="8229600" cy="8574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361"/>
            <a:ext cx="8229600" cy="3395066"/>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4768098"/>
            <a:ext cx="2133600" cy="273892"/>
          </a:xfrm>
          <a:prstGeom prst="rect">
            <a:avLst/>
          </a:prstGeom>
        </p:spPr>
        <p:txBody>
          <a:bodyPr vert="horz" lIns="91440" tIns="45720" rIns="91440" bIns="45720" rtlCol="0" anchor="ctr"/>
          <a:lstStyle>
            <a:lvl1pPr algn="l">
              <a:defRPr sz="900">
                <a:solidFill>
                  <a:schemeClr val="tx1">
                    <a:tint val="75000"/>
                  </a:schemeClr>
                </a:solidFill>
              </a:defRPr>
            </a:lvl1pPr>
          </a:lstStyle>
          <a:p>
            <a:fld id="{33EF50FB-A872-4548-BE96-D55726568788}" type="datetimeFigureOut">
              <a:rPr lang="zh-CN" altLang="en-US" smtClean="0"/>
            </a:fld>
            <a:endParaRPr lang="zh-CN" altLang="en-US"/>
          </a:p>
        </p:txBody>
      </p:sp>
      <p:sp>
        <p:nvSpPr>
          <p:cNvPr id="5" name="页脚占位符 4"/>
          <p:cNvSpPr>
            <a:spLocks noGrp="1"/>
          </p:cNvSpPr>
          <p:nvPr>
            <p:ph type="ftr" sz="quarter" idx="3"/>
          </p:nvPr>
        </p:nvSpPr>
        <p:spPr>
          <a:xfrm>
            <a:off x="3124200" y="4768098"/>
            <a:ext cx="2895600" cy="273892"/>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8098"/>
            <a:ext cx="2133600" cy="273892"/>
          </a:xfrm>
          <a:prstGeom prst="rect">
            <a:avLst/>
          </a:prstGeom>
        </p:spPr>
        <p:txBody>
          <a:bodyPr vert="horz" lIns="91440" tIns="45720" rIns="91440" bIns="45720" rtlCol="0" anchor="ctr"/>
          <a:lstStyle>
            <a:lvl1pPr algn="r">
              <a:defRPr sz="900">
                <a:solidFill>
                  <a:schemeClr val="tx1">
                    <a:tint val="75000"/>
                  </a:schemeClr>
                </a:solidFill>
              </a:defRPr>
            </a:lvl1pPr>
          </a:lstStyle>
          <a:p>
            <a:fld id="{FD2FABEE-F649-434F-AA04-C5194DFCC830}" type="slidenum">
              <a:rPr lang="zh-CN" altLang="en-US" smtClean="0"/>
            </a:fld>
            <a:endParaRPr lang="zh-CN" altLang="en-US"/>
          </a:p>
        </p:txBody>
      </p:sp>
      <p:pic>
        <p:nvPicPr>
          <p:cNvPr id="7" name="图片 6" descr="dblogo"/>
          <p:cNvPicPr>
            <a:picLocks noChangeAspect="1"/>
          </p:cNvPicPr>
          <p:nvPr userDrawn="1"/>
        </p:nvPicPr>
        <p:blipFill>
          <a:blip r:embed="rId15"/>
          <a:stretch>
            <a:fillRect/>
          </a:stretch>
        </p:blipFill>
        <p:spPr>
          <a:xfrm>
            <a:off x="457200" y="129540"/>
            <a:ext cx="1127760" cy="39116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6540" algn="l" defTabSz="685800" rtl="0" eaLnBrk="1" latinLnBrk="0" hangingPunct="1">
        <a:spcBef>
          <a:spcPct val="15000"/>
        </a:spcBef>
        <a:buFont typeface="Arial" panose="020B0604020202020204" pitchFamily="34" charset="0"/>
        <a:buChar char="•"/>
        <a:defRPr sz="2400" kern="1200">
          <a:solidFill>
            <a:schemeClr val="tx1"/>
          </a:solidFill>
          <a:latin typeface="+mn-lt"/>
          <a:ea typeface="+mn-ea"/>
          <a:cs typeface="+mn-cs"/>
        </a:defRPr>
      </a:lvl1pPr>
      <a:lvl2pPr marL="557530" indent="-213995" algn="l" defTabSz="685800" rtl="0" eaLnBrk="1" latinLnBrk="0" hangingPunct="1">
        <a:spcBef>
          <a:spcPct val="15000"/>
        </a:spcBef>
        <a:buFont typeface="Arial" panose="020B0604020202020204" pitchFamily="34" charset="0"/>
        <a:buChar char="–"/>
        <a:defRPr sz="2100" kern="1200">
          <a:solidFill>
            <a:schemeClr val="tx1"/>
          </a:solidFill>
          <a:latin typeface="+mn-lt"/>
          <a:ea typeface="+mn-ea"/>
          <a:cs typeface="+mn-cs"/>
        </a:defRPr>
      </a:lvl2pPr>
      <a:lvl3pPr marL="857250" indent="-170815" algn="l" defTabSz="685800" rtl="0" eaLnBrk="1" latinLnBrk="0" hangingPunct="1">
        <a:spcBef>
          <a:spcPct val="15000"/>
        </a:spcBef>
        <a:buFont typeface="Arial" panose="020B0604020202020204" pitchFamily="34" charset="0"/>
        <a:buChar char="•"/>
        <a:defRPr sz="1800" kern="1200">
          <a:solidFill>
            <a:schemeClr val="tx1"/>
          </a:solidFill>
          <a:latin typeface="+mn-lt"/>
          <a:ea typeface="+mn-ea"/>
          <a:cs typeface="+mn-cs"/>
        </a:defRPr>
      </a:lvl3pPr>
      <a:lvl4pPr marL="1200150" indent="-170815"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4pPr>
      <a:lvl5pPr marL="1543050" indent="-170815"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5pPr>
      <a:lvl6pPr marL="1886585" indent="-170815"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6pPr>
      <a:lvl7pPr marL="2229485" indent="-170815"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7pPr>
      <a:lvl8pPr marL="2572385" indent="-170815"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8pPr>
      <a:lvl9pPr marL="2915285" indent="-170815"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8.xml"/><Relationship Id="rId3" Type="http://schemas.openxmlformats.org/officeDocument/2006/relationships/image" Target="../media/image7.png"/><Relationship Id="rId2" Type="http://schemas.microsoft.com/office/2007/relationships/hdphoto" Target="../media/image6.wdp"/><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8.xml"/><Relationship Id="rId4" Type="http://schemas.openxmlformats.org/officeDocument/2006/relationships/image" Target="../media/image11.jpeg"/><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8.xml"/><Relationship Id="rId3" Type="http://schemas.openxmlformats.org/officeDocument/2006/relationships/image" Target="../media/image7.png"/><Relationship Id="rId2" Type="http://schemas.microsoft.com/office/2007/relationships/hdphoto" Target="../media/image6.wdp"/><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reeform 5"/>
          <p:cNvSpPr/>
          <p:nvPr/>
        </p:nvSpPr>
        <p:spPr bwMode="auto">
          <a:xfrm flipH="1">
            <a:off x="306636" y="662105"/>
            <a:ext cx="1211205" cy="1398008"/>
          </a:xfrm>
          <a:custGeom>
            <a:avLst/>
            <a:gdLst>
              <a:gd name="T0" fmla="*/ 2010 w 2010"/>
              <a:gd name="T1" fmla="*/ 1740 h 2320"/>
              <a:gd name="T2" fmla="*/ 1005 w 2010"/>
              <a:gd name="T3" fmla="*/ 2320 h 2320"/>
              <a:gd name="T4" fmla="*/ 0 w 2010"/>
              <a:gd name="T5" fmla="*/ 1740 h 2320"/>
              <a:gd name="T6" fmla="*/ 0 w 2010"/>
              <a:gd name="T7" fmla="*/ 581 h 2320"/>
              <a:gd name="T8" fmla="*/ 1005 w 2010"/>
              <a:gd name="T9" fmla="*/ 0 h 2320"/>
              <a:gd name="T10" fmla="*/ 2010 w 2010"/>
              <a:gd name="T11" fmla="*/ 581 h 2320"/>
              <a:gd name="T12" fmla="*/ 2010 w 2010"/>
              <a:gd name="T13" fmla="*/ 1740 h 2320"/>
            </a:gdLst>
            <a:ahLst/>
            <a:cxnLst>
              <a:cxn ang="0">
                <a:pos x="T0" y="T1"/>
              </a:cxn>
              <a:cxn ang="0">
                <a:pos x="T2" y="T3"/>
              </a:cxn>
              <a:cxn ang="0">
                <a:pos x="T4" y="T5"/>
              </a:cxn>
              <a:cxn ang="0">
                <a:pos x="T6" y="T7"/>
              </a:cxn>
              <a:cxn ang="0">
                <a:pos x="T8" y="T9"/>
              </a:cxn>
              <a:cxn ang="0">
                <a:pos x="T10" y="T11"/>
              </a:cxn>
              <a:cxn ang="0">
                <a:pos x="T12" y="T13"/>
              </a:cxn>
            </a:cxnLst>
            <a:rect l="0" t="0" r="r" b="b"/>
            <a:pathLst>
              <a:path w="2010" h="2320">
                <a:moveTo>
                  <a:pt x="2010" y="1740"/>
                </a:moveTo>
                <a:lnTo>
                  <a:pt x="1005" y="2320"/>
                </a:lnTo>
                <a:lnTo>
                  <a:pt x="0" y="1740"/>
                </a:lnTo>
                <a:lnTo>
                  <a:pt x="0" y="581"/>
                </a:lnTo>
                <a:lnTo>
                  <a:pt x="1005" y="0"/>
                </a:lnTo>
                <a:lnTo>
                  <a:pt x="2010" y="581"/>
                </a:lnTo>
                <a:lnTo>
                  <a:pt x="2010" y="1740"/>
                </a:lnTo>
                <a:close/>
              </a:path>
            </a:pathLst>
          </a:custGeom>
          <a:solidFill>
            <a:srgbClr val="E0E0E0"/>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dirty="0">
              <a:solidFill>
                <a:schemeClr val="bg1"/>
              </a:solidFill>
              <a:effectLst>
                <a:outerShdw blurRad="38100" dist="38100" dir="2700000" algn="tl">
                  <a:srgbClr val="000000">
                    <a:alpha val="43137"/>
                  </a:srgbClr>
                </a:outerShdw>
              </a:effectLst>
              <a:latin typeface="DIN-BoldItalic" pitchFamily="50" charset="0"/>
            </a:endParaRPr>
          </a:p>
        </p:txBody>
      </p:sp>
      <p:sp>
        <p:nvSpPr>
          <p:cNvPr id="36" name="Freeform 5"/>
          <p:cNvSpPr/>
          <p:nvPr/>
        </p:nvSpPr>
        <p:spPr bwMode="auto">
          <a:xfrm rot="1709469">
            <a:off x="622097" y="691534"/>
            <a:ext cx="1509454" cy="133781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100000">
                <a:srgbClr val="FDFDFD"/>
              </a:gs>
              <a:gs pos="0">
                <a:srgbClr val="E4E4E4"/>
              </a:gs>
            </a:gsLst>
            <a:lin ang="2700000" scaled="1"/>
          </a:gradFill>
          <a:ln w="19050">
            <a:gradFill flip="none" rotWithShape="1">
              <a:gsLst>
                <a:gs pos="0">
                  <a:schemeClr val="bg1"/>
                </a:gs>
                <a:gs pos="100000">
                  <a:schemeClr val="bg1">
                    <a:lumMod val="85000"/>
                  </a:schemeClr>
                </a:gs>
              </a:gsLst>
              <a:lin ang="2700000" scaled="1"/>
              <a:tileRect/>
            </a:gradFill>
          </a:ln>
          <a:effectLst>
            <a:outerShdw blurRad="317500" dist="127000" dir="2700000" algn="tl" rotWithShape="0">
              <a:prstClr val="black">
                <a:alpha val="30000"/>
              </a:prstClr>
            </a:outerShdw>
          </a:effectLst>
        </p:spPr>
        <p:txBody>
          <a:bodyPr vert="horz" wrap="square" lIns="68562" tIns="34281" rIns="68562" bIns="34281" numCol="1" anchor="t" anchorCtr="0" compatLnSpc="1"/>
          <a:lstStyle/>
          <a:p>
            <a:endParaRPr lang="zh-CN" altLang="en-US" sz="1350">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37" name="组合 36"/>
          <p:cNvGrpSpPr/>
          <p:nvPr/>
        </p:nvGrpSpPr>
        <p:grpSpPr>
          <a:xfrm>
            <a:off x="944409" y="768876"/>
            <a:ext cx="866382" cy="1106502"/>
            <a:chOff x="5499100" y="2711450"/>
            <a:chExt cx="1193801" cy="1524666"/>
          </a:xfrm>
          <a:gradFill>
            <a:gsLst>
              <a:gs pos="0">
                <a:srgbClr val="0070C0"/>
              </a:gs>
              <a:gs pos="100000">
                <a:srgbClr val="00B0F0"/>
              </a:gs>
            </a:gsLst>
            <a:lin ang="5400000" scaled="1"/>
          </a:gradFill>
        </p:grpSpPr>
        <p:sp>
          <p:nvSpPr>
            <p:cNvPr id="38" name="Freeform 17"/>
            <p:cNvSpPr/>
            <p:nvPr/>
          </p:nvSpPr>
          <p:spPr bwMode="auto">
            <a:xfrm>
              <a:off x="5892800" y="2711450"/>
              <a:ext cx="401638" cy="439738"/>
            </a:xfrm>
            <a:custGeom>
              <a:avLst/>
              <a:gdLst>
                <a:gd name="T0" fmla="*/ 12 w 106"/>
                <a:gd name="T1" fmla="*/ 75 h 116"/>
                <a:gd name="T2" fmla="*/ 54 w 106"/>
                <a:gd name="T3" fmla="*/ 116 h 116"/>
                <a:gd name="T4" fmla="*/ 96 w 106"/>
                <a:gd name="T5" fmla="*/ 74 h 116"/>
                <a:gd name="T6" fmla="*/ 106 w 106"/>
                <a:gd name="T7" fmla="*/ 56 h 116"/>
                <a:gd name="T8" fmla="*/ 99 w 106"/>
                <a:gd name="T9" fmla="*/ 48 h 116"/>
                <a:gd name="T10" fmla="*/ 54 w 106"/>
                <a:gd name="T11" fmla="*/ 0 h 116"/>
                <a:gd name="T12" fmla="*/ 9 w 106"/>
                <a:gd name="T13" fmla="*/ 47 h 116"/>
                <a:gd name="T14" fmla="*/ 1 w 106"/>
                <a:gd name="T15" fmla="*/ 56 h 116"/>
                <a:gd name="T16" fmla="*/ 12 w 106"/>
                <a:gd name="T17" fmla="*/ 7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6" h="116">
                  <a:moveTo>
                    <a:pt x="12" y="75"/>
                  </a:moveTo>
                  <a:cubicBezTo>
                    <a:pt x="18" y="96"/>
                    <a:pt x="31" y="116"/>
                    <a:pt x="54" y="116"/>
                  </a:cubicBezTo>
                  <a:cubicBezTo>
                    <a:pt x="76" y="116"/>
                    <a:pt x="90" y="96"/>
                    <a:pt x="96" y="74"/>
                  </a:cubicBezTo>
                  <a:cubicBezTo>
                    <a:pt x="102" y="72"/>
                    <a:pt x="106" y="63"/>
                    <a:pt x="106" y="56"/>
                  </a:cubicBezTo>
                  <a:cubicBezTo>
                    <a:pt x="105" y="51"/>
                    <a:pt x="103" y="49"/>
                    <a:pt x="99" y="48"/>
                  </a:cubicBezTo>
                  <a:cubicBezTo>
                    <a:pt x="98" y="21"/>
                    <a:pt x="80" y="0"/>
                    <a:pt x="54" y="0"/>
                  </a:cubicBezTo>
                  <a:cubicBezTo>
                    <a:pt x="28" y="0"/>
                    <a:pt x="10" y="21"/>
                    <a:pt x="9" y="47"/>
                  </a:cubicBezTo>
                  <a:cubicBezTo>
                    <a:pt x="4" y="48"/>
                    <a:pt x="2" y="51"/>
                    <a:pt x="1" y="56"/>
                  </a:cubicBezTo>
                  <a:cubicBezTo>
                    <a:pt x="0" y="63"/>
                    <a:pt x="5" y="73"/>
                    <a:pt x="12" y="7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zh-CN" altLang="en-US" sz="1350">
                <a:solidFill>
                  <a:prstClr val="black"/>
                </a:solidFill>
              </a:endParaRPr>
            </a:p>
          </p:txBody>
        </p:sp>
        <p:sp>
          <p:nvSpPr>
            <p:cNvPr id="42" name="Freeform 18"/>
            <p:cNvSpPr/>
            <p:nvPr/>
          </p:nvSpPr>
          <p:spPr bwMode="auto">
            <a:xfrm>
              <a:off x="5499100" y="3695700"/>
              <a:ext cx="1190625" cy="298450"/>
            </a:xfrm>
            <a:custGeom>
              <a:avLst/>
              <a:gdLst>
                <a:gd name="T0" fmla="*/ 0 w 750"/>
                <a:gd name="T1" fmla="*/ 0 h 188"/>
                <a:gd name="T2" fmla="*/ 79 w 750"/>
                <a:gd name="T3" fmla="*/ 188 h 188"/>
                <a:gd name="T4" fmla="*/ 122 w 750"/>
                <a:gd name="T5" fmla="*/ 188 h 188"/>
                <a:gd name="T6" fmla="*/ 119 w 750"/>
                <a:gd name="T7" fmla="*/ 72 h 188"/>
                <a:gd name="T8" fmla="*/ 633 w 750"/>
                <a:gd name="T9" fmla="*/ 72 h 188"/>
                <a:gd name="T10" fmla="*/ 630 w 750"/>
                <a:gd name="T11" fmla="*/ 188 h 188"/>
                <a:gd name="T12" fmla="*/ 673 w 750"/>
                <a:gd name="T13" fmla="*/ 188 h 188"/>
                <a:gd name="T14" fmla="*/ 750 w 750"/>
                <a:gd name="T15" fmla="*/ 0 h 188"/>
                <a:gd name="T16" fmla="*/ 0 w 750"/>
                <a:gd name="T17" fmla="*/ 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0" h="188">
                  <a:moveTo>
                    <a:pt x="0" y="0"/>
                  </a:moveTo>
                  <a:lnTo>
                    <a:pt x="79" y="188"/>
                  </a:lnTo>
                  <a:lnTo>
                    <a:pt x="122" y="188"/>
                  </a:lnTo>
                  <a:lnTo>
                    <a:pt x="119" y="72"/>
                  </a:lnTo>
                  <a:lnTo>
                    <a:pt x="633" y="72"/>
                  </a:lnTo>
                  <a:lnTo>
                    <a:pt x="630" y="188"/>
                  </a:lnTo>
                  <a:lnTo>
                    <a:pt x="673" y="188"/>
                  </a:lnTo>
                  <a:lnTo>
                    <a:pt x="75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zh-CN" altLang="en-US" sz="1350">
                <a:solidFill>
                  <a:prstClr val="black"/>
                </a:solidFill>
              </a:endParaRPr>
            </a:p>
          </p:txBody>
        </p:sp>
        <p:sp>
          <p:nvSpPr>
            <p:cNvPr id="43" name="Freeform 19"/>
            <p:cNvSpPr/>
            <p:nvPr/>
          </p:nvSpPr>
          <p:spPr bwMode="auto">
            <a:xfrm>
              <a:off x="5722938" y="3846513"/>
              <a:ext cx="746125" cy="389603"/>
            </a:xfrm>
            <a:custGeom>
              <a:avLst/>
              <a:gdLst>
                <a:gd name="T0" fmla="*/ 2 w 470"/>
                <a:gd name="T1" fmla="*/ 193 h 193"/>
                <a:gd name="T2" fmla="*/ 465 w 470"/>
                <a:gd name="T3" fmla="*/ 193 h 193"/>
                <a:gd name="T4" fmla="*/ 470 w 470"/>
                <a:gd name="T5" fmla="*/ 0 h 193"/>
                <a:gd name="T6" fmla="*/ 0 w 470"/>
                <a:gd name="T7" fmla="*/ 0 h 193"/>
                <a:gd name="T8" fmla="*/ 2 w 470"/>
                <a:gd name="T9" fmla="*/ 193 h 193"/>
                <a:gd name="connsiteX0" fmla="*/ 43 w 10000"/>
                <a:gd name="connsiteY0" fmla="*/ 10000 h 11093"/>
                <a:gd name="connsiteX1" fmla="*/ 9894 w 10000"/>
                <a:gd name="connsiteY1" fmla="*/ 10000 h 11093"/>
                <a:gd name="connsiteX2" fmla="*/ 10000 w 10000"/>
                <a:gd name="connsiteY2" fmla="*/ 0 h 11093"/>
                <a:gd name="connsiteX3" fmla="*/ 0 w 10000"/>
                <a:gd name="connsiteY3" fmla="*/ 0 h 11093"/>
                <a:gd name="connsiteX4" fmla="*/ 43 w 10000"/>
                <a:gd name="connsiteY4" fmla="*/ 10000 h 11093"/>
                <a:gd name="connsiteX0-1" fmla="*/ 43 w 10000"/>
                <a:gd name="connsiteY0-2" fmla="*/ 10000 h 11815"/>
                <a:gd name="connsiteX1-3" fmla="*/ 9894 w 10000"/>
                <a:gd name="connsiteY1-4" fmla="*/ 10000 h 11815"/>
                <a:gd name="connsiteX2-5" fmla="*/ 10000 w 10000"/>
                <a:gd name="connsiteY2-6" fmla="*/ 0 h 11815"/>
                <a:gd name="connsiteX3-7" fmla="*/ 0 w 10000"/>
                <a:gd name="connsiteY3-8" fmla="*/ 0 h 11815"/>
                <a:gd name="connsiteX4-9" fmla="*/ 43 w 10000"/>
                <a:gd name="connsiteY4-10" fmla="*/ 10000 h 11815"/>
                <a:gd name="connsiteX0-11" fmla="*/ 43 w 10000"/>
                <a:gd name="connsiteY0-12" fmla="*/ 10000 h 11784"/>
                <a:gd name="connsiteX1-13" fmla="*/ 9894 w 10000"/>
                <a:gd name="connsiteY1-14" fmla="*/ 10000 h 11784"/>
                <a:gd name="connsiteX2-15" fmla="*/ 10000 w 10000"/>
                <a:gd name="connsiteY2-16" fmla="*/ 0 h 11784"/>
                <a:gd name="connsiteX3-17" fmla="*/ 0 w 10000"/>
                <a:gd name="connsiteY3-18" fmla="*/ 0 h 11784"/>
                <a:gd name="connsiteX4-19" fmla="*/ 43 w 10000"/>
                <a:gd name="connsiteY4-20" fmla="*/ 10000 h 11784"/>
                <a:gd name="connsiteX0-21" fmla="*/ 43 w 10000"/>
                <a:gd name="connsiteY0-22" fmla="*/ 10000 h 11753"/>
                <a:gd name="connsiteX1-23" fmla="*/ 9894 w 10000"/>
                <a:gd name="connsiteY1-24" fmla="*/ 10000 h 11753"/>
                <a:gd name="connsiteX2-25" fmla="*/ 10000 w 10000"/>
                <a:gd name="connsiteY2-26" fmla="*/ 0 h 11753"/>
                <a:gd name="connsiteX3-27" fmla="*/ 0 w 10000"/>
                <a:gd name="connsiteY3-28" fmla="*/ 0 h 11753"/>
                <a:gd name="connsiteX4-29" fmla="*/ 43 w 10000"/>
                <a:gd name="connsiteY4-30" fmla="*/ 10000 h 11753"/>
                <a:gd name="connsiteX0-31" fmla="*/ 43 w 10000"/>
                <a:gd name="connsiteY0-32" fmla="*/ 10000 h 12074"/>
                <a:gd name="connsiteX1-33" fmla="*/ 9894 w 10000"/>
                <a:gd name="connsiteY1-34" fmla="*/ 10000 h 12074"/>
                <a:gd name="connsiteX2-35" fmla="*/ 10000 w 10000"/>
                <a:gd name="connsiteY2-36" fmla="*/ 0 h 12074"/>
                <a:gd name="connsiteX3-37" fmla="*/ 0 w 10000"/>
                <a:gd name="connsiteY3-38" fmla="*/ 0 h 12074"/>
                <a:gd name="connsiteX4-39" fmla="*/ 43 w 10000"/>
                <a:gd name="connsiteY4-40" fmla="*/ 10000 h 12074"/>
                <a:gd name="connsiteX0-41" fmla="*/ 43 w 10000"/>
                <a:gd name="connsiteY0-42" fmla="*/ 10000 h 12813"/>
                <a:gd name="connsiteX1-43" fmla="*/ 9894 w 10000"/>
                <a:gd name="connsiteY1-44" fmla="*/ 10000 h 12813"/>
                <a:gd name="connsiteX2-45" fmla="*/ 10000 w 10000"/>
                <a:gd name="connsiteY2-46" fmla="*/ 0 h 12813"/>
                <a:gd name="connsiteX3-47" fmla="*/ 0 w 10000"/>
                <a:gd name="connsiteY3-48" fmla="*/ 0 h 12813"/>
                <a:gd name="connsiteX4-49" fmla="*/ 43 w 10000"/>
                <a:gd name="connsiteY4-50" fmla="*/ 10000 h 12813"/>
                <a:gd name="connsiteX0-51" fmla="*/ 43 w 10000"/>
                <a:gd name="connsiteY0-52" fmla="*/ 10000 h 12716"/>
                <a:gd name="connsiteX1-53" fmla="*/ 9963 w 10000"/>
                <a:gd name="connsiteY1-54" fmla="*/ 9777 h 12716"/>
                <a:gd name="connsiteX2-55" fmla="*/ 10000 w 10000"/>
                <a:gd name="connsiteY2-56" fmla="*/ 0 h 12716"/>
                <a:gd name="connsiteX3-57" fmla="*/ 0 w 10000"/>
                <a:gd name="connsiteY3-58" fmla="*/ 0 h 12716"/>
                <a:gd name="connsiteX4-59" fmla="*/ 43 w 10000"/>
                <a:gd name="connsiteY4-60" fmla="*/ 10000 h 127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2716">
                  <a:moveTo>
                    <a:pt x="43" y="10000"/>
                  </a:moveTo>
                  <a:cubicBezTo>
                    <a:pt x="3260" y="14266"/>
                    <a:pt x="7554" y="12976"/>
                    <a:pt x="9963" y="9777"/>
                  </a:cubicBezTo>
                  <a:cubicBezTo>
                    <a:pt x="9998" y="6444"/>
                    <a:pt x="9965" y="3333"/>
                    <a:pt x="10000" y="0"/>
                  </a:cubicBezTo>
                  <a:lnTo>
                    <a:pt x="0" y="0"/>
                  </a:lnTo>
                  <a:cubicBezTo>
                    <a:pt x="14" y="3333"/>
                    <a:pt x="29" y="6667"/>
                    <a:pt x="43" y="100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zh-CN" altLang="en-US" sz="1350">
                <a:solidFill>
                  <a:prstClr val="black"/>
                </a:solidFill>
              </a:endParaRPr>
            </a:p>
          </p:txBody>
        </p:sp>
        <p:sp>
          <p:nvSpPr>
            <p:cNvPr id="46" name="Freeform 20"/>
            <p:cNvSpPr/>
            <p:nvPr/>
          </p:nvSpPr>
          <p:spPr bwMode="auto">
            <a:xfrm>
              <a:off x="6488113" y="360045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zh-CN" altLang="en-US" sz="1350">
                <a:solidFill>
                  <a:prstClr val="black"/>
                </a:solidFill>
              </a:endParaRPr>
            </a:p>
          </p:txBody>
        </p:sp>
        <p:sp>
          <p:nvSpPr>
            <p:cNvPr id="47" name="Freeform 21"/>
            <p:cNvSpPr/>
            <p:nvPr/>
          </p:nvSpPr>
          <p:spPr bwMode="auto">
            <a:xfrm>
              <a:off x="5684838" y="3173413"/>
              <a:ext cx="1008063" cy="450850"/>
            </a:xfrm>
            <a:custGeom>
              <a:avLst/>
              <a:gdLst>
                <a:gd name="T0" fmla="*/ 49 w 266"/>
                <a:gd name="T1" fmla="*/ 64 h 119"/>
                <a:gd name="T2" fmla="*/ 49 w 266"/>
                <a:gd name="T3" fmla="*/ 64 h 119"/>
                <a:gd name="T4" fmla="*/ 49 w 266"/>
                <a:gd name="T5" fmla="*/ 119 h 119"/>
                <a:gd name="T6" fmla="*/ 105 w 266"/>
                <a:gd name="T7" fmla="*/ 119 h 119"/>
                <a:gd name="T8" fmla="*/ 102 w 266"/>
                <a:gd name="T9" fmla="*/ 83 h 119"/>
                <a:gd name="T10" fmla="*/ 108 w 266"/>
                <a:gd name="T11" fmla="*/ 74 h 119"/>
                <a:gd name="T12" fmla="*/ 115 w 266"/>
                <a:gd name="T13" fmla="*/ 83 h 119"/>
                <a:gd name="T14" fmla="*/ 112 w 266"/>
                <a:gd name="T15" fmla="*/ 119 h 119"/>
                <a:gd name="T16" fmla="*/ 167 w 266"/>
                <a:gd name="T17" fmla="*/ 119 h 119"/>
                <a:gd name="T18" fmla="*/ 167 w 266"/>
                <a:gd name="T19" fmla="*/ 76 h 119"/>
                <a:gd name="T20" fmla="*/ 179 w 266"/>
                <a:gd name="T21" fmla="*/ 95 h 119"/>
                <a:gd name="T22" fmla="*/ 187 w 266"/>
                <a:gd name="T23" fmla="*/ 105 h 119"/>
                <a:gd name="T24" fmla="*/ 192 w 266"/>
                <a:gd name="T25" fmla="*/ 110 h 119"/>
                <a:gd name="T26" fmla="*/ 197 w 266"/>
                <a:gd name="T27" fmla="*/ 112 h 119"/>
                <a:gd name="T28" fmla="*/ 205 w 266"/>
                <a:gd name="T29" fmla="*/ 114 h 119"/>
                <a:gd name="T30" fmla="*/ 212 w 266"/>
                <a:gd name="T31" fmla="*/ 113 h 119"/>
                <a:gd name="T32" fmla="*/ 216 w 266"/>
                <a:gd name="T33" fmla="*/ 111 h 119"/>
                <a:gd name="T34" fmla="*/ 220 w 266"/>
                <a:gd name="T35" fmla="*/ 108 h 119"/>
                <a:gd name="T36" fmla="*/ 226 w 266"/>
                <a:gd name="T37" fmla="*/ 103 h 119"/>
                <a:gd name="T38" fmla="*/ 236 w 266"/>
                <a:gd name="T39" fmla="*/ 92 h 119"/>
                <a:gd name="T40" fmla="*/ 259 w 266"/>
                <a:gd name="T41" fmla="*/ 67 h 119"/>
                <a:gd name="T42" fmla="*/ 257 w 266"/>
                <a:gd name="T43" fmla="*/ 39 h 119"/>
                <a:gd name="T44" fmla="*/ 254 w 266"/>
                <a:gd name="T45" fmla="*/ 37 h 119"/>
                <a:gd name="T46" fmla="*/ 262 w 266"/>
                <a:gd name="T47" fmla="*/ 29 h 119"/>
                <a:gd name="T48" fmla="*/ 262 w 266"/>
                <a:gd name="T49" fmla="*/ 18 h 119"/>
                <a:gd name="T50" fmla="*/ 251 w 266"/>
                <a:gd name="T51" fmla="*/ 18 h 119"/>
                <a:gd name="T52" fmla="*/ 233 w 266"/>
                <a:gd name="T53" fmla="*/ 38 h 119"/>
                <a:gd name="T54" fmla="*/ 229 w 266"/>
                <a:gd name="T55" fmla="*/ 41 h 119"/>
                <a:gd name="T56" fmla="*/ 229 w 266"/>
                <a:gd name="T57" fmla="*/ 41 h 119"/>
                <a:gd name="T58" fmla="*/ 211 w 266"/>
                <a:gd name="T59" fmla="*/ 62 h 119"/>
                <a:gd name="T60" fmla="*/ 207 w 266"/>
                <a:gd name="T61" fmla="*/ 66 h 119"/>
                <a:gd name="T62" fmla="*/ 204 w 266"/>
                <a:gd name="T63" fmla="*/ 60 h 119"/>
                <a:gd name="T64" fmla="*/ 190 w 266"/>
                <a:gd name="T65" fmla="*/ 35 h 119"/>
                <a:gd name="T66" fmla="*/ 186 w 266"/>
                <a:gd name="T67" fmla="*/ 26 h 119"/>
                <a:gd name="T68" fmla="*/ 184 w 266"/>
                <a:gd name="T69" fmla="*/ 23 h 119"/>
                <a:gd name="T70" fmla="*/ 184 w 266"/>
                <a:gd name="T71" fmla="*/ 22 h 119"/>
                <a:gd name="T72" fmla="*/ 184 w 266"/>
                <a:gd name="T73" fmla="*/ 22 h 119"/>
                <a:gd name="T74" fmla="*/ 179 w 266"/>
                <a:gd name="T75" fmla="*/ 16 h 119"/>
                <a:gd name="T76" fmla="*/ 152 w 266"/>
                <a:gd name="T77" fmla="*/ 4 h 119"/>
                <a:gd name="T78" fmla="*/ 138 w 266"/>
                <a:gd name="T79" fmla="*/ 0 h 119"/>
                <a:gd name="T80" fmla="*/ 138 w 266"/>
                <a:gd name="T81" fmla="*/ 0 h 119"/>
                <a:gd name="T82" fmla="*/ 138 w 266"/>
                <a:gd name="T83" fmla="*/ 0 h 119"/>
                <a:gd name="T84" fmla="*/ 120 w 266"/>
                <a:gd name="T85" fmla="*/ 62 h 119"/>
                <a:gd name="T86" fmla="*/ 114 w 266"/>
                <a:gd name="T87" fmla="*/ 24 h 119"/>
                <a:gd name="T88" fmla="*/ 119 w 266"/>
                <a:gd name="T89" fmla="*/ 12 h 119"/>
                <a:gd name="T90" fmla="*/ 111 w 266"/>
                <a:gd name="T91" fmla="*/ 5 h 119"/>
                <a:gd name="T92" fmla="*/ 105 w 266"/>
                <a:gd name="T93" fmla="*/ 5 h 119"/>
                <a:gd name="T94" fmla="*/ 97 w 266"/>
                <a:gd name="T95" fmla="*/ 12 h 119"/>
                <a:gd name="T96" fmla="*/ 102 w 266"/>
                <a:gd name="T97" fmla="*/ 24 h 119"/>
                <a:gd name="T98" fmla="*/ 96 w 266"/>
                <a:gd name="T99" fmla="*/ 62 h 119"/>
                <a:gd name="T100" fmla="*/ 78 w 266"/>
                <a:gd name="T101" fmla="*/ 0 h 119"/>
                <a:gd name="T102" fmla="*/ 78 w 266"/>
                <a:gd name="T103" fmla="*/ 0 h 119"/>
                <a:gd name="T104" fmla="*/ 78 w 266"/>
                <a:gd name="T105" fmla="*/ 0 h 119"/>
                <a:gd name="T106" fmla="*/ 67 w 266"/>
                <a:gd name="T107" fmla="*/ 4 h 119"/>
                <a:gd name="T108" fmla="*/ 28 w 266"/>
                <a:gd name="T109" fmla="*/ 20 h 119"/>
                <a:gd name="T110" fmla="*/ 0 w 266"/>
                <a:gd name="T111" fmla="*/ 119 h 119"/>
                <a:gd name="T112" fmla="*/ 38 w 266"/>
                <a:gd name="T113" fmla="*/ 119 h 119"/>
                <a:gd name="T114" fmla="*/ 49 w 266"/>
                <a:gd name="T115" fmla="*/ 64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66" h="119">
                  <a:moveTo>
                    <a:pt x="49" y="64"/>
                  </a:moveTo>
                  <a:cubicBezTo>
                    <a:pt x="49" y="64"/>
                    <a:pt x="49" y="64"/>
                    <a:pt x="49" y="64"/>
                  </a:cubicBezTo>
                  <a:cubicBezTo>
                    <a:pt x="49" y="119"/>
                    <a:pt x="49" y="119"/>
                    <a:pt x="49" y="119"/>
                  </a:cubicBezTo>
                  <a:cubicBezTo>
                    <a:pt x="105" y="119"/>
                    <a:pt x="105" y="119"/>
                    <a:pt x="105" y="119"/>
                  </a:cubicBezTo>
                  <a:cubicBezTo>
                    <a:pt x="102" y="83"/>
                    <a:pt x="102" y="83"/>
                    <a:pt x="102" y="83"/>
                  </a:cubicBezTo>
                  <a:cubicBezTo>
                    <a:pt x="102" y="78"/>
                    <a:pt x="105" y="74"/>
                    <a:pt x="108" y="74"/>
                  </a:cubicBezTo>
                  <a:cubicBezTo>
                    <a:pt x="112" y="74"/>
                    <a:pt x="115" y="78"/>
                    <a:pt x="115" y="83"/>
                  </a:cubicBezTo>
                  <a:cubicBezTo>
                    <a:pt x="112" y="119"/>
                    <a:pt x="112" y="119"/>
                    <a:pt x="112" y="119"/>
                  </a:cubicBezTo>
                  <a:cubicBezTo>
                    <a:pt x="167" y="119"/>
                    <a:pt x="167" y="119"/>
                    <a:pt x="167" y="119"/>
                  </a:cubicBezTo>
                  <a:cubicBezTo>
                    <a:pt x="167" y="76"/>
                    <a:pt x="167" y="76"/>
                    <a:pt x="167" y="76"/>
                  </a:cubicBezTo>
                  <a:cubicBezTo>
                    <a:pt x="171" y="83"/>
                    <a:pt x="175" y="89"/>
                    <a:pt x="179" y="95"/>
                  </a:cubicBezTo>
                  <a:cubicBezTo>
                    <a:pt x="182" y="99"/>
                    <a:pt x="184" y="102"/>
                    <a:pt x="187" y="105"/>
                  </a:cubicBezTo>
                  <a:cubicBezTo>
                    <a:pt x="188" y="106"/>
                    <a:pt x="190" y="108"/>
                    <a:pt x="192" y="110"/>
                  </a:cubicBezTo>
                  <a:cubicBezTo>
                    <a:pt x="193" y="111"/>
                    <a:pt x="195" y="111"/>
                    <a:pt x="197" y="112"/>
                  </a:cubicBezTo>
                  <a:cubicBezTo>
                    <a:pt x="199" y="113"/>
                    <a:pt x="202" y="114"/>
                    <a:pt x="205" y="114"/>
                  </a:cubicBezTo>
                  <a:cubicBezTo>
                    <a:pt x="207" y="114"/>
                    <a:pt x="209" y="114"/>
                    <a:pt x="212" y="113"/>
                  </a:cubicBezTo>
                  <a:cubicBezTo>
                    <a:pt x="214" y="112"/>
                    <a:pt x="215" y="112"/>
                    <a:pt x="216" y="111"/>
                  </a:cubicBezTo>
                  <a:cubicBezTo>
                    <a:pt x="218" y="110"/>
                    <a:pt x="219" y="109"/>
                    <a:pt x="220" y="108"/>
                  </a:cubicBezTo>
                  <a:cubicBezTo>
                    <a:pt x="222" y="107"/>
                    <a:pt x="224" y="105"/>
                    <a:pt x="226" y="103"/>
                  </a:cubicBezTo>
                  <a:cubicBezTo>
                    <a:pt x="229" y="100"/>
                    <a:pt x="233" y="96"/>
                    <a:pt x="236" y="92"/>
                  </a:cubicBezTo>
                  <a:cubicBezTo>
                    <a:pt x="247" y="80"/>
                    <a:pt x="259" y="67"/>
                    <a:pt x="259" y="67"/>
                  </a:cubicBezTo>
                  <a:cubicBezTo>
                    <a:pt x="266" y="58"/>
                    <a:pt x="265" y="46"/>
                    <a:pt x="257" y="39"/>
                  </a:cubicBezTo>
                  <a:cubicBezTo>
                    <a:pt x="256" y="38"/>
                    <a:pt x="255" y="38"/>
                    <a:pt x="254" y="37"/>
                  </a:cubicBezTo>
                  <a:cubicBezTo>
                    <a:pt x="262" y="29"/>
                    <a:pt x="262" y="29"/>
                    <a:pt x="262" y="29"/>
                  </a:cubicBezTo>
                  <a:cubicBezTo>
                    <a:pt x="265" y="26"/>
                    <a:pt x="265" y="21"/>
                    <a:pt x="262" y="18"/>
                  </a:cubicBezTo>
                  <a:cubicBezTo>
                    <a:pt x="259" y="15"/>
                    <a:pt x="254" y="15"/>
                    <a:pt x="251" y="18"/>
                  </a:cubicBezTo>
                  <a:cubicBezTo>
                    <a:pt x="233" y="38"/>
                    <a:pt x="233" y="38"/>
                    <a:pt x="233" y="38"/>
                  </a:cubicBezTo>
                  <a:cubicBezTo>
                    <a:pt x="231" y="39"/>
                    <a:pt x="230" y="40"/>
                    <a:pt x="229" y="41"/>
                  </a:cubicBezTo>
                  <a:cubicBezTo>
                    <a:pt x="229" y="41"/>
                    <a:pt x="229" y="41"/>
                    <a:pt x="229" y="41"/>
                  </a:cubicBezTo>
                  <a:cubicBezTo>
                    <a:pt x="227" y="43"/>
                    <a:pt x="219" y="53"/>
                    <a:pt x="211" y="62"/>
                  </a:cubicBezTo>
                  <a:cubicBezTo>
                    <a:pt x="209" y="63"/>
                    <a:pt x="208" y="64"/>
                    <a:pt x="207" y="66"/>
                  </a:cubicBezTo>
                  <a:cubicBezTo>
                    <a:pt x="206" y="64"/>
                    <a:pt x="205" y="62"/>
                    <a:pt x="204" y="60"/>
                  </a:cubicBezTo>
                  <a:cubicBezTo>
                    <a:pt x="199" y="52"/>
                    <a:pt x="194" y="42"/>
                    <a:pt x="190" y="35"/>
                  </a:cubicBezTo>
                  <a:cubicBezTo>
                    <a:pt x="188" y="31"/>
                    <a:pt x="187" y="28"/>
                    <a:pt x="186" y="26"/>
                  </a:cubicBezTo>
                  <a:cubicBezTo>
                    <a:pt x="185" y="24"/>
                    <a:pt x="185" y="24"/>
                    <a:pt x="184" y="23"/>
                  </a:cubicBezTo>
                  <a:cubicBezTo>
                    <a:pt x="184" y="22"/>
                    <a:pt x="184" y="22"/>
                    <a:pt x="184" y="22"/>
                  </a:cubicBezTo>
                  <a:cubicBezTo>
                    <a:pt x="184" y="22"/>
                    <a:pt x="184" y="22"/>
                    <a:pt x="184" y="22"/>
                  </a:cubicBezTo>
                  <a:cubicBezTo>
                    <a:pt x="183" y="20"/>
                    <a:pt x="181" y="18"/>
                    <a:pt x="179" y="16"/>
                  </a:cubicBezTo>
                  <a:cubicBezTo>
                    <a:pt x="177" y="13"/>
                    <a:pt x="171" y="9"/>
                    <a:pt x="152" y="4"/>
                  </a:cubicBezTo>
                  <a:cubicBezTo>
                    <a:pt x="147" y="2"/>
                    <a:pt x="142" y="1"/>
                    <a:pt x="138" y="0"/>
                  </a:cubicBezTo>
                  <a:cubicBezTo>
                    <a:pt x="138" y="0"/>
                    <a:pt x="138" y="0"/>
                    <a:pt x="138" y="0"/>
                  </a:cubicBezTo>
                  <a:cubicBezTo>
                    <a:pt x="138" y="0"/>
                    <a:pt x="138" y="0"/>
                    <a:pt x="138" y="0"/>
                  </a:cubicBezTo>
                  <a:cubicBezTo>
                    <a:pt x="137" y="10"/>
                    <a:pt x="134" y="33"/>
                    <a:pt x="120" y="62"/>
                  </a:cubicBezTo>
                  <a:cubicBezTo>
                    <a:pt x="118" y="43"/>
                    <a:pt x="115" y="26"/>
                    <a:pt x="114" y="24"/>
                  </a:cubicBezTo>
                  <a:cubicBezTo>
                    <a:pt x="119" y="12"/>
                    <a:pt x="119" y="12"/>
                    <a:pt x="119" y="12"/>
                  </a:cubicBezTo>
                  <a:cubicBezTo>
                    <a:pt x="111" y="5"/>
                    <a:pt x="111" y="5"/>
                    <a:pt x="111" y="5"/>
                  </a:cubicBezTo>
                  <a:cubicBezTo>
                    <a:pt x="105" y="5"/>
                    <a:pt x="105" y="5"/>
                    <a:pt x="105" y="5"/>
                  </a:cubicBezTo>
                  <a:cubicBezTo>
                    <a:pt x="97" y="12"/>
                    <a:pt x="97" y="12"/>
                    <a:pt x="97" y="12"/>
                  </a:cubicBezTo>
                  <a:cubicBezTo>
                    <a:pt x="102" y="24"/>
                    <a:pt x="102" y="24"/>
                    <a:pt x="102" y="24"/>
                  </a:cubicBezTo>
                  <a:cubicBezTo>
                    <a:pt x="102" y="26"/>
                    <a:pt x="99" y="43"/>
                    <a:pt x="96" y="62"/>
                  </a:cubicBezTo>
                  <a:cubicBezTo>
                    <a:pt x="83" y="33"/>
                    <a:pt x="79" y="10"/>
                    <a:pt x="78" y="0"/>
                  </a:cubicBezTo>
                  <a:cubicBezTo>
                    <a:pt x="78" y="0"/>
                    <a:pt x="78" y="0"/>
                    <a:pt x="78" y="0"/>
                  </a:cubicBezTo>
                  <a:cubicBezTo>
                    <a:pt x="78" y="0"/>
                    <a:pt x="78" y="0"/>
                    <a:pt x="78" y="0"/>
                  </a:cubicBezTo>
                  <a:cubicBezTo>
                    <a:pt x="74" y="1"/>
                    <a:pt x="70" y="2"/>
                    <a:pt x="67" y="4"/>
                  </a:cubicBezTo>
                  <a:cubicBezTo>
                    <a:pt x="55" y="8"/>
                    <a:pt x="38" y="14"/>
                    <a:pt x="28" y="20"/>
                  </a:cubicBezTo>
                  <a:cubicBezTo>
                    <a:pt x="23" y="25"/>
                    <a:pt x="7" y="47"/>
                    <a:pt x="0" y="119"/>
                  </a:cubicBezTo>
                  <a:cubicBezTo>
                    <a:pt x="38" y="119"/>
                    <a:pt x="38" y="119"/>
                    <a:pt x="38" y="119"/>
                  </a:cubicBezTo>
                  <a:cubicBezTo>
                    <a:pt x="40" y="95"/>
                    <a:pt x="46" y="65"/>
                    <a:pt x="49" y="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zh-CN" altLang="en-US" sz="1350">
                <a:solidFill>
                  <a:prstClr val="black"/>
                </a:solidFill>
              </a:endParaRPr>
            </a:p>
          </p:txBody>
        </p:sp>
      </p:grpSp>
      <p:cxnSp>
        <p:nvCxnSpPr>
          <p:cNvPr id="48" name="直接连接符 47"/>
          <p:cNvCxnSpPr/>
          <p:nvPr/>
        </p:nvCxnSpPr>
        <p:spPr>
          <a:xfrm>
            <a:off x="2250440" y="736600"/>
            <a:ext cx="17145" cy="1547495"/>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2327910" y="662305"/>
            <a:ext cx="5172075" cy="583565"/>
          </a:xfrm>
          <a:prstGeom prst="rect">
            <a:avLst/>
          </a:prstGeom>
          <a:noFill/>
        </p:spPr>
        <p:txBody>
          <a:bodyPr wrap="square" rtlCol="0">
            <a:spAutoFit/>
          </a:bodyPr>
          <a:lstStyle/>
          <a:p>
            <a:r>
              <a:rPr lang="zh-CN" altLang="en-US" sz="3200" b="1" dirty="0">
                <a:solidFill>
                  <a:srgbClr val="0070C0"/>
                </a:solidFill>
                <a:latin typeface="微软雅黑" panose="020B0503020204020204" pitchFamily="34" charset="-122"/>
                <a:ea typeface="微软雅黑" panose="020B0503020204020204" pitchFamily="34" charset="-122"/>
                <a:sym typeface="+mn-ea"/>
              </a:rPr>
              <a:t>深蓝软件</a:t>
            </a:r>
            <a:endParaRPr lang="zh-CN" altLang="en-US" sz="3200" b="1" dirty="0">
              <a:solidFill>
                <a:srgbClr val="0070C0"/>
              </a:solidFill>
              <a:latin typeface="微软雅黑" panose="020B0503020204020204" pitchFamily="34" charset="-122"/>
              <a:ea typeface="微软雅黑" panose="020B0503020204020204" pitchFamily="34" charset="-122"/>
              <a:sym typeface="+mn-ea"/>
            </a:endParaRPr>
          </a:p>
        </p:txBody>
      </p:sp>
      <p:cxnSp>
        <p:nvCxnSpPr>
          <p:cNvPr id="50" name="直接连接符 49"/>
          <p:cNvCxnSpPr/>
          <p:nvPr/>
        </p:nvCxnSpPr>
        <p:spPr>
          <a:xfrm>
            <a:off x="2366645" y="1330325"/>
            <a:ext cx="4690110" cy="0"/>
          </a:xfrm>
          <a:prstGeom prst="line">
            <a:avLst/>
          </a:prstGeom>
          <a:ln w="19050">
            <a:solidFill>
              <a:srgbClr val="0070C0"/>
            </a:solidFill>
            <a:prstDash val="sysDash"/>
          </a:ln>
        </p:spPr>
        <p:style>
          <a:lnRef idx="1">
            <a:schemeClr val="accent1"/>
          </a:lnRef>
          <a:fillRef idx="0">
            <a:schemeClr val="accent1"/>
          </a:fillRef>
          <a:effectRef idx="0">
            <a:schemeClr val="accent1"/>
          </a:effectRef>
          <a:fontRef idx="minor">
            <a:schemeClr val="tx1"/>
          </a:fontRef>
        </p:style>
      </p:cxnSp>
      <p:sp>
        <p:nvSpPr>
          <p:cNvPr id="51" name="标题 4"/>
          <p:cNvSpPr txBox="1"/>
          <p:nvPr/>
        </p:nvSpPr>
        <p:spPr>
          <a:xfrm>
            <a:off x="2304338" y="1453362"/>
            <a:ext cx="3171906" cy="276517"/>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1350" b="1" dirty="0" smtClean="0">
                <a:solidFill>
                  <a:schemeClr val="tx1">
                    <a:lumMod val="50000"/>
                    <a:lumOff val="50000"/>
                  </a:schemeClr>
                </a:solidFill>
                <a:latin typeface="微软雅黑" panose="020B0503020204020204" pitchFamily="34" charset="-122"/>
                <a:ea typeface="微软雅黑" panose="020B0503020204020204" pitchFamily="34" charset="-122"/>
              </a:rPr>
              <a:t>        </a:t>
            </a:r>
            <a:r>
              <a:rPr lang="zh-CN" altLang="en-US" sz="1350" b="1" dirty="0" smtClean="0">
                <a:solidFill>
                  <a:schemeClr val="tx1">
                    <a:lumMod val="50000"/>
                    <a:lumOff val="50000"/>
                  </a:schemeClr>
                </a:solidFill>
                <a:latin typeface="微软雅黑" panose="020B0503020204020204" pitchFamily="34" charset="-122"/>
                <a:ea typeface="微软雅黑" panose="020B0503020204020204" pitchFamily="34" charset="-122"/>
              </a:rPr>
              <a:t>努力成为中国软件的翘楚 </a:t>
            </a:r>
            <a:endParaRPr lang="en-US" altLang="zh-CN" sz="1350" b="1" dirty="0" smtClean="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4" name="圆角矩形 53"/>
          <p:cNvSpPr/>
          <p:nvPr/>
        </p:nvSpPr>
        <p:spPr>
          <a:xfrm>
            <a:off x="2422574" y="1833767"/>
            <a:ext cx="2905313" cy="279776"/>
          </a:xfrm>
          <a:prstGeom prst="roundRect">
            <a:avLst>
              <a:gd name="adj" fmla="val 50000"/>
            </a:avLst>
          </a:prstGeom>
          <a:solidFill>
            <a:schemeClr val="bg1">
              <a:lumMod val="95000"/>
            </a:schemeClr>
          </a:solidFill>
          <a:ln w="57150">
            <a:solidFill>
              <a:srgbClr val="0070C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accent1">
                  <a:lumMod val="50000"/>
                </a:schemeClr>
              </a:solidFill>
            </a:endParaRPr>
          </a:p>
        </p:txBody>
      </p:sp>
      <p:sp>
        <p:nvSpPr>
          <p:cNvPr id="55" name="TextBox 7"/>
          <p:cNvSpPr>
            <a:spLocks noChangeArrowheads="1"/>
          </p:cNvSpPr>
          <p:nvPr/>
        </p:nvSpPr>
        <p:spPr bwMode="auto">
          <a:xfrm>
            <a:off x="2707261" y="1883852"/>
            <a:ext cx="2242682" cy="161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zh-CN" altLang="en-US" sz="1050" b="1" dirty="0" smtClean="0">
                <a:solidFill>
                  <a:srgbClr val="0070C0"/>
                </a:solidFill>
                <a:latin typeface="微软雅黑" panose="020B0503020204020204" pitchFamily="34" charset="-122"/>
                <a:ea typeface="微软雅黑" panose="020B0503020204020204" pitchFamily="34" charset="-122"/>
                <a:sym typeface="微软雅黑" panose="020B0503020204020204" pitchFamily="34" charset="-122"/>
              </a:rPr>
              <a:t>制作人</a:t>
            </a:r>
            <a:r>
              <a:rPr lang="zh-CN" altLang="en-US" sz="1050" dirty="0" smtClean="0">
                <a:solidFill>
                  <a:srgbClr val="0070C0"/>
                </a:solidFill>
                <a:latin typeface="微软雅黑" panose="020B0503020204020204" pitchFamily="34" charset="-122"/>
                <a:ea typeface="微软雅黑" panose="020B0503020204020204" pitchFamily="34" charset="-122"/>
                <a:sym typeface="微软雅黑" panose="020B0503020204020204" pitchFamily="34" charset="-122"/>
              </a:rPr>
              <a:t>：深蓝学霸</a:t>
            </a:r>
            <a:endParaRPr lang="zh-CN" altLang="en-US" sz="1050" dirty="0">
              <a:solidFill>
                <a:srgbClr val="0070C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6" name="组合 55"/>
          <p:cNvGrpSpPr/>
          <p:nvPr/>
        </p:nvGrpSpPr>
        <p:grpSpPr>
          <a:xfrm>
            <a:off x="2304338" y="1743413"/>
            <a:ext cx="468297" cy="468297"/>
            <a:chOff x="4333987" y="2362200"/>
            <a:chExt cx="2905011" cy="2905012"/>
          </a:xfrm>
          <a:gradFill>
            <a:gsLst>
              <a:gs pos="62000">
                <a:srgbClr val="C69135"/>
              </a:gs>
              <a:gs pos="34200">
                <a:srgbClr val="E6D38F"/>
              </a:gs>
              <a:gs pos="0">
                <a:srgbClr val="FCD860"/>
              </a:gs>
              <a:gs pos="100000">
                <a:srgbClr val="F1DF97"/>
              </a:gs>
            </a:gsLst>
            <a:lin ang="12000000" scaled="0"/>
          </a:gradFill>
          <a:effectLst>
            <a:outerShdw blurRad="177800" dist="88900" dir="2700000" algn="tl" rotWithShape="0">
              <a:prstClr val="black">
                <a:alpha val="30000"/>
              </a:prstClr>
            </a:outerShdw>
          </a:effectLst>
        </p:grpSpPr>
        <p:sp>
          <p:nvSpPr>
            <p:cNvPr id="57" name="任意多边形 56"/>
            <p:cNvSpPr/>
            <p:nvPr/>
          </p:nvSpPr>
          <p:spPr>
            <a:xfrm>
              <a:off x="4333987" y="2362200"/>
              <a:ext cx="2905011" cy="2905012"/>
            </a:xfrm>
            <a:custGeom>
              <a:avLst/>
              <a:gdLst>
                <a:gd name="connsiteX0" fmla="*/ 1452506 w 2905012"/>
                <a:gd name="connsiteY0" fmla="*/ 376181 h 2905012"/>
                <a:gd name="connsiteX1" fmla="*/ 376181 w 2905012"/>
                <a:gd name="connsiteY1" fmla="*/ 1452506 h 2905012"/>
                <a:gd name="connsiteX2" fmla="*/ 1452506 w 2905012"/>
                <a:gd name="connsiteY2" fmla="*/ 2528831 h 2905012"/>
                <a:gd name="connsiteX3" fmla="*/ 2528831 w 2905012"/>
                <a:gd name="connsiteY3" fmla="*/ 1452506 h 2905012"/>
                <a:gd name="connsiteX4" fmla="*/ 1452506 w 2905012"/>
                <a:gd name="connsiteY4" fmla="*/ 376181 h 2905012"/>
                <a:gd name="connsiteX5" fmla="*/ 1452506 w 2905012"/>
                <a:gd name="connsiteY5" fmla="*/ 0 h 2905012"/>
                <a:gd name="connsiteX6" fmla="*/ 1601017 w 2905012"/>
                <a:gd name="connsiteY6" fmla="*/ 7499 h 2905012"/>
                <a:gd name="connsiteX7" fmla="*/ 1643977 w 2905012"/>
                <a:gd name="connsiteY7" fmla="*/ 14056 h 2905012"/>
                <a:gd name="connsiteX8" fmla="*/ 1695533 w 2905012"/>
                <a:gd name="connsiteY8" fmla="*/ 284571 h 2905012"/>
                <a:gd name="connsiteX9" fmla="*/ 1769616 w 2905012"/>
                <a:gd name="connsiteY9" fmla="*/ 301003 h 2905012"/>
                <a:gd name="connsiteX10" fmla="*/ 1825934 w 2905012"/>
                <a:gd name="connsiteY10" fmla="*/ 319615 h 2905012"/>
                <a:gd name="connsiteX11" fmla="*/ 2006748 w 2905012"/>
                <a:gd name="connsiteY11" fmla="*/ 110068 h 2905012"/>
                <a:gd name="connsiteX12" fmla="*/ 2017887 w 2905012"/>
                <a:gd name="connsiteY12" fmla="*/ 114145 h 2905012"/>
                <a:gd name="connsiteX13" fmla="*/ 2264616 w 2905012"/>
                <a:gd name="connsiteY13" fmla="*/ 248065 h 2905012"/>
                <a:gd name="connsiteX14" fmla="*/ 2337523 w 2905012"/>
                <a:gd name="connsiteY14" fmla="*/ 302584 h 2905012"/>
                <a:gd name="connsiteX15" fmla="*/ 2247066 w 2905012"/>
                <a:gd name="connsiteY15" fmla="*/ 562199 h 2905012"/>
                <a:gd name="connsiteX16" fmla="*/ 2280217 w 2905012"/>
                <a:gd name="connsiteY16" fmla="*/ 591137 h 2905012"/>
                <a:gd name="connsiteX17" fmla="*/ 2343125 w 2905012"/>
                <a:gd name="connsiteY17" fmla="*/ 657838 h 2905012"/>
                <a:gd name="connsiteX18" fmla="*/ 2602428 w 2905012"/>
                <a:gd name="connsiteY18" fmla="*/ 567489 h 2905012"/>
                <a:gd name="connsiteX19" fmla="*/ 2656947 w 2905012"/>
                <a:gd name="connsiteY19" fmla="*/ 640396 h 2905012"/>
                <a:gd name="connsiteX20" fmla="*/ 2790867 w 2905012"/>
                <a:gd name="connsiteY20" fmla="*/ 887125 h 2905012"/>
                <a:gd name="connsiteX21" fmla="*/ 2794944 w 2905012"/>
                <a:gd name="connsiteY21" fmla="*/ 898265 h 2905012"/>
                <a:gd name="connsiteX22" fmla="*/ 2586495 w 2905012"/>
                <a:gd name="connsiteY22" fmla="*/ 1078131 h 2905012"/>
                <a:gd name="connsiteX23" fmla="*/ 2616181 w 2905012"/>
                <a:gd name="connsiteY23" fmla="*/ 1182468 h 2905012"/>
                <a:gd name="connsiteX24" fmla="*/ 2621126 w 2905012"/>
                <a:gd name="connsiteY24" fmla="*/ 1209611 h 2905012"/>
                <a:gd name="connsiteX25" fmla="*/ 2890957 w 2905012"/>
                <a:gd name="connsiteY25" fmla="*/ 1261036 h 2905012"/>
                <a:gd name="connsiteX26" fmla="*/ 2897513 w 2905012"/>
                <a:gd name="connsiteY26" fmla="*/ 1303996 h 2905012"/>
                <a:gd name="connsiteX27" fmla="*/ 2905012 w 2905012"/>
                <a:gd name="connsiteY27" fmla="*/ 1452506 h 2905012"/>
                <a:gd name="connsiteX28" fmla="*/ 2897513 w 2905012"/>
                <a:gd name="connsiteY28" fmla="*/ 1601016 h 2905012"/>
                <a:gd name="connsiteX29" fmla="*/ 2890957 w 2905012"/>
                <a:gd name="connsiteY29" fmla="*/ 1643977 h 2905012"/>
                <a:gd name="connsiteX30" fmla="*/ 2620440 w 2905012"/>
                <a:gd name="connsiteY30" fmla="*/ 1695533 h 2905012"/>
                <a:gd name="connsiteX31" fmla="*/ 2604008 w 2905012"/>
                <a:gd name="connsiteY31" fmla="*/ 1769614 h 2905012"/>
                <a:gd name="connsiteX32" fmla="*/ 2585396 w 2905012"/>
                <a:gd name="connsiteY32" fmla="*/ 1825933 h 2905012"/>
                <a:gd name="connsiteX33" fmla="*/ 2794944 w 2905012"/>
                <a:gd name="connsiteY33" fmla="*/ 2006748 h 2905012"/>
                <a:gd name="connsiteX34" fmla="*/ 2790867 w 2905012"/>
                <a:gd name="connsiteY34" fmla="*/ 2017887 h 2905012"/>
                <a:gd name="connsiteX35" fmla="*/ 2656947 w 2905012"/>
                <a:gd name="connsiteY35" fmla="*/ 2264616 h 2905012"/>
                <a:gd name="connsiteX36" fmla="*/ 2602428 w 2905012"/>
                <a:gd name="connsiteY36" fmla="*/ 2337523 h 2905012"/>
                <a:gd name="connsiteX37" fmla="*/ 2342811 w 2905012"/>
                <a:gd name="connsiteY37" fmla="*/ 2247065 h 2905012"/>
                <a:gd name="connsiteX38" fmla="*/ 2313875 w 2905012"/>
                <a:gd name="connsiteY38" fmla="*/ 2280215 h 2905012"/>
                <a:gd name="connsiteX39" fmla="*/ 2247174 w 2905012"/>
                <a:gd name="connsiteY39" fmla="*/ 2343123 h 2905012"/>
                <a:gd name="connsiteX40" fmla="*/ 2337523 w 2905012"/>
                <a:gd name="connsiteY40" fmla="*/ 2602428 h 2905012"/>
                <a:gd name="connsiteX41" fmla="*/ 2264616 w 2905012"/>
                <a:gd name="connsiteY41" fmla="*/ 2656947 h 2905012"/>
                <a:gd name="connsiteX42" fmla="*/ 2017887 w 2905012"/>
                <a:gd name="connsiteY42" fmla="*/ 2790867 h 2905012"/>
                <a:gd name="connsiteX43" fmla="*/ 2006748 w 2905012"/>
                <a:gd name="connsiteY43" fmla="*/ 2794944 h 2905012"/>
                <a:gd name="connsiteX44" fmla="*/ 1826880 w 2905012"/>
                <a:gd name="connsiteY44" fmla="*/ 2586493 h 2905012"/>
                <a:gd name="connsiteX45" fmla="*/ 1722544 w 2905012"/>
                <a:gd name="connsiteY45" fmla="*/ 2616179 h 2905012"/>
                <a:gd name="connsiteX46" fmla="*/ 1695403 w 2905012"/>
                <a:gd name="connsiteY46" fmla="*/ 2621123 h 2905012"/>
                <a:gd name="connsiteX47" fmla="*/ 1643977 w 2905012"/>
                <a:gd name="connsiteY47" fmla="*/ 2890957 h 2905012"/>
                <a:gd name="connsiteX48" fmla="*/ 1601017 w 2905012"/>
                <a:gd name="connsiteY48" fmla="*/ 2897513 h 2905012"/>
                <a:gd name="connsiteX49" fmla="*/ 1452506 w 2905012"/>
                <a:gd name="connsiteY49" fmla="*/ 2905012 h 2905012"/>
                <a:gd name="connsiteX50" fmla="*/ 1303996 w 2905012"/>
                <a:gd name="connsiteY50" fmla="*/ 2897513 h 2905012"/>
                <a:gd name="connsiteX51" fmla="*/ 1261036 w 2905012"/>
                <a:gd name="connsiteY51" fmla="*/ 2890957 h 2905012"/>
                <a:gd name="connsiteX52" fmla="*/ 1209479 w 2905012"/>
                <a:gd name="connsiteY52" fmla="*/ 2620437 h 2905012"/>
                <a:gd name="connsiteX53" fmla="*/ 1135396 w 2905012"/>
                <a:gd name="connsiteY53" fmla="*/ 2604005 h 2905012"/>
                <a:gd name="connsiteX54" fmla="*/ 1079081 w 2905012"/>
                <a:gd name="connsiteY54" fmla="*/ 2585394 h 2905012"/>
                <a:gd name="connsiteX55" fmla="*/ 898265 w 2905012"/>
                <a:gd name="connsiteY55" fmla="*/ 2794944 h 2905012"/>
                <a:gd name="connsiteX56" fmla="*/ 887125 w 2905012"/>
                <a:gd name="connsiteY56" fmla="*/ 2790867 h 2905012"/>
                <a:gd name="connsiteX57" fmla="*/ 640396 w 2905012"/>
                <a:gd name="connsiteY57" fmla="*/ 2656947 h 2905012"/>
                <a:gd name="connsiteX58" fmla="*/ 567489 w 2905012"/>
                <a:gd name="connsiteY58" fmla="*/ 2602428 h 2905012"/>
                <a:gd name="connsiteX59" fmla="*/ 657947 w 2905012"/>
                <a:gd name="connsiteY59" fmla="*/ 2342810 h 2905012"/>
                <a:gd name="connsiteX60" fmla="*/ 624796 w 2905012"/>
                <a:gd name="connsiteY60" fmla="*/ 2313872 h 2905012"/>
                <a:gd name="connsiteX61" fmla="*/ 561890 w 2905012"/>
                <a:gd name="connsiteY61" fmla="*/ 2247174 h 2905012"/>
                <a:gd name="connsiteX62" fmla="*/ 302584 w 2905012"/>
                <a:gd name="connsiteY62" fmla="*/ 2337523 h 2905012"/>
                <a:gd name="connsiteX63" fmla="*/ 248066 w 2905012"/>
                <a:gd name="connsiteY63" fmla="*/ 2264616 h 2905012"/>
                <a:gd name="connsiteX64" fmla="*/ 114145 w 2905012"/>
                <a:gd name="connsiteY64" fmla="*/ 2017887 h 2905012"/>
                <a:gd name="connsiteX65" fmla="*/ 110068 w 2905012"/>
                <a:gd name="connsiteY65" fmla="*/ 2006748 h 2905012"/>
                <a:gd name="connsiteX66" fmla="*/ 318519 w 2905012"/>
                <a:gd name="connsiteY66" fmla="*/ 1826880 h 2905012"/>
                <a:gd name="connsiteX67" fmla="*/ 288831 w 2905012"/>
                <a:gd name="connsiteY67" fmla="*/ 1722541 h 2905012"/>
                <a:gd name="connsiteX68" fmla="*/ 283887 w 2905012"/>
                <a:gd name="connsiteY68" fmla="*/ 1695402 h 2905012"/>
                <a:gd name="connsiteX69" fmla="*/ 14056 w 2905012"/>
                <a:gd name="connsiteY69" fmla="*/ 1643977 h 2905012"/>
                <a:gd name="connsiteX70" fmla="*/ 7499 w 2905012"/>
                <a:gd name="connsiteY70" fmla="*/ 1601016 h 2905012"/>
                <a:gd name="connsiteX71" fmla="*/ 0 w 2905012"/>
                <a:gd name="connsiteY71" fmla="*/ 1452506 h 2905012"/>
                <a:gd name="connsiteX72" fmla="*/ 7499 w 2905012"/>
                <a:gd name="connsiteY72" fmla="*/ 1303996 h 2905012"/>
                <a:gd name="connsiteX73" fmla="*/ 14056 w 2905012"/>
                <a:gd name="connsiteY73" fmla="*/ 1261036 h 2905012"/>
                <a:gd name="connsiteX74" fmla="*/ 284572 w 2905012"/>
                <a:gd name="connsiteY74" fmla="*/ 1209480 h 2905012"/>
                <a:gd name="connsiteX75" fmla="*/ 301005 w 2905012"/>
                <a:gd name="connsiteY75" fmla="*/ 1135394 h 2905012"/>
                <a:gd name="connsiteX76" fmla="*/ 319616 w 2905012"/>
                <a:gd name="connsiteY76" fmla="*/ 1079079 h 2905012"/>
                <a:gd name="connsiteX77" fmla="*/ 110068 w 2905012"/>
                <a:gd name="connsiteY77" fmla="*/ 898264 h 2905012"/>
                <a:gd name="connsiteX78" fmla="*/ 114145 w 2905012"/>
                <a:gd name="connsiteY78" fmla="*/ 887125 h 2905012"/>
                <a:gd name="connsiteX79" fmla="*/ 248066 w 2905012"/>
                <a:gd name="connsiteY79" fmla="*/ 640396 h 2905012"/>
                <a:gd name="connsiteX80" fmla="*/ 302584 w 2905012"/>
                <a:gd name="connsiteY80" fmla="*/ 567489 h 2905012"/>
                <a:gd name="connsiteX81" fmla="*/ 562199 w 2905012"/>
                <a:gd name="connsiteY81" fmla="*/ 657946 h 2905012"/>
                <a:gd name="connsiteX82" fmla="*/ 591138 w 2905012"/>
                <a:gd name="connsiteY82" fmla="*/ 624794 h 2905012"/>
                <a:gd name="connsiteX83" fmla="*/ 657838 w 2905012"/>
                <a:gd name="connsiteY83" fmla="*/ 561888 h 2905012"/>
                <a:gd name="connsiteX84" fmla="*/ 567489 w 2905012"/>
                <a:gd name="connsiteY84" fmla="*/ 302584 h 2905012"/>
                <a:gd name="connsiteX85" fmla="*/ 640396 w 2905012"/>
                <a:gd name="connsiteY85" fmla="*/ 248065 h 2905012"/>
                <a:gd name="connsiteX86" fmla="*/ 887125 w 2905012"/>
                <a:gd name="connsiteY86" fmla="*/ 114145 h 2905012"/>
                <a:gd name="connsiteX87" fmla="*/ 898265 w 2905012"/>
                <a:gd name="connsiteY87" fmla="*/ 110068 h 2905012"/>
                <a:gd name="connsiteX88" fmla="*/ 1078131 w 2905012"/>
                <a:gd name="connsiteY88" fmla="*/ 318516 h 2905012"/>
                <a:gd name="connsiteX89" fmla="*/ 1182469 w 2905012"/>
                <a:gd name="connsiteY89" fmla="*/ 288830 h 2905012"/>
                <a:gd name="connsiteX90" fmla="*/ 1209611 w 2905012"/>
                <a:gd name="connsiteY90" fmla="*/ 283886 h 2905012"/>
                <a:gd name="connsiteX91" fmla="*/ 1261036 w 2905012"/>
                <a:gd name="connsiteY91" fmla="*/ 14056 h 2905012"/>
                <a:gd name="connsiteX92" fmla="*/ 1303996 w 2905012"/>
                <a:gd name="connsiteY92" fmla="*/ 7499 h 2905012"/>
                <a:gd name="connsiteX93" fmla="*/ 1452506 w 2905012"/>
                <a:gd name="connsiteY93" fmla="*/ 0 h 2905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2905012" h="2905012">
                  <a:moveTo>
                    <a:pt x="1452506" y="376181"/>
                  </a:moveTo>
                  <a:cubicBezTo>
                    <a:pt x="858068" y="376181"/>
                    <a:pt x="376181" y="858068"/>
                    <a:pt x="376181" y="1452506"/>
                  </a:cubicBezTo>
                  <a:cubicBezTo>
                    <a:pt x="376181" y="2046944"/>
                    <a:pt x="858068" y="2528831"/>
                    <a:pt x="1452506" y="2528831"/>
                  </a:cubicBezTo>
                  <a:cubicBezTo>
                    <a:pt x="2046944" y="2528831"/>
                    <a:pt x="2528831" y="2046944"/>
                    <a:pt x="2528831" y="1452506"/>
                  </a:cubicBezTo>
                  <a:cubicBezTo>
                    <a:pt x="2528831" y="858068"/>
                    <a:pt x="2046944" y="376181"/>
                    <a:pt x="1452506" y="376181"/>
                  </a:cubicBezTo>
                  <a:close/>
                  <a:moveTo>
                    <a:pt x="1452506" y="0"/>
                  </a:moveTo>
                  <a:cubicBezTo>
                    <a:pt x="1502644" y="0"/>
                    <a:pt x="1552188" y="2540"/>
                    <a:pt x="1601017" y="7499"/>
                  </a:cubicBezTo>
                  <a:lnTo>
                    <a:pt x="1643977" y="14056"/>
                  </a:lnTo>
                  <a:lnTo>
                    <a:pt x="1695533" y="284571"/>
                  </a:lnTo>
                  <a:lnTo>
                    <a:pt x="1769616" y="301003"/>
                  </a:lnTo>
                  <a:lnTo>
                    <a:pt x="1825934" y="319615"/>
                  </a:lnTo>
                  <a:lnTo>
                    <a:pt x="2006748" y="110068"/>
                  </a:lnTo>
                  <a:lnTo>
                    <a:pt x="2017887" y="114145"/>
                  </a:lnTo>
                  <a:cubicBezTo>
                    <a:pt x="2104775" y="150896"/>
                    <a:pt x="2187342" y="195860"/>
                    <a:pt x="2264616" y="248065"/>
                  </a:cubicBezTo>
                  <a:lnTo>
                    <a:pt x="2337523" y="302584"/>
                  </a:lnTo>
                  <a:lnTo>
                    <a:pt x="2247066" y="562199"/>
                  </a:lnTo>
                  <a:lnTo>
                    <a:pt x="2280217" y="591137"/>
                  </a:lnTo>
                  <a:lnTo>
                    <a:pt x="2343125" y="657838"/>
                  </a:lnTo>
                  <a:lnTo>
                    <a:pt x="2602428" y="567489"/>
                  </a:lnTo>
                  <a:lnTo>
                    <a:pt x="2656947" y="640396"/>
                  </a:lnTo>
                  <a:cubicBezTo>
                    <a:pt x="2709152" y="717670"/>
                    <a:pt x="2754117" y="800238"/>
                    <a:pt x="2790867" y="887125"/>
                  </a:cubicBezTo>
                  <a:lnTo>
                    <a:pt x="2794944" y="898265"/>
                  </a:lnTo>
                  <a:lnTo>
                    <a:pt x="2586495" y="1078131"/>
                  </a:lnTo>
                  <a:lnTo>
                    <a:pt x="2616181" y="1182468"/>
                  </a:lnTo>
                  <a:lnTo>
                    <a:pt x="2621126" y="1209611"/>
                  </a:lnTo>
                  <a:lnTo>
                    <a:pt x="2890957" y="1261036"/>
                  </a:lnTo>
                  <a:lnTo>
                    <a:pt x="2897513" y="1303996"/>
                  </a:lnTo>
                  <a:cubicBezTo>
                    <a:pt x="2902472" y="1352825"/>
                    <a:pt x="2905012" y="1402369"/>
                    <a:pt x="2905012" y="1452506"/>
                  </a:cubicBezTo>
                  <a:cubicBezTo>
                    <a:pt x="2905012" y="1502643"/>
                    <a:pt x="2902472" y="1552187"/>
                    <a:pt x="2897513" y="1601016"/>
                  </a:cubicBezTo>
                  <a:lnTo>
                    <a:pt x="2890957" y="1643977"/>
                  </a:lnTo>
                  <a:lnTo>
                    <a:pt x="2620440" y="1695533"/>
                  </a:lnTo>
                  <a:lnTo>
                    <a:pt x="2604008" y="1769614"/>
                  </a:lnTo>
                  <a:lnTo>
                    <a:pt x="2585396" y="1825933"/>
                  </a:lnTo>
                  <a:lnTo>
                    <a:pt x="2794944" y="2006748"/>
                  </a:lnTo>
                  <a:lnTo>
                    <a:pt x="2790867" y="2017887"/>
                  </a:lnTo>
                  <a:cubicBezTo>
                    <a:pt x="2754117" y="2104775"/>
                    <a:pt x="2709152" y="2187342"/>
                    <a:pt x="2656947" y="2264616"/>
                  </a:cubicBezTo>
                  <a:lnTo>
                    <a:pt x="2602428" y="2337523"/>
                  </a:lnTo>
                  <a:lnTo>
                    <a:pt x="2342811" y="2247065"/>
                  </a:lnTo>
                  <a:lnTo>
                    <a:pt x="2313875" y="2280215"/>
                  </a:lnTo>
                  <a:lnTo>
                    <a:pt x="2247174" y="2343123"/>
                  </a:lnTo>
                  <a:lnTo>
                    <a:pt x="2337523" y="2602428"/>
                  </a:lnTo>
                  <a:lnTo>
                    <a:pt x="2264616" y="2656947"/>
                  </a:lnTo>
                  <a:cubicBezTo>
                    <a:pt x="2187342" y="2709152"/>
                    <a:pt x="2104775" y="2754117"/>
                    <a:pt x="2017887" y="2790867"/>
                  </a:cubicBezTo>
                  <a:lnTo>
                    <a:pt x="2006748" y="2794944"/>
                  </a:lnTo>
                  <a:lnTo>
                    <a:pt x="1826880" y="2586493"/>
                  </a:lnTo>
                  <a:lnTo>
                    <a:pt x="1722544" y="2616179"/>
                  </a:lnTo>
                  <a:lnTo>
                    <a:pt x="1695403" y="2621123"/>
                  </a:lnTo>
                  <a:lnTo>
                    <a:pt x="1643977" y="2890957"/>
                  </a:lnTo>
                  <a:lnTo>
                    <a:pt x="1601017" y="2897513"/>
                  </a:lnTo>
                  <a:cubicBezTo>
                    <a:pt x="1552188" y="2902472"/>
                    <a:pt x="1502644" y="2905012"/>
                    <a:pt x="1452506" y="2905012"/>
                  </a:cubicBezTo>
                  <a:cubicBezTo>
                    <a:pt x="1402369" y="2905012"/>
                    <a:pt x="1352825" y="2902472"/>
                    <a:pt x="1303996" y="2897513"/>
                  </a:cubicBezTo>
                  <a:lnTo>
                    <a:pt x="1261036" y="2890957"/>
                  </a:lnTo>
                  <a:lnTo>
                    <a:pt x="1209479" y="2620437"/>
                  </a:lnTo>
                  <a:lnTo>
                    <a:pt x="1135396" y="2604005"/>
                  </a:lnTo>
                  <a:lnTo>
                    <a:pt x="1079081" y="2585394"/>
                  </a:lnTo>
                  <a:lnTo>
                    <a:pt x="898265" y="2794944"/>
                  </a:lnTo>
                  <a:lnTo>
                    <a:pt x="887125" y="2790867"/>
                  </a:lnTo>
                  <a:cubicBezTo>
                    <a:pt x="800238" y="2754117"/>
                    <a:pt x="717670" y="2709152"/>
                    <a:pt x="640396" y="2656947"/>
                  </a:cubicBezTo>
                  <a:lnTo>
                    <a:pt x="567489" y="2602428"/>
                  </a:lnTo>
                  <a:lnTo>
                    <a:pt x="657947" y="2342810"/>
                  </a:lnTo>
                  <a:lnTo>
                    <a:pt x="624796" y="2313872"/>
                  </a:lnTo>
                  <a:lnTo>
                    <a:pt x="561890" y="2247174"/>
                  </a:lnTo>
                  <a:lnTo>
                    <a:pt x="302584" y="2337523"/>
                  </a:lnTo>
                  <a:lnTo>
                    <a:pt x="248066" y="2264616"/>
                  </a:lnTo>
                  <a:cubicBezTo>
                    <a:pt x="195860" y="2187342"/>
                    <a:pt x="150896" y="2104775"/>
                    <a:pt x="114145" y="2017887"/>
                  </a:cubicBezTo>
                  <a:lnTo>
                    <a:pt x="110068" y="2006748"/>
                  </a:lnTo>
                  <a:lnTo>
                    <a:pt x="318519" y="1826880"/>
                  </a:lnTo>
                  <a:lnTo>
                    <a:pt x="288831" y="1722541"/>
                  </a:lnTo>
                  <a:lnTo>
                    <a:pt x="283887" y="1695402"/>
                  </a:lnTo>
                  <a:lnTo>
                    <a:pt x="14056" y="1643977"/>
                  </a:lnTo>
                  <a:lnTo>
                    <a:pt x="7499" y="1601016"/>
                  </a:lnTo>
                  <a:cubicBezTo>
                    <a:pt x="2541" y="1552187"/>
                    <a:pt x="0" y="1502643"/>
                    <a:pt x="0" y="1452506"/>
                  </a:cubicBezTo>
                  <a:cubicBezTo>
                    <a:pt x="0" y="1402369"/>
                    <a:pt x="2541" y="1352825"/>
                    <a:pt x="7499" y="1303996"/>
                  </a:cubicBezTo>
                  <a:lnTo>
                    <a:pt x="14056" y="1261036"/>
                  </a:lnTo>
                  <a:lnTo>
                    <a:pt x="284572" y="1209480"/>
                  </a:lnTo>
                  <a:lnTo>
                    <a:pt x="301005" y="1135394"/>
                  </a:lnTo>
                  <a:lnTo>
                    <a:pt x="319616" y="1079079"/>
                  </a:lnTo>
                  <a:lnTo>
                    <a:pt x="110068" y="898264"/>
                  </a:lnTo>
                  <a:lnTo>
                    <a:pt x="114145" y="887125"/>
                  </a:lnTo>
                  <a:cubicBezTo>
                    <a:pt x="150896" y="800238"/>
                    <a:pt x="195860" y="717670"/>
                    <a:pt x="248066" y="640396"/>
                  </a:cubicBezTo>
                  <a:lnTo>
                    <a:pt x="302584" y="567489"/>
                  </a:lnTo>
                  <a:lnTo>
                    <a:pt x="562199" y="657946"/>
                  </a:lnTo>
                  <a:lnTo>
                    <a:pt x="591138" y="624794"/>
                  </a:lnTo>
                  <a:lnTo>
                    <a:pt x="657838" y="561888"/>
                  </a:lnTo>
                  <a:lnTo>
                    <a:pt x="567489" y="302584"/>
                  </a:lnTo>
                  <a:lnTo>
                    <a:pt x="640396" y="248065"/>
                  </a:lnTo>
                  <a:cubicBezTo>
                    <a:pt x="717670" y="195860"/>
                    <a:pt x="800238" y="150896"/>
                    <a:pt x="887125" y="114145"/>
                  </a:cubicBezTo>
                  <a:lnTo>
                    <a:pt x="898265" y="110068"/>
                  </a:lnTo>
                  <a:lnTo>
                    <a:pt x="1078131" y="318516"/>
                  </a:lnTo>
                  <a:lnTo>
                    <a:pt x="1182469" y="288830"/>
                  </a:lnTo>
                  <a:lnTo>
                    <a:pt x="1209611" y="283886"/>
                  </a:lnTo>
                  <a:lnTo>
                    <a:pt x="1261036" y="14056"/>
                  </a:lnTo>
                  <a:lnTo>
                    <a:pt x="1303996" y="7499"/>
                  </a:lnTo>
                  <a:cubicBezTo>
                    <a:pt x="1352825" y="2540"/>
                    <a:pt x="1402369" y="0"/>
                    <a:pt x="1452506" y="0"/>
                  </a:cubicBezTo>
                  <a:close/>
                </a:path>
              </a:pathLst>
            </a:custGeom>
            <a:gradFill>
              <a:gsLst>
                <a:gs pos="0">
                  <a:srgbClr val="0070C0"/>
                </a:gs>
                <a:gs pos="100000">
                  <a:srgbClr val="00B0F0"/>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accent1">
                    <a:lumMod val="50000"/>
                  </a:schemeClr>
                </a:solidFill>
              </a:endParaRPr>
            </a:p>
          </p:txBody>
        </p:sp>
        <p:sp>
          <p:nvSpPr>
            <p:cNvPr id="58" name="椭圆 57"/>
            <p:cNvSpPr/>
            <p:nvPr/>
          </p:nvSpPr>
          <p:spPr>
            <a:xfrm>
              <a:off x="4710168" y="2738381"/>
              <a:ext cx="2152649" cy="2152650"/>
            </a:xfrm>
            <a:prstGeom prst="ellipse">
              <a:avLst/>
            </a:prstGeom>
            <a:grpFill/>
            <a:ln w="19050">
              <a:gradFill>
                <a:gsLst>
                  <a:gs pos="100000">
                    <a:schemeClr val="accent1">
                      <a:lumMod val="5000"/>
                      <a:lumOff val="95000"/>
                    </a:schemeClr>
                  </a:gs>
                  <a:gs pos="0">
                    <a:srgbClr val="EEEEEE"/>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accent1">
                    <a:lumMod val="50000"/>
                  </a:schemeClr>
                </a:solidFill>
              </a:endParaRPr>
            </a:p>
          </p:txBody>
        </p:sp>
        <p:sp>
          <p:nvSpPr>
            <p:cNvPr id="59" name="椭圆 58"/>
            <p:cNvSpPr/>
            <p:nvPr/>
          </p:nvSpPr>
          <p:spPr>
            <a:xfrm>
              <a:off x="4710169" y="2738382"/>
              <a:ext cx="2152650" cy="2152648"/>
            </a:xfrm>
            <a:prstGeom prst="ellipse">
              <a:avLst/>
            </a:prstGeom>
            <a:solidFill>
              <a:schemeClr val="bg1">
                <a:lumMod val="8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accent1">
                    <a:lumMod val="50000"/>
                  </a:schemeClr>
                </a:solidFill>
              </a:endParaRPr>
            </a:p>
          </p:txBody>
        </p:sp>
      </p:grpSp>
      <p:sp>
        <p:nvSpPr>
          <p:cNvPr id="60" name="矩形 90"/>
          <p:cNvSpPr/>
          <p:nvPr/>
        </p:nvSpPr>
        <p:spPr>
          <a:xfrm>
            <a:off x="-27507" y="3034330"/>
            <a:ext cx="9188822" cy="2129483"/>
          </a:xfrm>
          <a:custGeom>
            <a:avLst/>
            <a:gdLst>
              <a:gd name="connsiteX0" fmla="*/ 0 w 12254953"/>
              <a:gd name="connsiteY0" fmla="*/ 0 h 2183753"/>
              <a:gd name="connsiteX1" fmla="*/ 12254953 w 12254953"/>
              <a:gd name="connsiteY1" fmla="*/ 0 h 2183753"/>
              <a:gd name="connsiteX2" fmla="*/ 12254953 w 12254953"/>
              <a:gd name="connsiteY2" fmla="*/ 2183753 h 2183753"/>
              <a:gd name="connsiteX3" fmla="*/ 0 w 12254953"/>
              <a:gd name="connsiteY3" fmla="*/ 2183753 h 2183753"/>
              <a:gd name="connsiteX4" fmla="*/ 0 w 12254953"/>
              <a:gd name="connsiteY4" fmla="*/ 0 h 2183753"/>
              <a:gd name="connsiteX0-1" fmla="*/ 0 w 12254953"/>
              <a:gd name="connsiteY0-2" fmla="*/ 0 h 2183753"/>
              <a:gd name="connsiteX1-3" fmla="*/ 5904086 w 12254953"/>
              <a:gd name="connsiteY1-4" fmla="*/ 998 h 2183753"/>
              <a:gd name="connsiteX2-5" fmla="*/ 12254953 w 12254953"/>
              <a:gd name="connsiteY2-6" fmla="*/ 0 h 2183753"/>
              <a:gd name="connsiteX3-7" fmla="*/ 12254953 w 12254953"/>
              <a:gd name="connsiteY3-8" fmla="*/ 2183753 h 2183753"/>
              <a:gd name="connsiteX4-9" fmla="*/ 0 w 12254953"/>
              <a:gd name="connsiteY4-10" fmla="*/ 2183753 h 2183753"/>
              <a:gd name="connsiteX5" fmla="*/ 0 w 12254953"/>
              <a:gd name="connsiteY5" fmla="*/ 0 h 2183753"/>
              <a:gd name="connsiteX0-11" fmla="*/ 0 w 12254953"/>
              <a:gd name="connsiteY0-12" fmla="*/ 2631 h 2186384"/>
              <a:gd name="connsiteX1-13" fmla="*/ 5904086 w 12254953"/>
              <a:gd name="connsiteY1-14" fmla="*/ 3629 h 2186384"/>
              <a:gd name="connsiteX2-15" fmla="*/ 6346772 w 12254953"/>
              <a:gd name="connsiteY2-16" fmla="*/ 0 h 2186384"/>
              <a:gd name="connsiteX3-17" fmla="*/ 12254953 w 12254953"/>
              <a:gd name="connsiteY3-18" fmla="*/ 2631 h 2186384"/>
              <a:gd name="connsiteX4-19" fmla="*/ 12254953 w 12254953"/>
              <a:gd name="connsiteY4-20" fmla="*/ 2186384 h 2186384"/>
              <a:gd name="connsiteX5-21" fmla="*/ 0 w 12254953"/>
              <a:gd name="connsiteY5-22" fmla="*/ 2186384 h 2186384"/>
              <a:gd name="connsiteX6" fmla="*/ 0 w 12254953"/>
              <a:gd name="connsiteY6" fmla="*/ 2631 h 2186384"/>
              <a:gd name="connsiteX0-23" fmla="*/ 0 w 12254953"/>
              <a:gd name="connsiteY0-24" fmla="*/ 2631 h 2186384"/>
              <a:gd name="connsiteX1-25" fmla="*/ 5904086 w 12254953"/>
              <a:gd name="connsiteY1-26" fmla="*/ 3629 h 2186384"/>
              <a:gd name="connsiteX2-27" fmla="*/ 6118172 w 12254953"/>
              <a:gd name="connsiteY2-28" fmla="*/ 0 h 2186384"/>
              <a:gd name="connsiteX3-29" fmla="*/ 6346772 w 12254953"/>
              <a:gd name="connsiteY3-30" fmla="*/ 0 h 2186384"/>
              <a:gd name="connsiteX4-31" fmla="*/ 12254953 w 12254953"/>
              <a:gd name="connsiteY4-32" fmla="*/ 2631 h 2186384"/>
              <a:gd name="connsiteX5-33" fmla="*/ 12254953 w 12254953"/>
              <a:gd name="connsiteY5-34" fmla="*/ 2186384 h 2186384"/>
              <a:gd name="connsiteX6-35" fmla="*/ 0 w 12254953"/>
              <a:gd name="connsiteY6-36" fmla="*/ 2186384 h 2186384"/>
              <a:gd name="connsiteX7" fmla="*/ 0 w 12254953"/>
              <a:gd name="connsiteY7" fmla="*/ 2631 h 2186384"/>
              <a:gd name="connsiteX0-37" fmla="*/ 0 w 12254953"/>
              <a:gd name="connsiteY0-38" fmla="*/ 2631 h 2186384"/>
              <a:gd name="connsiteX1-39" fmla="*/ 5904086 w 12254953"/>
              <a:gd name="connsiteY1-40" fmla="*/ 3629 h 2186384"/>
              <a:gd name="connsiteX2-41" fmla="*/ 6132686 w 12254953"/>
              <a:gd name="connsiteY2-42" fmla="*/ 399143 h 2186384"/>
              <a:gd name="connsiteX3-43" fmla="*/ 6346772 w 12254953"/>
              <a:gd name="connsiteY3-44" fmla="*/ 0 h 2186384"/>
              <a:gd name="connsiteX4-45" fmla="*/ 12254953 w 12254953"/>
              <a:gd name="connsiteY4-46" fmla="*/ 2631 h 2186384"/>
              <a:gd name="connsiteX5-47" fmla="*/ 12254953 w 12254953"/>
              <a:gd name="connsiteY5-48" fmla="*/ 2186384 h 2186384"/>
              <a:gd name="connsiteX6-49" fmla="*/ 0 w 12254953"/>
              <a:gd name="connsiteY6-50" fmla="*/ 2186384 h 2186384"/>
              <a:gd name="connsiteX7-51" fmla="*/ 0 w 12254953"/>
              <a:gd name="connsiteY7-52" fmla="*/ 2631 h 2186384"/>
              <a:gd name="connsiteX0-53" fmla="*/ 0 w 12254953"/>
              <a:gd name="connsiteY0-54" fmla="*/ 2631 h 2186384"/>
              <a:gd name="connsiteX1-55" fmla="*/ 5904086 w 12254953"/>
              <a:gd name="connsiteY1-56" fmla="*/ 3629 h 2186384"/>
              <a:gd name="connsiteX2-57" fmla="*/ 6119807 w 12254953"/>
              <a:gd name="connsiteY2-58" fmla="*/ 250422 h 2186384"/>
              <a:gd name="connsiteX3-59" fmla="*/ 6346772 w 12254953"/>
              <a:gd name="connsiteY3-60" fmla="*/ 0 h 2186384"/>
              <a:gd name="connsiteX4-61" fmla="*/ 12254953 w 12254953"/>
              <a:gd name="connsiteY4-62" fmla="*/ 2631 h 2186384"/>
              <a:gd name="connsiteX5-63" fmla="*/ 12254953 w 12254953"/>
              <a:gd name="connsiteY5-64" fmla="*/ 2186384 h 2186384"/>
              <a:gd name="connsiteX6-65" fmla="*/ 0 w 12254953"/>
              <a:gd name="connsiteY6-66" fmla="*/ 2186384 h 2186384"/>
              <a:gd name="connsiteX7-67" fmla="*/ 0 w 12254953"/>
              <a:gd name="connsiteY7-68" fmla="*/ 2631 h 218638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2254953" h="2186384">
                <a:moveTo>
                  <a:pt x="0" y="2631"/>
                </a:moveTo>
                <a:lnTo>
                  <a:pt x="5904086" y="3629"/>
                </a:lnTo>
                <a:lnTo>
                  <a:pt x="6119807" y="250422"/>
                </a:lnTo>
                <a:lnTo>
                  <a:pt x="6346772" y="0"/>
                </a:lnTo>
                <a:lnTo>
                  <a:pt x="12254953" y="2631"/>
                </a:lnTo>
                <a:lnTo>
                  <a:pt x="12254953" y="2186384"/>
                </a:lnTo>
                <a:lnTo>
                  <a:pt x="0" y="2186384"/>
                </a:lnTo>
                <a:lnTo>
                  <a:pt x="0" y="2631"/>
                </a:lnTo>
                <a:close/>
              </a:path>
            </a:pathLst>
          </a:custGeom>
          <a:gradFill>
            <a:gsLst>
              <a:gs pos="0">
                <a:srgbClr val="0070C0"/>
              </a:gs>
              <a:gs pos="100000">
                <a:srgbClr val="00B0F0"/>
              </a:gs>
            </a:gsLst>
            <a:lin ang="4200000" scaled="0"/>
          </a:gradFill>
          <a:ln>
            <a:noFill/>
          </a:ln>
          <a:effectLst>
            <a:outerShdw blurRad="1143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2052" name="图片 2051" descr="卡通遨游太空汇报模板"/>
          <p:cNvPicPr>
            <a:picLocks noChangeAspect="1"/>
          </p:cNvPicPr>
          <p:nvPr/>
        </p:nvPicPr>
        <p:blipFill>
          <a:blip r:embed="rId1" cstate="screen"/>
          <a:stretch>
            <a:fillRect/>
          </a:stretch>
        </p:blipFill>
        <p:spPr>
          <a:xfrm>
            <a:off x="5221605" y="1504950"/>
            <a:ext cx="3817620" cy="3211830"/>
          </a:xfrm>
          <a:prstGeom prst="rect">
            <a:avLst/>
          </a:prstGeom>
          <a:noFill/>
          <a:ln w="9525">
            <a:noFill/>
          </a:ln>
        </p:spPr>
      </p:pic>
      <p:cxnSp>
        <p:nvCxnSpPr>
          <p:cNvPr id="34" name="直接连接符 33"/>
          <p:cNvCxnSpPr/>
          <p:nvPr/>
        </p:nvCxnSpPr>
        <p:spPr>
          <a:xfrm>
            <a:off x="2327786" y="1568972"/>
            <a:ext cx="383782" cy="0"/>
          </a:xfrm>
          <a:prstGeom prst="line">
            <a:avLst/>
          </a:prstGeom>
          <a:ln>
            <a:solidFill>
              <a:schemeClr val="bg1">
                <a:lumMod val="50000"/>
              </a:schemeClr>
            </a:solidFill>
          </a:ln>
        </p:spPr>
        <p:style>
          <a:lnRef idx="2">
            <a:schemeClr val="dk1"/>
          </a:lnRef>
          <a:fillRef idx="0">
            <a:schemeClr val="dk1"/>
          </a:fillRef>
          <a:effectRef idx="1">
            <a:schemeClr val="dk1"/>
          </a:effectRef>
          <a:fontRef idx="minor">
            <a:schemeClr val="tx1"/>
          </a:fontRef>
        </p:style>
      </p:cxnSp>
      <p:cxnSp>
        <p:nvCxnSpPr>
          <p:cNvPr id="2" name="直接连接符 1"/>
          <p:cNvCxnSpPr/>
          <p:nvPr/>
        </p:nvCxnSpPr>
        <p:spPr>
          <a:xfrm>
            <a:off x="4722371" y="1568972"/>
            <a:ext cx="383782" cy="0"/>
          </a:xfrm>
          <a:prstGeom prst="line">
            <a:avLst/>
          </a:prstGeom>
          <a:ln>
            <a:solidFill>
              <a:schemeClr val="bg1">
                <a:lumMod val="50000"/>
              </a:schemeClr>
            </a:solidFill>
          </a:ln>
        </p:spPr>
        <p:style>
          <a:lnRef idx="2">
            <a:schemeClr val="dk1"/>
          </a:lnRef>
          <a:fillRef idx="0">
            <a:schemeClr val="dk1"/>
          </a:fillRef>
          <a:effectRef idx="1">
            <a:schemeClr val="dk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fltVal val="0"/>
                                          </p:val>
                                        </p:tav>
                                        <p:tav tm="100000">
                                          <p:val>
                                            <p:strVal val="#ppt_h"/>
                                          </p:val>
                                        </p:tav>
                                      </p:tavLst>
                                    </p:anim>
                                    <p:animEffect transition="in" filter="fade">
                                      <p:cBhvr>
                                        <p:cTn id="9" dur="500"/>
                                        <p:tgtEl>
                                          <p:spTgt spid="35"/>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6"/>
                                        </p:tgtEl>
                                        <p:attrNameLst>
                                          <p:attrName>style.visibility</p:attrName>
                                        </p:attrNameLst>
                                      </p:cBhvr>
                                      <p:to>
                                        <p:strVal val="visible"/>
                                      </p:to>
                                    </p:set>
                                    <p:anim calcmode="lin" valueType="num">
                                      <p:cBhvr>
                                        <p:cTn id="13" dur="500" fill="hold"/>
                                        <p:tgtEl>
                                          <p:spTgt spid="36"/>
                                        </p:tgtEl>
                                        <p:attrNameLst>
                                          <p:attrName>ppt_w</p:attrName>
                                        </p:attrNameLst>
                                      </p:cBhvr>
                                      <p:tavLst>
                                        <p:tav tm="0">
                                          <p:val>
                                            <p:fltVal val="0"/>
                                          </p:val>
                                        </p:tav>
                                        <p:tav tm="100000">
                                          <p:val>
                                            <p:strVal val="#ppt_w"/>
                                          </p:val>
                                        </p:tav>
                                      </p:tavLst>
                                    </p:anim>
                                    <p:anim calcmode="lin" valueType="num">
                                      <p:cBhvr>
                                        <p:cTn id="14" dur="500" fill="hold"/>
                                        <p:tgtEl>
                                          <p:spTgt spid="36"/>
                                        </p:tgtEl>
                                        <p:attrNameLst>
                                          <p:attrName>ppt_h</p:attrName>
                                        </p:attrNameLst>
                                      </p:cBhvr>
                                      <p:tavLst>
                                        <p:tav tm="0">
                                          <p:val>
                                            <p:fltVal val="0"/>
                                          </p:val>
                                        </p:tav>
                                        <p:tav tm="100000">
                                          <p:val>
                                            <p:strVal val="#ppt_h"/>
                                          </p:val>
                                        </p:tav>
                                      </p:tavLst>
                                    </p:anim>
                                    <p:animEffect transition="in" filter="fade">
                                      <p:cBhvr>
                                        <p:cTn id="15" dur="500"/>
                                        <p:tgtEl>
                                          <p:spTgt spid="36"/>
                                        </p:tgtEl>
                                      </p:cBhvr>
                                    </p:animEffect>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childTnLst>
                                </p:cTn>
                              </p:par>
                            </p:childTnLst>
                          </p:cTn>
                        </p:par>
                        <p:par>
                          <p:cTn id="20" fill="hold">
                            <p:stCondLst>
                              <p:cond delay="1500"/>
                            </p:stCondLst>
                            <p:childTnLst>
                              <p:par>
                                <p:cTn id="21" presetID="22" presetClass="entr" presetSubtype="4" fill="hold" nodeType="after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wipe(down)">
                                      <p:cBhvr>
                                        <p:cTn id="23" dur="500"/>
                                        <p:tgtEl>
                                          <p:spTgt spid="48"/>
                                        </p:tgtEl>
                                      </p:cBhvr>
                                    </p:animEffect>
                                  </p:childTnLst>
                                </p:cTn>
                              </p:par>
                            </p:childTnLst>
                          </p:cTn>
                        </p:par>
                        <p:par>
                          <p:cTn id="24" fill="hold">
                            <p:stCondLst>
                              <p:cond delay="2000"/>
                            </p:stCondLst>
                            <p:childTnLst>
                              <p:par>
                                <p:cTn id="25" presetID="41" presetClass="entr" presetSubtype="0" fill="hold" grpId="0" nodeType="afterEffect">
                                  <p:stCondLst>
                                    <p:cond delay="0"/>
                                  </p:stCondLst>
                                  <p:iterate type="lt">
                                    <p:tmPct val="10000"/>
                                  </p:iterate>
                                  <p:childTnLst>
                                    <p:set>
                                      <p:cBhvr>
                                        <p:cTn id="26" dur="1" fill="hold">
                                          <p:stCondLst>
                                            <p:cond delay="0"/>
                                          </p:stCondLst>
                                        </p:cTn>
                                        <p:tgtEl>
                                          <p:spTgt spid="49"/>
                                        </p:tgtEl>
                                        <p:attrNameLst>
                                          <p:attrName>style.visibility</p:attrName>
                                        </p:attrNameLst>
                                      </p:cBhvr>
                                      <p:to>
                                        <p:strVal val="visible"/>
                                      </p:to>
                                    </p:set>
                                    <p:anim calcmode="lin" valueType="num">
                                      <p:cBhvr>
                                        <p:cTn id="27" dur="500" fill="hold"/>
                                        <p:tgtEl>
                                          <p:spTgt spid="49"/>
                                        </p:tgtEl>
                                        <p:attrNameLst>
                                          <p:attrName>ppt_x</p:attrName>
                                        </p:attrNameLst>
                                      </p:cBhvr>
                                      <p:tavLst>
                                        <p:tav tm="0">
                                          <p:val>
                                            <p:strVal val="#ppt_x"/>
                                          </p:val>
                                        </p:tav>
                                        <p:tav tm="50000">
                                          <p:val>
                                            <p:strVal val="#ppt_x+.1"/>
                                          </p:val>
                                        </p:tav>
                                        <p:tav tm="100000">
                                          <p:val>
                                            <p:strVal val="#ppt_x"/>
                                          </p:val>
                                        </p:tav>
                                      </p:tavLst>
                                    </p:anim>
                                    <p:anim calcmode="lin" valueType="num">
                                      <p:cBhvr>
                                        <p:cTn id="28" dur="500" fill="hold"/>
                                        <p:tgtEl>
                                          <p:spTgt spid="49"/>
                                        </p:tgtEl>
                                        <p:attrNameLst>
                                          <p:attrName>ppt_y</p:attrName>
                                        </p:attrNameLst>
                                      </p:cBhvr>
                                      <p:tavLst>
                                        <p:tav tm="0">
                                          <p:val>
                                            <p:strVal val="#ppt_y"/>
                                          </p:val>
                                        </p:tav>
                                        <p:tav tm="100000">
                                          <p:val>
                                            <p:strVal val="#ppt_y"/>
                                          </p:val>
                                        </p:tav>
                                      </p:tavLst>
                                    </p:anim>
                                    <p:anim calcmode="lin" valueType="num">
                                      <p:cBhvr>
                                        <p:cTn id="29" dur="500" fill="hold"/>
                                        <p:tgtEl>
                                          <p:spTgt spid="49"/>
                                        </p:tgtEl>
                                        <p:attrNameLst>
                                          <p:attrName>ppt_h</p:attrName>
                                        </p:attrNameLst>
                                      </p:cBhvr>
                                      <p:tavLst>
                                        <p:tav tm="0">
                                          <p:val>
                                            <p:strVal val="#ppt_h/10"/>
                                          </p:val>
                                        </p:tav>
                                        <p:tav tm="50000">
                                          <p:val>
                                            <p:strVal val="#ppt_h+.01"/>
                                          </p:val>
                                        </p:tav>
                                        <p:tav tm="100000">
                                          <p:val>
                                            <p:strVal val="#ppt_h"/>
                                          </p:val>
                                        </p:tav>
                                      </p:tavLst>
                                    </p:anim>
                                    <p:anim calcmode="lin" valueType="num">
                                      <p:cBhvr>
                                        <p:cTn id="30" dur="500" fill="hold"/>
                                        <p:tgtEl>
                                          <p:spTgt spid="49"/>
                                        </p:tgtEl>
                                        <p:attrNameLst>
                                          <p:attrName>ppt_w</p:attrName>
                                        </p:attrNameLst>
                                      </p:cBhvr>
                                      <p:tavLst>
                                        <p:tav tm="0">
                                          <p:val>
                                            <p:strVal val="#ppt_w/10"/>
                                          </p:val>
                                        </p:tav>
                                        <p:tav tm="50000">
                                          <p:val>
                                            <p:strVal val="#ppt_w+.01"/>
                                          </p:val>
                                        </p:tav>
                                        <p:tav tm="100000">
                                          <p:val>
                                            <p:strVal val="#ppt_w"/>
                                          </p:val>
                                        </p:tav>
                                      </p:tavLst>
                                    </p:anim>
                                    <p:animEffect transition="in" filter="fade">
                                      <p:cBhvr>
                                        <p:cTn id="31" dur="500" tmFilter="0,0; .5, 1; 1, 1"/>
                                        <p:tgtEl>
                                          <p:spTgt spid="49"/>
                                        </p:tgtEl>
                                      </p:cBhvr>
                                    </p:animEffect>
                                  </p:childTnLst>
                                </p:cTn>
                              </p:par>
                              <p:par>
                                <p:cTn id="32" presetID="22" presetClass="entr" presetSubtype="8" fill="hold" nodeType="withEffect">
                                  <p:stCondLst>
                                    <p:cond delay="1000"/>
                                  </p:stCondLst>
                                  <p:childTnLst>
                                    <p:set>
                                      <p:cBhvr>
                                        <p:cTn id="33" dur="1" fill="hold">
                                          <p:stCondLst>
                                            <p:cond delay="0"/>
                                          </p:stCondLst>
                                        </p:cTn>
                                        <p:tgtEl>
                                          <p:spTgt spid="50"/>
                                        </p:tgtEl>
                                        <p:attrNameLst>
                                          <p:attrName>style.visibility</p:attrName>
                                        </p:attrNameLst>
                                      </p:cBhvr>
                                      <p:to>
                                        <p:strVal val="visible"/>
                                      </p:to>
                                    </p:set>
                                    <p:animEffect transition="in" filter="wipe(left)">
                                      <p:cBhvr>
                                        <p:cTn id="34" dur="500"/>
                                        <p:tgtEl>
                                          <p:spTgt spid="50"/>
                                        </p:tgtEl>
                                      </p:cBhvr>
                                    </p:animEffect>
                                  </p:childTnLst>
                                </p:cTn>
                              </p:par>
                            </p:childTnLst>
                          </p:cTn>
                        </p:par>
                        <p:par>
                          <p:cTn id="35" fill="hold">
                            <p:stCondLst>
                              <p:cond delay="3500"/>
                            </p:stCondLst>
                            <p:childTnLst>
                              <p:par>
                                <p:cTn id="36" presetID="42" presetClass="entr" presetSubtype="0" fill="hold" grpId="0" nodeType="afterEffect">
                                  <p:stCondLst>
                                    <p:cond delay="0"/>
                                  </p:stCondLst>
                                  <p:childTnLst>
                                    <p:set>
                                      <p:cBhvr>
                                        <p:cTn id="37" dur="1" fill="hold">
                                          <p:stCondLst>
                                            <p:cond delay="0"/>
                                          </p:stCondLst>
                                        </p:cTn>
                                        <p:tgtEl>
                                          <p:spTgt spid="51"/>
                                        </p:tgtEl>
                                        <p:attrNameLst>
                                          <p:attrName>style.visibility</p:attrName>
                                        </p:attrNameLst>
                                      </p:cBhvr>
                                      <p:to>
                                        <p:strVal val="visible"/>
                                      </p:to>
                                    </p:set>
                                    <p:animEffect transition="in" filter="fade">
                                      <p:cBhvr>
                                        <p:cTn id="38" dur="1000"/>
                                        <p:tgtEl>
                                          <p:spTgt spid="51"/>
                                        </p:tgtEl>
                                      </p:cBhvr>
                                    </p:animEffect>
                                    <p:anim calcmode="lin" valueType="num">
                                      <p:cBhvr>
                                        <p:cTn id="39" dur="1000" fill="hold"/>
                                        <p:tgtEl>
                                          <p:spTgt spid="51"/>
                                        </p:tgtEl>
                                        <p:attrNameLst>
                                          <p:attrName>ppt_x</p:attrName>
                                        </p:attrNameLst>
                                      </p:cBhvr>
                                      <p:tavLst>
                                        <p:tav tm="0">
                                          <p:val>
                                            <p:strVal val="#ppt_x"/>
                                          </p:val>
                                        </p:tav>
                                        <p:tav tm="100000">
                                          <p:val>
                                            <p:strVal val="#ppt_x"/>
                                          </p:val>
                                        </p:tav>
                                      </p:tavLst>
                                    </p:anim>
                                    <p:anim calcmode="lin" valueType="num">
                                      <p:cBhvr>
                                        <p:cTn id="40" dur="1000" fill="hold"/>
                                        <p:tgtEl>
                                          <p:spTgt spid="51"/>
                                        </p:tgtEl>
                                        <p:attrNameLst>
                                          <p:attrName>ppt_y</p:attrName>
                                        </p:attrNameLst>
                                      </p:cBhvr>
                                      <p:tavLst>
                                        <p:tav tm="0">
                                          <p:val>
                                            <p:strVal val="#ppt_y+.1"/>
                                          </p:val>
                                        </p:tav>
                                        <p:tav tm="100000">
                                          <p:val>
                                            <p:strVal val="#ppt_y"/>
                                          </p:val>
                                        </p:tav>
                                      </p:tavLst>
                                    </p:anim>
                                  </p:childTnLst>
                                </p:cTn>
                              </p:par>
                            </p:childTnLst>
                          </p:cTn>
                        </p:par>
                        <p:par>
                          <p:cTn id="41" fill="hold">
                            <p:stCondLst>
                              <p:cond delay="4500"/>
                            </p:stCondLst>
                            <p:childTnLst>
                              <p:par>
                                <p:cTn id="42" presetID="42" presetClass="entr" presetSubtype="0" fill="hold" grpId="0" nodeType="afterEffect">
                                  <p:stCondLst>
                                    <p:cond delay="0"/>
                                  </p:stCondLst>
                                  <p:childTnLst>
                                    <p:set>
                                      <p:cBhvr>
                                        <p:cTn id="43" dur="1" fill="hold">
                                          <p:stCondLst>
                                            <p:cond delay="0"/>
                                          </p:stCondLst>
                                        </p:cTn>
                                        <p:tgtEl>
                                          <p:spTgt spid="54"/>
                                        </p:tgtEl>
                                        <p:attrNameLst>
                                          <p:attrName>style.visibility</p:attrName>
                                        </p:attrNameLst>
                                      </p:cBhvr>
                                      <p:to>
                                        <p:strVal val="visible"/>
                                      </p:to>
                                    </p:set>
                                    <p:animEffect transition="in" filter="fade">
                                      <p:cBhvr>
                                        <p:cTn id="44" dur="1000"/>
                                        <p:tgtEl>
                                          <p:spTgt spid="54"/>
                                        </p:tgtEl>
                                      </p:cBhvr>
                                    </p:animEffect>
                                    <p:anim calcmode="lin" valueType="num">
                                      <p:cBhvr>
                                        <p:cTn id="45" dur="1000" fill="hold"/>
                                        <p:tgtEl>
                                          <p:spTgt spid="54"/>
                                        </p:tgtEl>
                                        <p:attrNameLst>
                                          <p:attrName>ppt_x</p:attrName>
                                        </p:attrNameLst>
                                      </p:cBhvr>
                                      <p:tavLst>
                                        <p:tav tm="0">
                                          <p:val>
                                            <p:strVal val="#ppt_x"/>
                                          </p:val>
                                        </p:tav>
                                        <p:tav tm="100000">
                                          <p:val>
                                            <p:strVal val="#ppt_x"/>
                                          </p:val>
                                        </p:tav>
                                      </p:tavLst>
                                    </p:anim>
                                    <p:anim calcmode="lin" valueType="num">
                                      <p:cBhvr>
                                        <p:cTn id="46" dur="1000" fill="hold"/>
                                        <p:tgtEl>
                                          <p:spTgt spid="54"/>
                                        </p:tgtEl>
                                        <p:attrNameLst>
                                          <p:attrName>ppt_y</p:attrName>
                                        </p:attrNameLst>
                                      </p:cBhvr>
                                      <p:tavLst>
                                        <p:tav tm="0">
                                          <p:val>
                                            <p:strVal val="#ppt_y+.1"/>
                                          </p:val>
                                        </p:tav>
                                        <p:tav tm="100000">
                                          <p:val>
                                            <p:strVal val="#ppt_y"/>
                                          </p:val>
                                        </p:tav>
                                      </p:tavLst>
                                    </p:anim>
                                  </p:childTnLst>
                                </p:cTn>
                              </p:par>
                            </p:childTnLst>
                          </p:cTn>
                        </p:par>
                        <p:par>
                          <p:cTn id="47" fill="hold">
                            <p:stCondLst>
                              <p:cond delay="5500"/>
                            </p:stCondLst>
                            <p:childTnLst>
                              <p:par>
                                <p:cTn id="48" presetID="53" presetClass="entr" presetSubtype="16" fill="hold" nodeType="afterEffect">
                                  <p:stCondLst>
                                    <p:cond delay="0"/>
                                  </p:stCondLst>
                                  <p:childTnLst>
                                    <p:set>
                                      <p:cBhvr>
                                        <p:cTn id="49" dur="1" fill="hold">
                                          <p:stCondLst>
                                            <p:cond delay="0"/>
                                          </p:stCondLst>
                                        </p:cTn>
                                        <p:tgtEl>
                                          <p:spTgt spid="56"/>
                                        </p:tgtEl>
                                        <p:attrNameLst>
                                          <p:attrName>style.visibility</p:attrName>
                                        </p:attrNameLst>
                                      </p:cBhvr>
                                      <p:to>
                                        <p:strVal val="visible"/>
                                      </p:to>
                                    </p:set>
                                    <p:anim calcmode="lin" valueType="num">
                                      <p:cBhvr>
                                        <p:cTn id="50" dur="500" fill="hold"/>
                                        <p:tgtEl>
                                          <p:spTgt spid="56"/>
                                        </p:tgtEl>
                                        <p:attrNameLst>
                                          <p:attrName>ppt_w</p:attrName>
                                        </p:attrNameLst>
                                      </p:cBhvr>
                                      <p:tavLst>
                                        <p:tav tm="0">
                                          <p:val>
                                            <p:fltVal val="0"/>
                                          </p:val>
                                        </p:tav>
                                        <p:tav tm="100000">
                                          <p:val>
                                            <p:strVal val="#ppt_w"/>
                                          </p:val>
                                        </p:tav>
                                      </p:tavLst>
                                    </p:anim>
                                    <p:anim calcmode="lin" valueType="num">
                                      <p:cBhvr>
                                        <p:cTn id="51" dur="500" fill="hold"/>
                                        <p:tgtEl>
                                          <p:spTgt spid="56"/>
                                        </p:tgtEl>
                                        <p:attrNameLst>
                                          <p:attrName>ppt_h</p:attrName>
                                        </p:attrNameLst>
                                      </p:cBhvr>
                                      <p:tavLst>
                                        <p:tav tm="0">
                                          <p:val>
                                            <p:fltVal val="0"/>
                                          </p:val>
                                        </p:tav>
                                        <p:tav tm="100000">
                                          <p:val>
                                            <p:strVal val="#ppt_h"/>
                                          </p:val>
                                        </p:tav>
                                      </p:tavLst>
                                    </p:anim>
                                    <p:animEffect transition="in" filter="fade">
                                      <p:cBhvr>
                                        <p:cTn id="52"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6" grpId="0" bldLvl="0" animBg="1"/>
      <p:bldP spid="49" grpId="0"/>
      <p:bldP spid="51" grpId="0"/>
      <p:bldP spid="54"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sp>
        <p:nvSpPr>
          <p:cNvPr id="3" name="文本框 9"/>
          <p:cNvSpPr txBox="1"/>
          <p:nvPr/>
        </p:nvSpPr>
        <p:spPr>
          <a:xfrm>
            <a:off x="3767201" y="173845"/>
            <a:ext cx="1576869" cy="327660"/>
          </a:xfrm>
          <a:prstGeom prst="rect">
            <a:avLst/>
          </a:prstGeom>
          <a:noFill/>
        </p:spPr>
        <p:txBody>
          <a:bodyPr wrap="square" lIns="51421" tIns="25710" rIns="51421" bIns="25710" rtlCol="0">
            <a:spAutoFit/>
          </a:bodyPr>
          <a:lstStyle/>
          <a:p>
            <a:pPr marL="0" lvl="1" algn="ctr"/>
            <a:r>
              <a:rPr lang="en-US" altLang="zh-CN" b="1" dirty="0" smtClean="0">
                <a:solidFill>
                  <a:srgbClr val="0070C0"/>
                </a:solidFill>
                <a:latin typeface="微软雅黑" panose="020B0503020204020204" pitchFamily="34" charset="-122"/>
                <a:ea typeface="微软雅黑" panose="020B0503020204020204" pitchFamily="34" charset="-122"/>
              </a:rPr>
              <a:t>CSS</a:t>
            </a:r>
            <a:r>
              <a:rPr lang="zh-CN" altLang="en-US" b="1" dirty="0" smtClean="0">
                <a:solidFill>
                  <a:srgbClr val="0070C0"/>
                </a:solidFill>
                <a:latin typeface="微软雅黑" panose="020B0503020204020204" pitchFamily="34" charset="-122"/>
                <a:ea typeface="微软雅黑" panose="020B0503020204020204" pitchFamily="34" charset="-122"/>
              </a:rPr>
              <a:t>基础</a:t>
            </a:r>
            <a:endParaRPr lang="zh-CN" altLang="en-US" b="1" dirty="0" smtClean="0">
              <a:solidFill>
                <a:srgbClr val="0070C0"/>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5921798" y="256915"/>
            <a:ext cx="453150" cy="161976"/>
            <a:chOff x="264939" y="188640"/>
            <a:chExt cx="604358" cy="216024"/>
          </a:xfrm>
        </p:grpSpPr>
        <p:sp>
          <p:nvSpPr>
            <p:cNvPr id="5" name="燕尾形 4"/>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7" name="燕尾形 6"/>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8" name="组合 7"/>
          <p:cNvGrpSpPr/>
          <p:nvPr/>
        </p:nvGrpSpPr>
        <p:grpSpPr>
          <a:xfrm rot="10800000">
            <a:off x="2790266" y="256915"/>
            <a:ext cx="453150" cy="161976"/>
            <a:chOff x="264939" y="188640"/>
            <a:chExt cx="604358" cy="216024"/>
          </a:xfrm>
        </p:grpSpPr>
        <p:sp>
          <p:nvSpPr>
            <p:cNvPr id="9" name="燕尾形 8"/>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1" name="燕尾形 10"/>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15" name="组合 14"/>
          <p:cNvGrpSpPr/>
          <p:nvPr/>
        </p:nvGrpSpPr>
        <p:grpSpPr>
          <a:xfrm>
            <a:off x="5936074" y="3343896"/>
            <a:ext cx="3225240" cy="1706947"/>
            <a:chOff x="5917425" y="3435846"/>
            <a:chExt cx="3226575" cy="1707654"/>
          </a:xfrm>
        </p:grpSpPr>
        <p:pic>
          <p:nvPicPr>
            <p:cNvPr id="16" name="Picture 2"/>
            <p:cNvPicPr>
              <a:picLocks noChangeAspect="1" noChangeArrowheads="1"/>
            </p:cNvPicPr>
            <p:nvPr/>
          </p:nvPicPr>
          <p:blipFill rotWithShape="1">
            <a:blip r:embed="rId1" cstate="screen">
              <a:extLst>
                <a:ext uri="{BEBA8EAE-BF5A-486C-A8C5-ECC9F3942E4B}">
                  <a14:imgProps xmlns:a14="http://schemas.microsoft.com/office/drawing/2010/main">
                    <a14:imgLayer r:embed="rId2">
                      <a14:imgEffect>
                        <a14:brightnessContrast bright="-40000" contrast="-40000"/>
                      </a14:imgEffect>
                    </a14:imgLayer>
                  </a14:imgProps>
                </a:ext>
              </a:extLst>
            </a:blip>
            <a:srcRect/>
            <a:stretch>
              <a:fillRect/>
            </a:stretch>
          </p:blipFill>
          <p:spPr bwMode="auto">
            <a:xfrm>
              <a:off x="5917425" y="3435846"/>
              <a:ext cx="3226575" cy="1707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2"/>
            <p:cNvPicPr>
              <a:picLocks noChangeAspect="1" noChangeArrowheads="1"/>
            </p:cNvPicPr>
            <p:nvPr/>
          </p:nvPicPr>
          <p:blipFill rotWithShape="1">
            <a:blip r:embed="rId1" cstate="screen">
              <a:extLst>
                <a:ext uri="{BEBA8EAE-BF5A-486C-A8C5-ECC9F3942E4B}">
                  <a14:imgProps xmlns:a14="http://schemas.microsoft.com/office/drawing/2010/main">
                    <a14:imgLayer r:embed="rId2">
                      <a14:imgEffect>
                        <a14:brightnessContrast bright="-40000" contrast="-40000"/>
                      </a14:imgEffect>
                    </a14:imgLayer>
                  </a14:imgProps>
                </a:ext>
              </a:extLst>
            </a:blip>
            <a:srcRect/>
            <a:stretch>
              <a:fillRect/>
            </a:stretch>
          </p:blipFill>
          <p:spPr bwMode="auto">
            <a:xfrm>
              <a:off x="5917425" y="3435846"/>
              <a:ext cx="3226575" cy="1707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8" name="组合 17"/>
          <p:cNvGrpSpPr/>
          <p:nvPr/>
        </p:nvGrpSpPr>
        <p:grpSpPr>
          <a:xfrm>
            <a:off x="1439832" y="917998"/>
            <a:ext cx="6231894" cy="3759253"/>
            <a:chOff x="2034703" y="1151662"/>
            <a:chExt cx="7807300" cy="5013642"/>
          </a:xfrm>
        </p:grpSpPr>
        <p:sp>
          <p:nvSpPr>
            <p:cNvPr id="19" name="圆角矩形 18"/>
            <p:cNvSpPr/>
            <p:nvPr/>
          </p:nvSpPr>
          <p:spPr>
            <a:xfrm>
              <a:off x="2034703" y="1151664"/>
              <a:ext cx="7807300" cy="5013640"/>
            </a:xfrm>
            <a:prstGeom prst="roundRect">
              <a:avLst>
                <a:gd name="adj" fmla="val 1621"/>
              </a:avLst>
            </a:prstGeom>
            <a:solidFill>
              <a:schemeClr val="bg1">
                <a:lumMod val="65000"/>
              </a:schemeClr>
            </a:solidFill>
            <a:ln>
              <a:noFill/>
            </a:ln>
            <a:effectLst>
              <a:outerShdw blurRad="381000" dist="127000" dir="2700000" algn="tl" rotWithShape="0">
                <a:prstClr val="black">
                  <a:alpha val="40000"/>
                </a:prstClr>
              </a:outerShdw>
            </a:effectLst>
            <a:scene3d>
              <a:camera prst="orthographicFront"/>
              <a:lightRig rig="threePt" dir="t">
                <a:rot lat="0" lon="0" rev="0"/>
              </a:lightRig>
            </a:scene3d>
            <a:sp3d prstMaterial="softEdge">
              <a:bevelT w="254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0" name="梯形 19"/>
            <p:cNvSpPr/>
            <p:nvPr/>
          </p:nvSpPr>
          <p:spPr>
            <a:xfrm rot="16200000">
              <a:off x="-264305" y="3595509"/>
              <a:ext cx="5013640" cy="125950"/>
            </a:xfrm>
            <a:prstGeom prst="trapezoid">
              <a:avLst>
                <a:gd name="adj" fmla="val 37500"/>
              </a:avLst>
            </a:prstGeom>
            <a:gradFill>
              <a:gsLst>
                <a:gs pos="50000">
                  <a:srgbClr val="F3F3F3"/>
                </a:gs>
                <a:gs pos="26000">
                  <a:schemeClr val="bg1"/>
                </a:gs>
                <a:gs pos="0">
                  <a:srgbClr val="EEEEEE"/>
                </a:gs>
                <a:gs pos="75000">
                  <a:srgbClr val="E2E2E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梯形 20"/>
            <p:cNvSpPr/>
            <p:nvPr/>
          </p:nvSpPr>
          <p:spPr>
            <a:xfrm rot="5400000" flipH="1">
              <a:off x="7129387" y="3595509"/>
              <a:ext cx="5013640" cy="125950"/>
            </a:xfrm>
            <a:prstGeom prst="trapezoid">
              <a:avLst>
                <a:gd name="adj" fmla="val 37500"/>
              </a:avLst>
            </a:prstGeom>
            <a:gradFill>
              <a:gsLst>
                <a:gs pos="50000">
                  <a:srgbClr val="F3F3F3"/>
                </a:gs>
                <a:gs pos="26000">
                  <a:schemeClr val="bg1"/>
                </a:gs>
                <a:gs pos="0">
                  <a:srgbClr val="EEEEEE"/>
                </a:gs>
                <a:gs pos="75000">
                  <a:srgbClr val="E2E2E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2" name="矩形 21"/>
            <p:cNvSpPr/>
            <p:nvPr/>
          </p:nvSpPr>
          <p:spPr>
            <a:xfrm>
              <a:off x="3900276" y="1151662"/>
              <a:ext cx="1331495" cy="5013642"/>
            </a:xfrm>
            <a:prstGeom prst="rect">
              <a:avLst/>
            </a:prstGeom>
            <a:gradFill>
              <a:gsLst>
                <a:gs pos="0">
                  <a:srgbClr val="F7F7F7">
                    <a:alpha val="0"/>
                  </a:srgbClr>
                </a:gs>
                <a:gs pos="63000">
                  <a:schemeClr val="bg1">
                    <a:alpha val="33000"/>
                  </a:schemeClr>
                </a:gs>
                <a:gs pos="100000">
                  <a:srgbClr val="F7F7F7">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3" name="矩形 22"/>
            <p:cNvSpPr/>
            <p:nvPr/>
          </p:nvSpPr>
          <p:spPr>
            <a:xfrm>
              <a:off x="2303475" y="1151664"/>
              <a:ext cx="7269757" cy="5013640"/>
            </a:xfrm>
            <a:prstGeom prst="rect">
              <a:avLst/>
            </a:prstGeom>
            <a:gradFill>
              <a:gsLst>
                <a:gs pos="89000">
                  <a:srgbClr val="F7F7F7"/>
                </a:gs>
                <a:gs pos="74000">
                  <a:srgbClr val="EEEEEE"/>
                </a:gs>
                <a:gs pos="57000">
                  <a:srgbClr val="FBFBFB"/>
                </a:gs>
                <a:gs pos="47000">
                  <a:srgbClr val="EAEAEA"/>
                </a:gs>
                <a:gs pos="29000">
                  <a:srgbClr val="FBFBFB"/>
                </a:gs>
                <a:gs pos="15000">
                  <a:srgbClr val="F7F7F7"/>
                </a:gs>
                <a:gs pos="0">
                  <a:srgbClr val="F7F7F7"/>
                </a:gs>
                <a:gs pos="100000">
                  <a:srgbClr val="F5F5F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矩形 23"/>
            <p:cNvSpPr/>
            <p:nvPr/>
          </p:nvSpPr>
          <p:spPr>
            <a:xfrm>
              <a:off x="5979406" y="1151662"/>
              <a:ext cx="308198" cy="5013642"/>
            </a:xfrm>
            <a:prstGeom prst="rect">
              <a:avLst/>
            </a:prstGeom>
            <a:gradFill>
              <a:gsLst>
                <a:gs pos="100000">
                  <a:srgbClr val="F7F7F7">
                    <a:alpha val="0"/>
                  </a:srgbClr>
                </a:gs>
                <a:gs pos="0">
                  <a:schemeClr val="bg1">
                    <a:lumMod val="8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任意多边形 24"/>
            <p:cNvSpPr/>
            <p:nvPr/>
          </p:nvSpPr>
          <p:spPr>
            <a:xfrm rot="5400000" flipH="1">
              <a:off x="7080192" y="3643031"/>
              <a:ext cx="5013640" cy="30906"/>
            </a:xfrm>
            <a:custGeom>
              <a:avLst/>
              <a:gdLst>
                <a:gd name="connsiteX0" fmla="*/ 5013640 w 5013640"/>
                <a:gd name="connsiteY0" fmla="*/ 54754 h 54754"/>
                <a:gd name="connsiteX1" fmla="*/ 4993107 w 5013640"/>
                <a:gd name="connsiteY1" fmla="*/ 0 h 54754"/>
                <a:gd name="connsiteX2" fmla="*/ 20533 w 5013640"/>
                <a:gd name="connsiteY2" fmla="*/ 0 h 54754"/>
                <a:gd name="connsiteX3" fmla="*/ 0 w 5013640"/>
                <a:gd name="connsiteY3" fmla="*/ 54754 h 54754"/>
              </a:gdLst>
              <a:ahLst/>
              <a:cxnLst>
                <a:cxn ang="0">
                  <a:pos x="connsiteX0" y="connsiteY0"/>
                </a:cxn>
                <a:cxn ang="0">
                  <a:pos x="connsiteX1" y="connsiteY1"/>
                </a:cxn>
                <a:cxn ang="0">
                  <a:pos x="connsiteX2" y="connsiteY2"/>
                </a:cxn>
                <a:cxn ang="0">
                  <a:pos x="connsiteX3" y="connsiteY3"/>
                </a:cxn>
              </a:cxnLst>
              <a:rect l="l" t="t" r="r" b="b"/>
              <a:pathLst>
                <a:path w="5013640" h="54754">
                  <a:moveTo>
                    <a:pt x="5013640" y="54754"/>
                  </a:moveTo>
                  <a:lnTo>
                    <a:pt x="4993107" y="0"/>
                  </a:lnTo>
                  <a:lnTo>
                    <a:pt x="20533" y="0"/>
                  </a:lnTo>
                  <a:lnTo>
                    <a:pt x="0" y="54754"/>
                  </a:lnTo>
                  <a:close/>
                </a:path>
              </a:pathLst>
            </a:cu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26" name="椭圆 25"/>
          <p:cNvSpPr/>
          <p:nvPr/>
        </p:nvSpPr>
        <p:spPr>
          <a:xfrm rot="1860000">
            <a:off x="3109326" y="2465030"/>
            <a:ext cx="19271" cy="1927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sp>
        <p:nvSpPr>
          <p:cNvPr id="28" name="矩形 27"/>
          <p:cNvSpPr/>
          <p:nvPr/>
        </p:nvSpPr>
        <p:spPr>
          <a:xfrm>
            <a:off x="4761314" y="1105596"/>
            <a:ext cx="2614529" cy="1636395"/>
          </a:xfrm>
          <a:prstGeom prst="rect">
            <a:avLst/>
          </a:prstGeom>
        </p:spPr>
        <p:txBody>
          <a:bodyPr wrap="square" lIns="68556" tIns="34278" rIns="68556" bIns="34278">
            <a:spAutoFit/>
          </a:bodyPr>
          <a:lstStyle/>
          <a:p>
            <a:pPr algn="ctr">
              <a:lnSpc>
                <a:spcPct val="150000"/>
              </a:lnSpc>
              <a:defRPr/>
            </a:pPr>
            <a:r>
              <a:rPr lang="zh-CN" sz="4000" dirty="0">
                <a:latin typeface="微软雅黑" panose="020B0503020204020204" pitchFamily="34" charset="-122"/>
                <a:ea typeface="微软雅黑" panose="020B0503020204020204" pitchFamily="34" charset="-122"/>
              </a:rPr>
              <a:t>第二章</a:t>
            </a:r>
            <a:endParaRPr lang="zh-CN" sz="1400" dirty="0">
              <a:latin typeface="微软雅黑" panose="020B0503020204020204" pitchFamily="34" charset="-122"/>
              <a:ea typeface="微软雅黑" panose="020B0503020204020204" pitchFamily="34" charset="-122"/>
            </a:endParaRPr>
          </a:p>
          <a:p>
            <a:pPr algn="ctr">
              <a:lnSpc>
                <a:spcPct val="150000"/>
              </a:lnSpc>
              <a:defRPr/>
            </a:pPr>
            <a:r>
              <a:rPr lang="en-US" altLang="zh-CN" sz="2800" dirty="0">
                <a:latin typeface="微软雅黑" panose="020B0503020204020204" pitchFamily="34" charset="-122"/>
                <a:ea typeface="微软雅黑" panose="020B0503020204020204" pitchFamily="34" charset="-122"/>
              </a:rPr>
              <a:t>CSS</a:t>
            </a:r>
            <a:r>
              <a:rPr lang="zh-CN" altLang="en-US" sz="2800" dirty="0">
                <a:latin typeface="微软雅黑" panose="020B0503020204020204" pitchFamily="34" charset="-122"/>
                <a:ea typeface="微软雅黑" panose="020B0503020204020204" pitchFamily="34" charset="-122"/>
              </a:rPr>
              <a:t>属性</a:t>
            </a:r>
            <a:endParaRPr lang="zh-CN" altLang="en-US" sz="2800" dirty="0">
              <a:latin typeface="微软雅黑" panose="020B0503020204020204" pitchFamily="34" charset="-122"/>
              <a:ea typeface="微软雅黑" panose="020B0503020204020204" pitchFamily="34" charset="-122"/>
            </a:endParaRPr>
          </a:p>
        </p:txBody>
      </p:sp>
      <p:pic>
        <p:nvPicPr>
          <p:cNvPr id="13" name="图片 12" descr="u=2190213352,1898608478&amp;fm=72"/>
          <p:cNvPicPr>
            <a:picLocks noChangeAspect="1"/>
          </p:cNvPicPr>
          <p:nvPr/>
        </p:nvPicPr>
        <p:blipFill>
          <a:blip r:embed="rId3"/>
          <a:stretch>
            <a:fillRect/>
          </a:stretch>
        </p:blipFill>
        <p:spPr>
          <a:xfrm>
            <a:off x="1993900" y="1673225"/>
            <a:ext cx="2249805" cy="22498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advClick="0" advTm="9000">
        <p14:prism dir="d" isInverted="1"/>
      </p:transition>
    </mc:Choice>
    <mc:Fallback>
      <p:transition spd="slow" advClick="0" advTm="9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1+#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500" fill="hold"/>
                                        <p:tgtEl>
                                          <p:spTgt spid="3"/>
                                        </p:tgtEl>
                                        <p:attrNameLst>
                                          <p:attrName>ppt_w</p:attrName>
                                        </p:attrNameLst>
                                      </p:cBhvr>
                                      <p:tavLst>
                                        <p:tav tm="0">
                                          <p:val>
                                            <p:fltVal val="0"/>
                                          </p:val>
                                        </p:tav>
                                        <p:tav tm="100000">
                                          <p:val>
                                            <p:strVal val="#ppt_w"/>
                                          </p:val>
                                        </p:tav>
                                      </p:tavLst>
                                    </p:anim>
                                    <p:anim calcmode="lin" valueType="num">
                                      <p:cBhvr>
                                        <p:cTn id="21" dur="500" fill="hold"/>
                                        <p:tgtEl>
                                          <p:spTgt spid="3"/>
                                        </p:tgtEl>
                                        <p:attrNameLst>
                                          <p:attrName>ppt_h</p:attrName>
                                        </p:attrNameLst>
                                      </p:cBhvr>
                                      <p:tavLst>
                                        <p:tav tm="0">
                                          <p:val>
                                            <p:fltVal val="0"/>
                                          </p:val>
                                        </p:tav>
                                        <p:tav tm="100000">
                                          <p:val>
                                            <p:strVal val="#ppt_h"/>
                                          </p:val>
                                        </p:tav>
                                      </p:tavLst>
                                    </p:anim>
                                    <p:animEffect transition="in" filter="fade">
                                      <p:cBhvr>
                                        <p:cTn id="22" dur="500"/>
                                        <p:tgtEl>
                                          <p:spTgt spid="3"/>
                                        </p:tgtEl>
                                      </p:cBhvr>
                                    </p:animEffect>
                                  </p:childTnLst>
                                </p:cTn>
                              </p:par>
                            </p:childTnLst>
                          </p:cTn>
                        </p:par>
                        <p:par>
                          <p:cTn id="23" fill="hold">
                            <p:stCondLst>
                              <p:cond delay="1000"/>
                            </p:stCondLst>
                            <p:childTnLst>
                              <p:par>
                                <p:cTn id="24" presetID="42" presetClass="entr" presetSubtype="0" fill="hold" nodeType="after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1000"/>
                                        <p:tgtEl>
                                          <p:spTgt spid="18"/>
                                        </p:tgtEl>
                                      </p:cBhvr>
                                    </p:animEffect>
                                    <p:anim calcmode="lin" valueType="num">
                                      <p:cBhvr>
                                        <p:cTn id="27" dur="1000" fill="hold"/>
                                        <p:tgtEl>
                                          <p:spTgt spid="18"/>
                                        </p:tgtEl>
                                        <p:attrNameLst>
                                          <p:attrName>ppt_x</p:attrName>
                                        </p:attrNameLst>
                                      </p:cBhvr>
                                      <p:tavLst>
                                        <p:tav tm="0">
                                          <p:val>
                                            <p:strVal val="#ppt_x"/>
                                          </p:val>
                                        </p:tav>
                                        <p:tav tm="100000">
                                          <p:val>
                                            <p:strVal val="#ppt_x"/>
                                          </p:val>
                                        </p:tav>
                                      </p:tavLst>
                                    </p:anim>
                                    <p:anim calcmode="lin" valueType="num">
                                      <p:cBhvr>
                                        <p:cTn id="28" dur="1000" fill="hold"/>
                                        <p:tgtEl>
                                          <p:spTgt spid="18"/>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125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1000"/>
                                        <p:tgtEl>
                                          <p:spTgt spid="28"/>
                                        </p:tgtEl>
                                      </p:cBhvr>
                                    </p:animEffect>
                                    <p:anim calcmode="lin" valueType="num">
                                      <p:cBhvr>
                                        <p:cTn id="32" dur="1000" fill="hold"/>
                                        <p:tgtEl>
                                          <p:spTgt spid="28"/>
                                        </p:tgtEl>
                                        <p:attrNameLst>
                                          <p:attrName>ppt_x</p:attrName>
                                        </p:attrNameLst>
                                      </p:cBhvr>
                                      <p:tavLst>
                                        <p:tav tm="0">
                                          <p:val>
                                            <p:strVal val="#ppt_x"/>
                                          </p:val>
                                        </p:tav>
                                        <p:tav tm="100000">
                                          <p:val>
                                            <p:strVal val="#ppt_x"/>
                                          </p:val>
                                        </p:tav>
                                      </p:tavLst>
                                    </p:anim>
                                    <p:anim calcmode="lin" valueType="num">
                                      <p:cBhvr>
                                        <p:cTn id="33"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2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12" name="组合 11"/>
          <p:cNvGrpSpPr/>
          <p:nvPr/>
        </p:nvGrpSpPr>
        <p:grpSpPr>
          <a:xfrm>
            <a:off x="792564" y="1384378"/>
            <a:ext cx="3292857" cy="2493809"/>
            <a:chOff x="2282031" y="457200"/>
            <a:chExt cx="7631113" cy="5943600"/>
          </a:xfrm>
        </p:grpSpPr>
        <p:pic>
          <p:nvPicPr>
            <p:cNvPr id="13" name="Picture 3" descr="C:\Users\Administrator\Desktop\iMac_resource.png"/>
            <p:cNvPicPr>
              <a:picLocks noChangeAspect="1" noChangeArrowheads="1"/>
            </p:cNvPicPr>
            <p:nvPr/>
          </p:nvPicPr>
          <p:blipFill>
            <a:blip r:embed="rId1" cstate="screen"/>
            <a:srcRect/>
            <a:stretch>
              <a:fillRect/>
            </a:stretch>
          </p:blipFill>
          <p:spPr bwMode="auto">
            <a:xfrm>
              <a:off x="2282031" y="457200"/>
              <a:ext cx="7631113" cy="5943600"/>
            </a:xfrm>
            <a:prstGeom prst="rect">
              <a:avLst/>
            </a:prstGeom>
            <a:noFill/>
            <a:extLst>
              <a:ext uri="{909E8E84-426E-40DD-AFC4-6F175D3DCCD1}">
                <a14:hiddenFill xmlns:a14="http://schemas.microsoft.com/office/drawing/2010/main">
                  <a:solidFill>
                    <a:srgbClr val="FFFFFF"/>
                  </a:solidFill>
                </a14:hiddenFill>
              </a:ext>
            </a:extLst>
          </p:spPr>
        </p:pic>
        <p:sp>
          <p:nvSpPr>
            <p:cNvPr id="14" name="矩形 13"/>
            <p:cNvSpPr/>
            <p:nvPr/>
          </p:nvSpPr>
          <p:spPr>
            <a:xfrm>
              <a:off x="3098185" y="980728"/>
              <a:ext cx="6048672" cy="3456384"/>
            </a:xfrm>
            <a:prstGeom prst="rect">
              <a:avLst/>
            </a:prstGeom>
            <a:blipFill>
              <a:blip r:embed="rId2" cstate="screen"/>
              <a:srcRect/>
              <a:stretch>
                <a:fillRect/>
              </a:stretch>
            </a:blip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5" name="组合 14"/>
          <p:cNvGrpSpPr/>
          <p:nvPr/>
        </p:nvGrpSpPr>
        <p:grpSpPr>
          <a:xfrm>
            <a:off x="2790266" y="2483225"/>
            <a:ext cx="1457782" cy="1803876"/>
            <a:chOff x="865232" y="1286330"/>
            <a:chExt cx="4013321" cy="4966128"/>
          </a:xfrm>
        </p:grpSpPr>
        <p:pic>
          <p:nvPicPr>
            <p:cNvPr id="16" name="Picture 3"/>
            <p:cNvPicPr>
              <a:picLocks noChangeAspect="1"/>
            </p:cNvPicPr>
            <p:nvPr/>
          </p:nvPicPr>
          <p:blipFill rotWithShape="1">
            <a:blip r:embed="rId3" cstate="screen"/>
            <a:srcRect/>
            <a:stretch>
              <a:fillRect/>
            </a:stretch>
          </p:blipFill>
          <p:spPr>
            <a:xfrm>
              <a:off x="865232" y="1286330"/>
              <a:ext cx="4013321" cy="4966128"/>
            </a:xfrm>
            <a:prstGeom prst="rect">
              <a:avLst/>
            </a:prstGeom>
          </p:spPr>
        </p:pic>
        <p:sp>
          <p:nvSpPr>
            <p:cNvPr id="17" name="Rectangle 4"/>
            <p:cNvSpPr/>
            <p:nvPr/>
          </p:nvSpPr>
          <p:spPr>
            <a:xfrm>
              <a:off x="1454929" y="1875864"/>
              <a:ext cx="2838784" cy="3697941"/>
            </a:xfrm>
            <a:prstGeom prst="rect">
              <a:avLst/>
            </a:prstGeom>
            <a:blipFill>
              <a:blip r:embed="rId4"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grpSp>
        <p:nvGrpSpPr>
          <p:cNvPr id="18" name="组合 17"/>
          <p:cNvGrpSpPr/>
          <p:nvPr/>
        </p:nvGrpSpPr>
        <p:grpSpPr>
          <a:xfrm>
            <a:off x="4579067" y="1081449"/>
            <a:ext cx="620233" cy="618851"/>
            <a:chOff x="5962996" y="1700808"/>
            <a:chExt cx="827193" cy="825350"/>
          </a:xfrm>
        </p:grpSpPr>
        <p:sp>
          <p:nvSpPr>
            <p:cNvPr id="19" name="橢圓 5"/>
            <p:cNvSpPr/>
            <p:nvPr/>
          </p:nvSpPr>
          <p:spPr>
            <a:xfrm>
              <a:off x="5962996" y="1700808"/>
              <a:ext cx="827193" cy="825350"/>
            </a:xfrm>
            <a:prstGeom prst="ellipse">
              <a:avLst/>
            </a:prstGeom>
            <a:gradFill>
              <a:gsLst>
                <a:gs pos="0">
                  <a:srgbClr val="0070C0"/>
                </a:gs>
                <a:gs pos="100000">
                  <a:srgbClr val="00B0F0"/>
                </a:gs>
              </a:gsLst>
              <a:lin ang="5400000" scaled="1"/>
            </a:gra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100">
                <a:solidFill>
                  <a:schemeClr val="bg1"/>
                </a:solidFill>
                <a:effectLst>
                  <a:outerShdw blurRad="38100" dist="38100" dir="2700000" algn="tl">
                    <a:srgbClr val="000000">
                      <a:alpha val="43137"/>
                    </a:srgbClr>
                  </a:outerShdw>
                </a:effectLst>
                <a:latin typeface="DIN-BoldItalic" pitchFamily="50" charset="0"/>
              </a:endParaRPr>
            </a:p>
          </p:txBody>
        </p:sp>
        <p:sp>
          <p:nvSpPr>
            <p:cNvPr id="20" name="Freeform 454"/>
            <p:cNvSpPr>
              <a:spLocks noEditPoints="1"/>
            </p:cNvSpPr>
            <p:nvPr/>
          </p:nvSpPr>
          <p:spPr bwMode="auto">
            <a:xfrm flipH="1">
              <a:off x="6188219" y="1964142"/>
              <a:ext cx="376746" cy="298681"/>
            </a:xfrm>
            <a:custGeom>
              <a:avLst/>
              <a:gdLst>
                <a:gd name="T0" fmla="*/ 47 w 47"/>
                <a:gd name="T1" fmla="*/ 29 h 37"/>
                <a:gd name="T2" fmla="*/ 43 w 47"/>
                <a:gd name="T3" fmla="*/ 30 h 37"/>
                <a:gd name="T4" fmla="*/ 36 w 47"/>
                <a:gd name="T5" fmla="*/ 37 h 37"/>
                <a:gd name="T6" fmla="*/ 29 w 47"/>
                <a:gd name="T7" fmla="*/ 30 h 37"/>
                <a:gd name="T8" fmla="*/ 19 w 47"/>
                <a:gd name="T9" fmla="*/ 30 h 37"/>
                <a:gd name="T10" fmla="*/ 12 w 47"/>
                <a:gd name="T11" fmla="*/ 37 h 37"/>
                <a:gd name="T12" fmla="*/ 5 w 47"/>
                <a:gd name="T13" fmla="*/ 30 h 37"/>
                <a:gd name="T14" fmla="*/ 4 w 47"/>
                <a:gd name="T15" fmla="*/ 30 h 37"/>
                <a:gd name="T16" fmla="*/ 0 w 47"/>
                <a:gd name="T17" fmla="*/ 29 h 37"/>
                <a:gd name="T18" fmla="*/ 2 w 47"/>
                <a:gd name="T19" fmla="*/ 27 h 37"/>
                <a:gd name="T20" fmla="*/ 2 w 47"/>
                <a:gd name="T21" fmla="*/ 18 h 37"/>
                <a:gd name="T22" fmla="*/ 3 w 47"/>
                <a:gd name="T23" fmla="*/ 13 h 37"/>
                <a:gd name="T24" fmla="*/ 8 w 47"/>
                <a:gd name="T25" fmla="*/ 8 h 37"/>
                <a:gd name="T26" fmla="*/ 11 w 47"/>
                <a:gd name="T27" fmla="*/ 6 h 37"/>
                <a:gd name="T28" fmla="*/ 16 w 47"/>
                <a:gd name="T29" fmla="*/ 6 h 37"/>
                <a:gd name="T30" fmla="*/ 16 w 47"/>
                <a:gd name="T31" fmla="*/ 1 h 37"/>
                <a:gd name="T32" fmla="*/ 17 w 47"/>
                <a:gd name="T33" fmla="*/ 0 h 37"/>
                <a:gd name="T34" fmla="*/ 45 w 47"/>
                <a:gd name="T35" fmla="*/ 0 h 37"/>
                <a:gd name="T36" fmla="*/ 47 w 47"/>
                <a:gd name="T37" fmla="*/ 1 h 37"/>
                <a:gd name="T38" fmla="*/ 47 w 47"/>
                <a:gd name="T39" fmla="*/ 29 h 37"/>
                <a:gd name="T40" fmla="*/ 16 w 47"/>
                <a:gd name="T41" fmla="*/ 17 h 37"/>
                <a:gd name="T42" fmla="*/ 16 w 47"/>
                <a:gd name="T43" fmla="*/ 10 h 37"/>
                <a:gd name="T44" fmla="*/ 11 w 47"/>
                <a:gd name="T45" fmla="*/ 10 h 37"/>
                <a:gd name="T46" fmla="*/ 11 w 47"/>
                <a:gd name="T47" fmla="*/ 10 h 37"/>
                <a:gd name="T48" fmla="*/ 6 w 47"/>
                <a:gd name="T49" fmla="*/ 15 h 37"/>
                <a:gd name="T50" fmla="*/ 5 w 47"/>
                <a:gd name="T51" fmla="*/ 16 h 37"/>
                <a:gd name="T52" fmla="*/ 5 w 47"/>
                <a:gd name="T53" fmla="*/ 17 h 37"/>
                <a:gd name="T54" fmla="*/ 16 w 47"/>
                <a:gd name="T55" fmla="*/ 17 h 37"/>
                <a:gd name="T56" fmla="*/ 12 w 47"/>
                <a:gd name="T57" fmla="*/ 27 h 37"/>
                <a:gd name="T58" fmla="*/ 9 w 47"/>
                <a:gd name="T59" fmla="*/ 30 h 37"/>
                <a:gd name="T60" fmla="*/ 12 w 47"/>
                <a:gd name="T61" fmla="*/ 34 h 37"/>
                <a:gd name="T62" fmla="*/ 16 w 47"/>
                <a:gd name="T63" fmla="*/ 30 h 37"/>
                <a:gd name="T64" fmla="*/ 12 w 47"/>
                <a:gd name="T65" fmla="*/ 27 h 37"/>
                <a:gd name="T66" fmla="*/ 36 w 47"/>
                <a:gd name="T67" fmla="*/ 27 h 37"/>
                <a:gd name="T68" fmla="*/ 33 w 47"/>
                <a:gd name="T69" fmla="*/ 30 h 37"/>
                <a:gd name="T70" fmla="*/ 36 w 47"/>
                <a:gd name="T71" fmla="*/ 34 h 37"/>
                <a:gd name="T72" fmla="*/ 40 w 47"/>
                <a:gd name="T73" fmla="*/ 30 h 37"/>
                <a:gd name="T74" fmla="*/ 36 w 47"/>
                <a:gd name="T75" fmla="*/ 2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7" h="37">
                  <a:moveTo>
                    <a:pt x="47" y="29"/>
                  </a:moveTo>
                  <a:cubicBezTo>
                    <a:pt x="47" y="31"/>
                    <a:pt x="44" y="30"/>
                    <a:pt x="43" y="30"/>
                  </a:cubicBezTo>
                  <a:cubicBezTo>
                    <a:pt x="43" y="34"/>
                    <a:pt x="40" y="37"/>
                    <a:pt x="36" y="37"/>
                  </a:cubicBezTo>
                  <a:cubicBezTo>
                    <a:pt x="32" y="37"/>
                    <a:pt x="29" y="34"/>
                    <a:pt x="29" y="30"/>
                  </a:cubicBezTo>
                  <a:cubicBezTo>
                    <a:pt x="19" y="30"/>
                    <a:pt x="19" y="30"/>
                    <a:pt x="19" y="30"/>
                  </a:cubicBezTo>
                  <a:cubicBezTo>
                    <a:pt x="19" y="34"/>
                    <a:pt x="16" y="37"/>
                    <a:pt x="12" y="37"/>
                  </a:cubicBezTo>
                  <a:cubicBezTo>
                    <a:pt x="8" y="37"/>
                    <a:pt x="5" y="34"/>
                    <a:pt x="5" y="30"/>
                  </a:cubicBezTo>
                  <a:cubicBezTo>
                    <a:pt x="4" y="30"/>
                    <a:pt x="4" y="30"/>
                    <a:pt x="4" y="30"/>
                  </a:cubicBezTo>
                  <a:cubicBezTo>
                    <a:pt x="2" y="30"/>
                    <a:pt x="0" y="31"/>
                    <a:pt x="0" y="29"/>
                  </a:cubicBezTo>
                  <a:cubicBezTo>
                    <a:pt x="0" y="28"/>
                    <a:pt x="1" y="27"/>
                    <a:pt x="2" y="27"/>
                  </a:cubicBezTo>
                  <a:cubicBezTo>
                    <a:pt x="2" y="18"/>
                    <a:pt x="2" y="18"/>
                    <a:pt x="2" y="18"/>
                  </a:cubicBezTo>
                  <a:cubicBezTo>
                    <a:pt x="2" y="16"/>
                    <a:pt x="2" y="14"/>
                    <a:pt x="3" y="13"/>
                  </a:cubicBezTo>
                  <a:cubicBezTo>
                    <a:pt x="8" y="8"/>
                    <a:pt x="8" y="8"/>
                    <a:pt x="8" y="8"/>
                  </a:cubicBezTo>
                  <a:cubicBezTo>
                    <a:pt x="9" y="7"/>
                    <a:pt x="10" y="6"/>
                    <a:pt x="11" y="6"/>
                  </a:cubicBezTo>
                  <a:cubicBezTo>
                    <a:pt x="16" y="6"/>
                    <a:pt x="16" y="6"/>
                    <a:pt x="16" y="6"/>
                  </a:cubicBezTo>
                  <a:cubicBezTo>
                    <a:pt x="16" y="1"/>
                    <a:pt x="16" y="1"/>
                    <a:pt x="16" y="1"/>
                  </a:cubicBezTo>
                  <a:cubicBezTo>
                    <a:pt x="16" y="0"/>
                    <a:pt x="16" y="0"/>
                    <a:pt x="17" y="0"/>
                  </a:cubicBezTo>
                  <a:cubicBezTo>
                    <a:pt x="45" y="0"/>
                    <a:pt x="45" y="0"/>
                    <a:pt x="45" y="0"/>
                  </a:cubicBezTo>
                  <a:cubicBezTo>
                    <a:pt x="46" y="0"/>
                    <a:pt x="47" y="0"/>
                    <a:pt x="47" y="1"/>
                  </a:cubicBezTo>
                  <a:lnTo>
                    <a:pt x="47" y="29"/>
                  </a:lnTo>
                  <a:close/>
                  <a:moveTo>
                    <a:pt x="16" y="17"/>
                  </a:moveTo>
                  <a:cubicBezTo>
                    <a:pt x="16" y="10"/>
                    <a:pt x="16" y="10"/>
                    <a:pt x="16" y="10"/>
                  </a:cubicBezTo>
                  <a:cubicBezTo>
                    <a:pt x="11" y="10"/>
                    <a:pt x="11" y="10"/>
                    <a:pt x="11" y="10"/>
                  </a:cubicBezTo>
                  <a:cubicBezTo>
                    <a:pt x="11" y="10"/>
                    <a:pt x="11" y="10"/>
                    <a:pt x="11" y="10"/>
                  </a:cubicBezTo>
                  <a:cubicBezTo>
                    <a:pt x="6" y="15"/>
                    <a:pt x="6" y="15"/>
                    <a:pt x="6" y="15"/>
                  </a:cubicBezTo>
                  <a:cubicBezTo>
                    <a:pt x="6" y="15"/>
                    <a:pt x="5" y="16"/>
                    <a:pt x="5" y="16"/>
                  </a:cubicBezTo>
                  <a:cubicBezTo>
                    <a:pt x="5" y="17"/>
                    <a:pt x="5" y="17"/>
                    <a:pt x="5" y="17"/>
                  </a:cubicBezTo>
                  <a:lnTo>
                    <a:pt x="16" y="17"/>
                  </a:lnTo>
                  <a:close/>
                  <a:moveTo>
                    <a:pt x="12" y="27"/>
                  </a:moveTo>
                  <a:cubicBezTo>
                    <a:pt x="10" y="27"/>
                    <a:pt x="9" y="28"/>
                    <a:pt x="9" y="30"/>
                  </a:cubicBezTo>
                  <a:cubicBezTo>
                    <a:pt x="9" y="32"/>
                    <a:pt x="10" y="34"/>
                    <a:pt x="12" y="34"/>
                  </a:cubicBezTo>
                  <a:cubicBezTo>
                    <a:pt x="14" y="34"/>
                    <a:pt x="16" y="32"/>
                    <a:pt x="16" y="30"/>
                  </a:cubicBezTo>
                  <a:cubicBezTo>
                    <a:pt x="16" y="28"/>
                    <a:pt x="14" y="27"/>
                    <a:pt x="12" y="27"/>
                  </a:cubicBezTo>
                  <a:close/>
                  <a:moveTo>
                    <a:pt x="36" y="27"/>
                  </a:moveTo>
                  <a:cubicBezTo>
                    <a:pt x="34" y="27"/>
                    <a:pt x="33" y="28"/>
                    <a:pt x="33" y="30"/>
                  </a:cubicBezTo>
                  <a:cubicBezTo>
                    <a:pt x="33" y="32"/>
                    <a:pt x="34" y="34"/>
                    <a:pt x="36" y="34"/>
                  </a:cubicBezTo>
                  <a:cubicBezTo>
                    <a:pt x="38" y="34"/>
                    <a:pt x="40" y="32"/>
                    <a:pt x="40" y="30"/>
                  </a:cubicBezTo>
                  <a:cubicBezTo>
                    <a:pt x="40" y="28"/>
                    <a:pt x="38" y="27"/>
                    <a:pt x="36" y="27"/>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id-ID" sz="1350"/>
            </a:p>
          </p:txBody>
        </p:sp>
      </p:grpSp>
      <p:grpSp>
        <p:nvGrpSpPr>
          <p:cNvPr id="21" name="组合 20"/>
          <p:cNvGrpSpPr/>
          <p:nvPr/>
        </p:nvGrpSpPr>
        <p:grpSpPr>
          <a:xfrm>
            <a:off x="4591243" y="1867991"/>
            <a:ext cx="618851" cy="620232"/>
            <a:chOff x="5964839" y="2742182"/>
            <a:chExt cx="825350" cy="827192"/>
          </a:xfrm>
        </p:grpSpPr>
        <p:sp>
          <p:nvSpPr>
            <p:cNvPr id="22" name="橢圓 3"/>
            <p:cNvSpPr/>
            <p:nvPr/>
          </p:nvSpPr>
          <p:spPr>
            <a:xfrm>
              <a:off x="5964839" y="2742182"/>
              <a:ext cx="825350" cy="827192"/>
            </a:xfrm>
            <a:prstGeom prst="ellipse">
              <a:avLst/>
            </a:prstGeom>
            <a:gradFill>
              <a:gsLst>
                <a:gs pos="0">
                  <a:srgbClr val="0070C0"/>
                </a:gs>
                <a:gs pos="100000">
                  <a:srgbClr val="00B0F0"/>
                </a:gs>
              </a:gsLst>
              <a:lin ang="5400000" scaled="1"/>
            </a:gra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100">
                <a:solidFill>
                  <a:schemeClr val="bg1"/>
                </a:solidFill>
                <a:effectLst>
                  <a:outerShdw blurRad="38100" dist="38100" dir="2700000" algn="tl">
                    <a:srgbClr val="000000">
                      <a:alpha val="43137"/>
                    </a:srgbClr>
                  </a:outerShdw>
                </a:effectLst>
                <a:latin typeface="DIN-BoldItalic" pitchFamily="50" charset="0"/>
              </a:endParaRPr>
            </a:p>
          </p:txBody>
        </p:sp>
        <p:sp>
          <p:nvSpPr>
            <p:cNvPr id="23" name="Freeform 453"/>
            <p:cNvSpPr>
              <a:spLocks noEditPoints="1"/>
            </p:cNvSpPr>
            <p:nvPr/>
          </p:nvSpPr>
          <p:spPr bwMode="auto">
            <a:xfrm>
              <a:off x="6209990" y="3025613"/>
              <a:ext cx="333203" cy="308290"/>
            </a:xfrm>
            <a:custGeom>
              <a:avLst/>
              <a:gdLst>
                <a:gd name="T0" fmla="*/ 45 w 45"/>
                <a:gd name="T1" fmla="*/ 13 h 42"/>
                <a:gd name="T2" fmla="*/ 30 w 45"/>
                <a:gd name="T3" fmla="*/ 24 h 42"/>
                <a:gd name="T4" fmla="*/ 28 w 45"/>
                <a:gd name="T5" fmla="*/ 27 h 42"/>
                <a:gd name="T6" fmla="*/ 26 w 45"/>
                <a:gd name="T7" fmla="*/ 31 h 42"/>
                <a:gd name="T8" fmla="*/ 29 w 45"/>
                <a:gd name="T9" fmla="*/ 35 h 42"/>
                <a:gd name="T10" fmla="*/ 35 w 45"/>
                <a:gd name="T11" fmla="*/ 39 h 42"/>
                <a:gd name="T12" fmla="*/ 35 w 45"/>
                <a:gd name="T13" fmla="*/ 41 h 42"/>
                <a:gd name="T14" fmla="*/ 34 w 45"/>
                <a:gd name="T15" fmla="*/ 42 h 42"/>
                <a:gd name="T16" fmla="*/ 11 w 45"/>
                <a:gd name="T17" fmla="*/ 42 h 42"/>
                <a:gd name="T18" fmla="*/ 11 w 45"/>
                <a:gd name="T19" fmla="*/ 41 h 42"/>
                <a:gd name="T20" fmla="*/ 11 w 45"/>
                <a:gd name="T21" fmla="*/ 39 h 42"/>
                <a:gd name="T22" fmla="*/ 16 w 45"/>
                <a:gd name="T23" fmla="*/ 35 h 42"/>
                <a:gd name="T24" fmla="*/ 19 w 45"/>
                <a:gd name="T25" fmla="*/ 31 h 42"/>
                <a:gd name="T26" fmla="*/ 17 w 45"/>
                <a:gd name="T27" fmla="*/ 27 h 42"/>
                <a:gd name="T28" fmla="*/ 15 w 45"/>
                <a:gd name="T29" fmla="*/ 24 h 42"/>
                <a:gd name="T30" fmla="*/ 0 w 45"/>
                <a:gd name="T31" fmla="*/ 13 h 42"/>
                <a:gd name="T32" fmla="*/ 0 w 45"/>
                <a:gd name="T33" fmla="*/ 10 h 42"/>
                <a:gd name="T34" fmla="*/ 3 w 45"/>
                <a:gd name="T35" fmla="*/ 7 h 42"/>
                <a:gd name="T36" fmla="*/ 11 w 45"/>
                <a:gd name="T37" fmla="*/ 7 h 42"/>
                <a:gd name="T38" fmla="*/ 11 w 45"/>
                <a:gd name="T39" fmla="*/ 5 h 42"/>
                <a:gd name="T40" fmla="*/ 15 w 45"/>
                <a:gd name="T41" fmla="*/ 0 h 42"/>
                <a:gd name="T42" fmla="*/ 30 w 45"/>
                <a:gd name="T43" fmla="*/ 0 h 42"/>
                <a:gd name="T44" fmla="*/ 35 w 45"/>
                <a:gd name="T45" fmla="*/ 5 h 42"/>
                <a:gd name="T46" fmla="*/ 35 w 45"/>
                <a:gd name="T47" fmla="*/ 7 h 42"/>
                <a:gd name="T48" fmla="*/ 42 w 45"/>
                <a:gd name="T49" fmla="*/ 7 h 42"/>
                <a:gd name="T50" fmla="*/ 45 w 45"/>
                <a:gd name="T51" fmla="*/ 10 h 42"/>
                <a:gd name="T52" fmla="*/ 45 w 45"/>
                <a:gd name="T53" fmla="*/ 13 h 42"/>
                <a:gd name="T54" fmla="*/ 11 w 45"/>
                <a:gd name="T55" fmla="*/ 11 h 42"/>
                <a:gd name="T56" fmla="*/ 4 w 45"/>
                <a:gd name="T57" fmla="*/ 11 h 42"/>
                <a:gd name="T58" fmla="*/ 4 w 45"/>
                <a:gd name="T59" fmla="*/ 13 h 42"/>
                <a:gd name="T60" fmla="*/ 13 w 45"/>
                <a:gd name="T61" fmla="*/ 21 h 42"/>
                <a:gd name="T62" fmla="*/ 11 w 45"/>
                <a:gd name="T63" fmla="*/ 11 h 42"/>
                <a:gd name="T64" fmla="*/ 41 w 45"/>
                <a:gd name="T65" fmla="*/ 11 h 42"/>
                <a:gd name="T66" fmla="*/ 35 w 45"/>
                <a:gd name="T67" fmla="*/ 11 h 42"/>
                <a:gd name="T68" fmla="*/ 33 w 45"/>
                <a:gd name="T69" fmla="*/ 21 h 42"/>
                <a:gd name="T70" fmla="*/ 41 w 45"/>
                <a:gd name="T71" fmla="*/ 13 h 42"/>
                <a:gd name="T72" fmla="*/ 41 w 45"/>
                <a:gd name="T73"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5" h="42">
                  <a:moveTo>
                    <a:pt x="45" y="13"/>
                  </a:moveTo>
                  <a:cubicBezTo>
                    <a:pt x="45" y="18"/>
                    <a:pt x="39" y="24"/>
                    <a:pt x="30" y="24"/>
                  </a:cubicBezTo>
                  <a:cubicBezTo>
                    <a:pt x="29" y="26"/>
                    <a:pt x="28" y="27"/>
                    <a:pt x="28" y="27"/>
                  </a:cubicBezTo>
                  <a:cubicBezTo>
                    <a:pt x="26" y="28"/>
                    <a:pt x="26" y="30"/>
                    <a:pt x="26" y="31"/>
                  </a:cubicBezTo>
                  <a:cubicBezTo>
                    <a:pt x="26" y="33"/>
                    <a:pt x="27" y="35"/>
                    <a:pt x="29" y="35"/>
                  </a:cubicBezTo>
                  <a:cubicBezTo>
                    <a:pt x="32" y="35"/>
                    <a:pt x="35" y="36"/>
                    <a:pt x="35" y="39"/>
                  </a:cubicBezTo>
                  <a:cubicBezTo>
                    <a:pt x="35" y="41"/>
                    <a:pt x="35" y="41"/>
                    <a:pt x="35" y="41"/>
                  </a:cubicBezTo>
                  <a:cubicBezTo>
                    <a:pt x="35" y="41"/>
                    <a:pt x="34" y="42"/>
                    <a:pt x="34" y="42"/>
                  </a:cubicBezTo>
                  <a:cubicBezTo>
                    <a:pt x="11" y="42"/>
                    <a:pt x="11" y="42"/>
                    <a:pt x="11" y="42"/>
                  </a:cubicBezTo>
                  <a:cubicBezTo>
                    <a:pt x="11" y="42"/>
                    <a:pt x="11" y="41"/>
                    <a:pt x="11" y="41"/>
                  </a:cubicBezTo>
                  <a:cubicBezTo>
                    <a:pt x="11" y="39"/>
                    <a:pt x="11" y="39"/>
                    <a:pt x="11" y="39"/>
                  </a:cubicBezTo>
                  <a:cubicBezTo>
                    <a:pt x="11" y="36"/>
                    <a:pt x="13" y="35"/>
                    <a:pt x="16" y="35"/>
                  </a:cubicBezTo>
                  <a:cubicBezTo>
                    <a:pt x="18" y="35"/>
                    <a:pt x="19" y="33"/>
                    <a:pt x="19" y="31"/>
                  </a:cubicBezTo>
                  <a:cubicBezTo>
                    <a:pt x="19" y="30"/>
                    <a:pt x="19" y="28"/>
                    <a:pt x="17" y="27"/>
                  </a:cubicBezTo>
                  <a:cubicBezTo>
                    <a:pt x="17" y="27"/>
                    <a:pt x="16" y="26"/>
                    <a:pt x="15" y="24"/>
                  </a:cubicBezTo>
                  <a:cubicBezTo>
                    <a:pt x="6" y="24"/>
                    <a:pt x="0" y="18"/>
                    <a:pt x="0" y="13"/>
                  </a:cubicBezTo>
                  <a:cubicBezTo>
                    <a:pt x="0" y="10"/>
                    <a:pt x="0" y="10"/>
                    <a:pt x="0" y="10"/>
                  </a:cubicBezTo>
                  <a:cubicBezTo>
                    <a:pt x="0" y="8"/>
                    <a:pt x="1" y="7"/>
                    <a:pt x="3" y="7"/>
                  </a:cubicBezTo>
                  <a:cubicBezTo>
                    <a:pt x="11" y="7"/>
                    <a:pt x="11" y="7"/>
                    <a:pt x="11" y="7"/>
                  </a:cubicBezTo>
                  <a:cubicBezTo>
                    <a:pt x="11" y="5"/>
                    <a:pt x="11" y="5"/>
                    <a:pt x="11" y="5"/>
                  </a:cubicBezTo>
                  <a:cubicBezTo>
                    <a:pt x="11" y="2"/>
                    <a:pt x="12" y="0"/>
                    <a:pt x="15" y="0"/>
                  </a:cubicBezTo>
                  <a:cubicBezTo>
                    <a:pt x="30" y="0"/>
                    <a:pt x="30" y="0"/>
                    <a:pt x="30" y="0"/>
                  </a:cubicBezTo>
                  <a:cubicBezTo>
                    <a:pt x="33" y="0"/>
                    <a:pt x="35" y="2"/>
                    <a:pt x="35" y="5"/>
                  </a:cubicBezTo>
                  <a:cubicBezTo>
                    <a:pt x="35" y="7"/>
                    <a:pt x="35" y="7"/>
                    <a:pt x="35" y="7"/>
                  </a:cubicBezTo>
                  <a:cubicBezTo>
                    <a:pt x="42" y="7"/>
                    <a:pt x="42" y="7"/>
                    <a:pt x="42" y="7"/>
                  </a:cubicBezTo>
                  <a:cubicBezTo>
                    <a:pt x="44" y="7"/>
                    <a:pt x="45" y="8"/>
                    <a:pt x="45" y="10"/>
                  </a:cubicBezTo>
                  <a:lnTo>
                    <a:pt x="45" y="13"/>
                  </a:lnTo>
                  <a:close/>
                  <a:moveTo>
                    <a:pt x="11" y="11"/>
                  </a:moveTo>
                  <a:cubicBezTo>
                    <a:pt x="4" y="11"/>
                    <a:pt x="4" y="11"/>
                    <a:pt x="4" y="11"/>
                  </a:cubicBezTo>
                  <a:cubicBezTo>
                    <a:pt x="4" y="13"/>
                    <a:pt x="4" y="13"/>
                    <a:pt x="4" y="13"/>
                  </a:cubicBezTo>
                  <a:cubicBezTo>
                    <a:pt x="4" y="16"/>
                    <a:pt x="7" y="20"/>
                    <a:pt x="13" y="21"/>
                  </a:cubicBezTo>
                  <a:cubicBezTo>
                    <a:pt x="11" y="18"/>
                    <a:pt x="11" y="15"/>
                    <a:pt x="11" y="11"/>
                  </a:cubicBezTo>
                  <a:close/>
                  <a:moveTo>
                    <a:pt x="41" y="11"/>
                  </a:moveTo>
                  <a:cubicBezTo>
                    <a:pt x="35" y="11"/>
                    <a:pt x="35" y="11"/>
                    <a:pt x="35" y="11"/>
                  </a:cubicBezTo>
                  <a:cubicBezTo>
                    <a:pt x="35" y="15"/>
                    <a:pt x="34" y="18"/>
                    <a:pt x="33" y="21"/>
                  </a:cubicBezTo>
                  <a:cubicBezTo>
                    <a:pt x="38" y="20"/>
                    <a:pt x="41" y="16"/>
                    <a:pt x="41" y="13"/>
                  </a:cubicBezTo>
                  <a:lnTo>
                    <a:pt x="41" y="11"/>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id-ID" sz="1350"/>
            </a:p>
          </p:txBody>
        </p:sp>
      </p:grpSp>
      <p:grpSp>
        <p:nvGrpSpPr>
          <p:cNvPr id="24" name="组合 23"/>
          <p:cNvGrpSpPr/>
          <p:nvPr/>
        </p:nvGrpSpPr>
        <p:grpSpPr>
          <a:xfrm>
            <a:off x="4586687" y="2698650"/>
            <a:ext cx="620233" cy="618851"/>
            <a:chOff x="5962996" y="3789040"/>
            <a:chExt cx="827193" cy="825350"/>
          </a:xfrm>
        </p:grpSpPr>
        <p:sp>
          <p:nvSpPr>
            <p:cNvPr id="25" name="橢圓 5"/>
            <p:cNvSpPr/>
            <p:nvPr/>
          </p:nvSpPr>
          <p:spPr>
            <a:xfrm>
              <a:off x="5962996" y="3789040"/>
              <a:ext cx="827193" cy="825350"/>
            </a:xfrm>
            <a:prstGeom prst="ellipse">
              <a:avLst/>
            </a:prstGeom>
            <a:gradFill>
              <a:gsLst>
                <a:gs pos="0">
                  <a:srgbClr val="0070C0"/>
                </a:gs>
                <a:gs pos="100000">
                  <a:srgbClr val="00B0F0"/>
                </a:gs>
              </a:gsLst>
              <a:lin ang="5400000" scaled="1"/>
            </a:gra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100">
                <a:solidFill>
                  <a:schemeClr val="bg1"/>
                </a:solidFill>
                <a:effectLst>
                  <a:outerShdw blurRad="38100" dist="38100" dir="2700000" algn="tl">
                    <a:srgbClr val="000000">
                      <a:alpha val="43137"/>
                    </a:srgbClr>
                  </a:outerShdw>
                </a:effectLst>
                <a:latin typeface="DIN-BoldItalic" pitchFamily="50" charset="0"/>
              </a:endParaRPr>
            </a:p>
          </p:txBody>
        </p:sp>
        <p:sp>
          <p:nvSpPr>
            <p:cNvPr id="26" name="Freeform 336"/>
            <p:cNvSpPr>
              <a:spLocks noEditPoints="1"/>
            </p:cNvSpPr>
            <p:nvPr/>
          </p:nvSpPr>
          <p:spPr bwMode="auto">
            <a:xfrm>
              <a:off x="6224530" y="4048744"/>
              <a:ext cx="314081" cy="314081"/>
            </a:xfrm>
            <a:custGeom>
              <a:avLst/>
              <a:gdLst>
                <a:gd name="T0" fmla="*/ 0 w 90"/>
                <a:gd name="T1" fmla="*/ 40 h 90"/>
                <a:gd name="T2" fmla="*/ 40 w 90"/>
                <a:gd name="T3" fmla="*/ 0 h 90"/>
                <a:gd name="T4" fmla="*/ 40 w 90"/>
                <a:gd name="T5" fmla="*/ 90 h 90"/>
                <a:gd name="T6" fmla="*/ 0 w 90"/>
                <a:gd name="T7" fmla="*/ 50 h 90"/>
                <a:gd name="T8" fmla="*/ 40 w 90"/>
                <a:gd name="T9" fmla="*/ 90 h 90"/>
                <a:gd name="T10" fmla="*/ 33 w 90"/>
                <a:gd name="T11" fmla="*/ 10 h 90"/>
                <a:gd name="T12" fmla="*/ 9 w 90"/>
                <a:gd name="T13" fmla="*/ 33 h 90"/>
                <a:gd name="T14" fmla="*/ 33 w 90"/>
                <a:gd name="T15" fmla="*/ 83 h 90"/>
                <a:gd name="T16" fmla="*/ 9 w 90"/>
                <a:gd name="T17" fmla="*/ 57 h 90"/>
                <a:gd name="T18" fmla="*/ 33 w 90"/>
                <a:gd name="T19" fmla="*/ 83 h 90"/>
                <a:gd name="T20" fmla="*/ 16 w 90"/>
                <a:gd name="T21" fmla="*/ 26 h 90"/>
                <a:gd name="T22" fmla="*/ 26 w 90"/>
                <a:gd name="T23" fmla="*/ 17 h 90"/>
                <a:gd name="T24" fmla="*/ 26 w 90"/>
                <a:gd name="T25" fmla="*/ 74 h 90"/>
                <a:gd name="T26" fmla="*/ 16 w 90"/>
                <a:gd name="T27" fmla="*/ 67 h 90"/>
                <a:gd name="T28" fmla="*/ 26 w 90"/>
                <a:gd name="T29" fmla="*/ 74 h 90"/>
                <a:gd name="T30" fmla="*/ 49 w 90"/>
                <a:gd name="T31" fmla="*/ 40 h 90"/>
                <a:gd name="T32" fmla="*/ 90 w 90"/>
                <a:gd name="T33" fmla="*/ 0 h 90"/>
                <a:gd name="T34" fmla="*/ 90 w 90"/>
                <a:gd name="T35" fmla="*/ 74 h 90"/>
                <a:gd name="T36" fmla="*/ 66 w 90"/>
                <a:gd name="T37" fmla="*/ 67 h 90"/>
                <a:gd name="T38" fmla="*/ 57 w 90"/>
                <a:gd name="T39" fmla="*/ 90 h 90"/>
                <a:gd name="T40" fmla="*/ 49 w 90"/>
                <a:gd name="T41" fmla="*/ 50 h 90"/>
                <a:gd name="T42" fmla="*/ 73 w 90"/>
                <a:gd name="T43" fmla="*/ 57 h 90"/>
                <a:gd name="T44" fmla="*/ 83 w 90"/>
                <a:gd name="T45" fmla="*/ 50 h 90"/>
                <a:gd name="T46" fmla="*/ 90 w 90"/>
                <a:gd name="T47" fmla="*/ 74 h 90"/>
                <a:gd name="T48" fmla="*/ 83 w 90"/>
                <a:gd name="T49" fmla="*/ 10 h 90"/>
                <a:gd name="T50" fmla="*/ 57 w 90"/>
                <a:gd name="T51" fmla="*/ 33 h 90"/>
                <a:gd name="T52" fmla="*/ 73 w 90"/>
                <a:gd name="T53" fmla="*/ 26 h 90"/>
                <a:gd name="T54" fmla="*/ 66 w 90"/>
                <a:gd name="T55" fmla="*/ 17 h 90"/>
                <a:gd name="T56" fmla="*/ 73 w 90"/>
                <a:gd name="T57" fmla="*/ 26 h 90"/>
                <a:gd name="T58" fmla="*/ 66 w 90"/>
                <a:gd name="T59" fmla="*/ 90 h 90"/>
                <a:gd name="T60" fmla="*/ 73 w 90"/>
                <a:gd name="T61" fmla="*/ 83 h 90"/>
                <a:gd name="T62" fmla="*/ 90 w 90"/>
                <a:gd name="T63" fmla="*/ 90 h 90"/>
                <a:gd name="T64" fmla="*/ 83 w 90"/>
                <a:gd name="T65" fmla="*/ 83 h 90"/>
                <a:gd name="T66" fmla="*/ 90 w 90"/>
                <a:gd name="T6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0" h="90">
                  <a:moveTo>
                    <a:pt x="40" y="40"/>
                  </a:moveTo>
                  <a:lnTo>
                    <a:pt x="0" y="40"/>
                  </a:lnTo>
                  <a:lnTo>
                    <a:pt x="0" y="0"/>
                  </a:lnTo>
                  <a:lnTo>
                    <a:pt x="40" y="0"/>
                  </a:lnTo>
                  <a:lnTo>
                    <a:pt x="40" y="40"/>
                  </a:lnTo>
                  <a:close/>
                  <a:moveTo>
                    <a:pt x="40" y="90"/>
                  </a:moveTo>
                  <a:lnTo>
                    <a:pt x="0" y="90"/>
                  </a:lnTo>
                  <a:lnTo>
                    <a:pt x="0" y="50"/>
                  </a:lnTo>
                  <a:lnTo>
                    <a:pt x="40" y="50"/>
                  </a:lnTo>
                  <a:lnTo>
                    <a:pt x="40" y="90"/>
                  </a:lnTo>
                  <a:close/>
                  <a:moveTo>
                    <a:pt x="33" y="33"/>
                  </a:moveTo>
                  <a:lnTo>
                    <a:pt x="33" y="10"/>
                  </a:lnTo>
                  <a:lnTo>
                    <a:pt x="9" y="10"/>
                  </a:lnTo>
                  <a:lnTo>
                    <a:pt x="9" y="33"/>
                  </a:lnTo>
                  <a:lnTo>
                    <a:pt x="33" y="33"/>
                  </a:lnTo>
                  <a:close/>
                  <a:moveTo>
                    <a:pt x="33" y="83"/>
                  </a:moveTo>
                  <a:lnTo>
                    <a:pt x="33" y="57"/>
                  </a:lnTo>
                  <a:lnTo>
                    <a:pt x="9" y="57"/>
                  </a:lnTo>
                  <a:lnTo>
                    <a:pt x="9" y="83"/>
                  </a:lnTo>
                  <a:lnTo>
                    <a:pt x="33" y="83"/>
                  </a:lnTo>
                  <a:close/>
                  <a:moveTo>
                    <a:pt x="26" y="26"/>
                  </a:moveTo>
                  <a:lnTo>
                    <a:pt x="16" y="26"/>
                  </a:lnTo>
                  <a:lnTo>
                    <a:pt x="16" y="17"/>
                  </a:lnTo>
                  <a:lnTo>
                    <a:pt x="26" y="17"/>
                  </a:lnTo>
                  <a:lnTo>
                    <a:pt x="26" y="26"/>
                  </a:lnTo>
                  <a:close/>
                  <a:moveTo>
                    <a:pt x="26" y="74"/>
                  </a:moveTo>
                  <a:lnTo>
                    <a:pt x="16" y="74"/>
                  </a:lnTo>
                  <a:lnTo>
                    <a:pt x="16" y="67"/>
                  </a:lnTo>
                  <a:lnTo>
                    <a:pt x="26" y="67"/>
                  </a:lnTo>
                  <a:lnTo>
                    <a:pt x="26" y="74"/>
                  </a:lnTo>
                  <a:close/>
                  <a:moveTo>
                    <a:pt x="90" y="40"/>
                  </a:moveTo>
                  <a:lnTo>
                    <a:pt x="49" y="40"/>
                  </a:lnTo>
                  <a:lnTo>
                    <a:pt x="49" y="0"/>
                  </a:lnTo>
                  <a:lnTo>
                    <a:pt x="90" y="0"/>
                  </a:lnTo>
                  <a:lnTo>
                    <a:pt x="90" y="40"/>
                  </a:lnTo>
                  <a:close/>
                  <a:moveTo>
                    <a:pt x="90" y="74"/>
                  </a:moveTo>
                  <a:lnTo>
                    <a:pt x="66" y="74"/>
                  </a:lnTo>
                  <a:lnTo>
                    <a:pt x="66" y="67"/>
                  </a:lnTo>
                  <a:lnTo>
                    <a:pt x="57" y="67"/>
                  </a:lnTo>
                  <a:lnTo>
                    <a:pt x="57" y="90"/>
                  </a:lnTo>
                  <a:lnTo>
                    <a:pt x="49" y="90"/>
                  </a:lnTo>
                  <a:lnTo>
                    <a:pt x="49" y="50"/>
                  </a:lnTo>
                  <a:lnTo>
                    <a:pt x="73" y="50"/>
                  </a:lnTo>
                  <a:lnTo>
                    <a:pt x="73" y="57"/>
                  </a:lnTo>
                  <a:lnTo>
                    <a:pt x="83" y="57"/>
                  </a:lnTo>
                  <a:lnTo>
                    <a:pt x="83" y="50"/>
                  </a:lnTo>
                  <a:lnTo>
                    <a:pt x="90" y="50"/>
                  </a:lnTo>
                  <a:lnTo>
                    <a:pt x="90" y="74"/>
                  </a:lnTo>
                  <a:close/>
                  <a:moveTo>
                    <a:pt x="83" y="33"/>
                  </a:moveTo>
                  <a:lnTo>
                    <a:pt x="83" y="10"/>
                  </a:lnTo>
                  <a:lnTo>
                    <a:pt x="57" y="10"/>
                  </a:lnTo>
                  <a:lnTo>
                    <a:pt x="57" y="33"/>
                  </a:lnTo>
                  <a:lnTo>
                    <a:pt x="83" y="33"/>
                  </a:lnTo>
                  <a:close/>
                  <a:moveTo>
                    <a:pt x="73" y="26"/>
                  </a:moveTo>
                  <a:lnTo>
                    <a:pt x="66" y="26"/>
                  </a:lnTo>
                  <a:lnTo>
                    <a:pt x="66" y="17"/>
                  </a:lnTo>
                  <a:lnTo>
                    <a:pt x="73" y="17"/>
                  </a:lnTo>
                  <a:lnTo>
                    <a:pt x="73" y="26"/>
                  </a:lnTo>
                  <a:close/>
                  <a:moveTo>
                    <a:pt x="73" y="90"/>
                  </a:moveTo>
                  <a:lnTo>
                    <a:pt x="66" y="90"/>
                  </a:lnTo>
                  <a:lnTo>
                    <a:pt x="66" y="83"/>
                  </a:lnTo>
                  <a:lnTo>
                    <a:pt x="73" y="83"/>
                  </a:lnTo>
                  <a:lnTo>
                    <a:pt x="73" y="90"/>
                  </a:lnTo>
                  <a:close/>
                  <a:moveTo>
                    <a:pt x="90" y="90"/>
                  </a:moveTo>
                  <a:lnTo>
                    <a:pt x="83" y="90"/>
                  </a:lnTo>
                  <a:lnTo>
                    <a:pt x="83" y="83"/>
                  </a:lnTo>
                  <a:lnTo>
                    <a:pt x="90" y="83"/>
                  </a:lnTo>
                  <a:lnTo>
                    <a:pt x="90" y="9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lstStyle/>
            <a:p>
              <a:endParaRPr lang="id-ID" sz="1350"/>
            </a:p>
          </p:txBody>
        </p:sp>
      </p:grpSp>
      <p:sp>
        <p:nvSpPr>
          <p:cNvPr id="31" name="矩形 30"/>
          <p:cNvSpPr/>
          <p:nvPr/>
        </p:nvSpPr>
        <p:spPr>
          <a:xfrm>
            <a:off x="5331460" y="1165860"/>
            <a:ext cx="1910715" cy="337185"/>
          </a:xfrm>
          <a:prstGeom prst="rect">
            <a:avLst/>
          </a:prstGeom>
        </p:spPr>
        <p:txBody>
          <a:bodyPr wrap="none">
            <a:spAutoFit/>
          </a:bodyPr>
          <a:lstStyle/>
          <a:p>
            <a:pPr algn="l"/>
            <a:r>
              <a:rPr lang="zh-CN" altLang="en-US" sz="1600" b="1" dirty="0">
                <a:solidFill>
                  <a:srgbClr val="0070C0"/>
                </a:solidFill>
                <a:latin typeface="微软雅黑" panose="020B0503020204020204" pitchFamily="34" charset="-122"/>
                <a:ea typeface="微软雅黑" panose="020B0503020204020204" pitchFamily="34" charset="-122"/>
              </a:rPr>
              <a:t>css字体、</a:t>
            </a:r>
            <a:r>
              <a:rPr lang="zh-CN" altLang="en-US" sz="1600" b="1" dirty="0" smtClean="0">
                <a:solidFill>
                  <a:srgbClr val="0070C0"/>
                </a:solidFill>
                <a:latin typeface="微软雅黑" panose="020B0503020204020204" pitchFamily="34" charset="-122"/>
                <a:ea typeface="微软雅黑" panose="020B0503020204020204" pitchFamily="34" charset="-122"/>
                <a:sym typeface="+mn-ea"/>
              </a:rPr>
              <a:t>文本</a:t>
            </a:r>
            <a:r>
              <a:rPr lang="zh-CN" altLang="en-US" sz="1600" b="1" dirty="0">
                <a:solidFill>
                  <a:srgbClr val="0070C0"/>
                </a:solidFill>
                <a:latin typeface="微软雅黑" panose="020B0503020204020204" pitchFamily="34" charset="-122"/>
                <a:ea typeface="微软雅黑" panose="020B0503020204020204" pitchFamily="34" charset="-122"/>
              </a:rPr>
              <a:t>属性</a:t>
            </a: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
        <p:nvSpPr>
          <p:cNvPr id="37" name="矩形 36"/>
          <p:cNvSpPr/>
          <p:nvPr/>
        </p:nvSpPr>
        <p:spPr>
          <a:xfrm>
            <a:off x="5331460" y="2839720"/>
            <a:ext cx="1301115" cy="337185"/>
          </a:xfrm>
          <a:prstGeom prst="rect">
            <a:avLst/>
          </a:prstGeom>
        </p:spPr>
        <p:txBody>
          <a:bodyPr wrap="none">
            <a:spAutoFit/>
          </a:bodyPr>
          <a:lstStyle/>
          <a:p>
            <a:pPr algn="l"/>
            <a:r>
              <a:rPr sz="1600" b="1" dirty="0" smtClean="0">
                <a:solidFill>
                  <a:srgbClr val="0070C0"/>
                </a:solidFill>
                <a:latin typeface="微软雅黑" panose="020B0503020204020204" pitchFamily="34" charset="-122"/>
                <a:ea typeface="微软雅黑" panose="020B0503020204020204" pitchFamily="34" charset="-122"/>
              </a:rPr>
              <a:t>css</a:t>
            </a:r>
            <a:r>
              <a:rPr lang="zh-CN" sz="1600" b="1" dirty="0" smtClean="0">
                <a:solidFill>
                  <a:srgbClr val="0070C0"/>
                </a:solidFill>
                <a:latin typeface="微软雅黑" panose="020B0503020204020204" pitchFamily="34" charset="-122"/>
                <a:ea typeface="微软雅黑" panose="020B0503020204020204" pitchFamily="34" charset="-122"/>
              </a:rPr>
              <a:t>边框</a:t>
            </a:r>
            <a:r>
              <a:rPr sz="1600" b="1" dirty="0" smtClean="0">
                <a:solidFill>
                  <a:srgbClr val="0070C0"/>
                </a:solidFill>
                <a:latin typeface="微软雅黑" panose="020B0503020204020204" pitchFamily="34" charset="-122"/>
                <a:ea typeface="微软雅黑" panose="020B0503020204020204" pitchFamily="34" charset="-122"/>
              </a:rPr>
              <a:t>属性</a:t>
            </a:r>
            <a:endParaRPr sz="1600" b="1" dirty="0" smtClean="0">
              <a:solidFill>
                <a:srgbClr val="0070C0"/>
              </a:solidFill>
              <a:latin typeface="微软雅黑" panose="020B0503020204020204" pitchFamily="34" charset="-122"/>
              <a:ea typeface="微软雅黑" panose="020B0503020204020204" pitchFamily="34" charset="-122"/>
            </a:endParaRPr>
          </a:p>
        </p:txBody>
      </p:sp>
      <p:sp>
        <p:nvSpPr>
          <p:cNvPr id="42" name="文本框 9"/>
          <p:cNvSpPr txBox="1"/>
          <p:nvPr/>
        </p:nvSpPr>
        <p:spPr>
          <a:xfrm>
            <a:off x="3754501" y="174480"/>
            <a:ext cx="1576869" cy="327660"/>
          </a:xfrm>
          <a:prstGeom prst="rect">
            <a:avLst/>
          </a:prstGeom>
          <a:noFill/>
        </p:spPr>
        <p:txBody>
          <a:bodyPr wrap="square" lIns="51421" tIns="25710" rIns="51421" bIns="25710" rtlCol="0">
            <a:spAutoFit/>
          </a:bodyPr>
          <a:p>
            <a:pPr marL="0" lvl="1" algn="ctr"/>
            <a:r>
              <a:rPr lang="zh-CN" altLang="zh-CN" b="1" dirty="0" smtClean="0">
                <a:solidFill>
                  <a:srgbClr val="0070C0"/>
                </a:solidFill>
                <a:latin typeface="Impact MT Std" pitchFamily="34" charset="0"/>
                <a:ea typeface="微软雅黑" panose="020B0503020204020204" pitchFamily="34" charset="-122"/>
              </a:rPr>
              <a:t>知识点</a:t>
            </a:r>
            <a:endParaRPr lang="zh-CN" altLang="zh-CN" b="1" dirty="0" smtClean="0">
              <a:solidFill>
                <a:srgbClr val="0070C0"/>
              </a:solidFill>
              <a:latin typeface="Impact MT Std" pitchFamily="34" charset="0"/>
              <a:ea typeface="微软雅黑" panose="020B0503020204020204" pitchFamily="34" charset="-122"/>
            </a:endParaRPr>
          </a:p>
        </p:txBody>
      </p:sp>
      <p:grpSp>
        <p:nvGrpSpPr>
          <p:cNvPr id="11" name="组合 10"/>
          <p:cNvGrpSpPr/>
          <p:nvPr/>
        </p:nvGrpSpPr>
        <p:grpSpPr>
          <a:xfrm>
            <a:off x="4579067" y="3562250"/>
            <a:ext cx="620233" cy="618851"/>
            <a:chOff x="5962996" y="3789040"/>
            <a:chExt cx="827193" cy="825350"/>
          </a:xfrm>
        </p:grpSpPr>
        <p:sp>
          <p:nvSpPr>
            <p:cNvPr id="27" name="橢圓 5"/>
            <p:cNvSpPr/>
            <p:nvPr/>
          </p:nvSpPr>
          <p:spPr>
            <a:xfrm>
              <a:off x="5962996" y="3789040"/>
              <a:ext cx="827193" cy="825350"/>
            </a:xfrm>
            <a:prstGeom prst="ellipse">
              <a:avLst/>
            </a:prstGeom>
            <a:gradFill>
              <a:gsLst>
                <a:gs pos="0">
                  <a:srgbClr val="0070C0"/>
                </a:gs>
                <a:gs pos="100000">
                  <a:srgbClr val="00B0F0"/>
                </a:gs>
              </a:gsLst>
              <a:lin ang="5400000" scaled="1"/>
            </a:gra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TW" altLang="en-US" sz="2100">
                <a:solidFill>
                  <a:schemeClr val="bg1"/>
                </a:solidFill>
                <a:effectLst>
                  <a:outerShdw blurRad="38100" dist="38100" dir="2700000" algn="tl">
                    <a:srgbClr val="000000">
                      <a:alpha val="43137"/>
                    </a:srgbClr>
                  </a:outerShdw>
                </a:effectLst>
                <a:latin typeface="DIN-BoldItalic" pitchFamily="50" charset="0"/>
              </a:endParaRPr>
            </a:p>
          </p:txBody>
        </p:sp>
        <p:sp>
          <p:nvSpPr>
            <p:cNvPr id="28" name="Freeform 336"/>
            <p:cNvSpPr>
              <a:spLocks noEditPoints="1"/>
            </p:cNvSpPr>
            <p:nvPr/>
          </p:nvSpPr>
          <p:spPr bwMode="auto">
            <a:xfrm>
              <a:off x="6224530" y="4048744"/>
              <a:ext cx="314081" cy="314081"/>
            </a:xfrm>
            <a:custGeom>
              <a:avLst/>
              <a:gdLst>
                <a:gd name="T0" fmla="*/ 0 w 90"/>
                <a:gd name="T1" fmla="*/ 40 h 90"/>
                <a:gd name="T2" fmla="*/ 40 w 90"/>
                <a:gd name="T3" fmla="*/ 0 h 90"/>
                <a:gd name="T4" fmla="*/ 40 w 90"/>
                <a:gd name="T5" fmla="*/ 90 h 90"/>
                <a:gd name="T6" fmla="*/ 0 w 90"/>
                <a:gd name="T7" fmla="*/ 50 h 90"/>
                <a:gd name="T8" fmla="*/ 40 w 90"/>
                <a:gd name="T9" fmla="*/ 90 h 90"/>
                <a:gd name="T10" fmla="*/ 33 w 90"/>
                <a:gd name="T11" fmla="*/ 10 h 90"/>
                <a:gd name="T12" fmla="*/ 9 w 90"/>
                <a:gd name="T13" fmla="*/ 33 h 90"/>
                <a:gd name="T14" fmla="*/ 33 w 90"/>
                <a:gd name="T15" fmla="*/ 83 h 90"/>
                <a:gd name="T16" fmla="*/ 9 w 90"/>
                <a:gd name="T17" fmla="*/ 57 h 90"/>
                <a:gd name="T18" fmla="*/ 33 w 90"/>
                <a:gd name="T19" fmla="*/ 83 h 90"/>
                <a:gd name="T20" fmla="*/ 16 w 90"/>
                <a:gd name="T21" fmla="*/ 26 h 90"/>
                <a:gd name="T22" fmla="*/ 26 w 90"/>
                <a:gd name="T23" fmla="*/ 17 h 90"/>
                <a:gd name="T24" fmla="*/ 26 w 90"/>
                <a:gd name="T25" fmla="*/ 74 h 90"/>
                <a:gd name="T26" fmla="*/ 16 w 90"/>
                <a:gd name="T27" fmla="*/ 67 h 90"/>
                <a:gd name="T28" fmla="*/ 26 w 90"/>
                <a:gd name="T29" fmla="*/ 74 h 90"/>
                <a:gd name="T30" fmla="*/ 49 w 90"/>
                <a:gd name="T31" fmla="*/ 40 h 90"/>
                <a:gd name="T32" fmla="*/ 90 w 90"/>
                <a:gd name="T33" fmla="*/ 0 h 90"/>
                <a:gd name="T34" fmla="*/ 90 w 90"/>
                <a:gd name="T35" fmla="*/ 74 h 90"/>
                <a:gd name="T36" fmla="*/ 66 w 90"/>
                <a:gd name="T37" fmla="*/ 67 h 90"/>
                <a:gd name="T38" fmla="*/ 57 w 90"/>
                <a:gd name="T39" fmla="*/ 90 h 90"/>
                <a:gd name="T40" fmla="*/ 49 w 90"/>
                <a:gd name="T41" fmla="*/ 50 h 90"/>
                <a:gd name="T42" fmla="*/ 73 w 90"/>
                <a:gd name="T43" fmla="*/ 57 h 90"/>
                <a:gd name="T44" fmla="*/ 83 w 90"/>
                <a:gd name="T45" fmla="*/ 50 h 90"/>
                <a:gd name="T46" fmla="*/ 90 w 90"/>
                <a:gd name="T47" fmla="*/ 74 h 90"/>
                <a:gd name="T48" fmla="*/ 83 w 90"/>
                <a:gd name="T49" fmla="*/ 10 h 90"/>
                <a:gd name="T50" fmla="*/ 57 w 90"/>
                <a:gd name="T51" fmla="*/ 33 h 90"/>
                <a:gd name="T52" fmla="*/ 73 w 90"/>
                <a:gd name="T53" fmla="*/ 26 h 90"/>
                <a:gd name="T54" fmla="*/ 66 w 90"/>
                <a:gd name="T55" fmla="*/ 17 h 90"/>
                <a:gd name="T56" fmla="*/ 73 w 90"/>
                <a:gd name="T57" fmla="*/ 26 h 90"/>
                <a:gd name="T58" fmla="*/ 66 w 90"/>
                <a:gd name="T59" fmla="*/ 90 h 90"/>
                <a:gd name="T60" fmla="*/ 73 w 90"/>
                <a:gd name="T61" fmla="*/ 83 h 90"/>
                <a:gd name="T62" fmla="*/ 90 w 90"/>
                <a:gd name="T63" fmla="*/ 90 h 90"/>
                <a:gd name="T64" fmla="*/ 83 w 90"/>
                <a:gd name="T65" fmla="*/ 83 h 90"/>
                <a:gd name="T66" fmla="*/ 90 w 90"/>
                <a:gd name="T6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0" h="90">
                  <a:moveTo>
                    <a:pt x="40" y="40"/>
                  </a:moveTo>
                  <a:lnTo>
                    <a:pt x="0" y="40"/>
                  </a:lnTo>
                  <a:lnTo>
                    <a:pt x="0" y="0"/>
                  </a:lnTo>
                  <a:lnTo>
                    <a:pt x="40" y="0"/>
                  </a:lnTo>
                  <a:lnTo>
                    <a:pt x="40" y="40"/>
                  </a:lnTo>
                  <a:close/>
                  <a:moveTo>
                    <a:pt x="40" y="90"/>
                  </a:moveTo>
                  <a:lnTo>
                    <a:pt x="0" y="90"/>
                  </a:lnTo>
                  <a:lnTo>
                    <a:pt x="0" y="50"/>
                  </a:lnTo>
                  <a:lnTo>
                    <a:pt x="40" y="50"/>
                  </a:lnTo>
                  <a:lnTo>
                    <a:pt x="40" y="90"/>
                  </a:lnTo>
                  <a:close/>
                  <a:moveTo>
                    <a:pt x="33" y="33"/>
                  </a:moveTo>
                  <a:lnTo>
                    <a:pt x="33" y="10"/>
                  </a:lnTo>
                  <a:lnTo>
                    <a:pt x="9" y="10"/>
                  </a:lnTo>
                  <a:lnTo>
                    <a:pt x="9" y="33"/>
                  </a:lnTo>
                  <a:lnTo>
                    <a:pt x="33" y="33"/>
                  </a:lnTo>
                  <a:close/>
                  <a:moveTo>
                    <a:pt x="33" y="83"/>
                  </a:moveTo>
                  <a:lnTo>
                    <a:pt x="33" y="57"/>
                  </a:lnTo>
                  <a:lnTo>
                    <a:pt x="9" y="57"/>
                  </a:lnTo>
                  <a:lnTo>
                    <a:pt x="9" y="83"/>
                  </a:lnTo>
                  <a:lnTo>
                    <a:pt x="33" y="83"/>
                  </a:lnTo>
                  <a:close/>
                  <a:moveTo>
                    <a:pt x="26" y="26"/>
                  </a:moveTo>
                  <a:lnTo>
                    <a:pt x="16" y="26"/>
                  </a:lnTo>
                  <a:lnTo>
                    <a:pt x="16" y="17"/>
                  </a:lnTo>
                  <a:lnTo>
                    <a:pt x="26" y="17"/>
                  </a:lnTo>
                  <a:lnTo>
                    <a:pt x="26" y="26"/>
                  </a:lnTo>
                  <a:close/>
                  <a:moveTo>
                    <a:pt x="26" y="74"/>
                  </a:moveTo>
                  <a:lnTo>
                    <a:pt x="16" y="74"/>
                  </a:lnTo>
                  <a:lnTo>
                    <a:pt x="16" y="67"/>
                  </a:lnTo>
                  <a:lnTo>
                    <a:pt x="26" y="67"/>
                  </a:lnTo>
                  <a:lnTo>
                    <a:pt x="26" y="74"/>
                  </a:lnTo>
                  <a:close/>
                  <a:moveTo>
                    <a:pt x="90" y="40"/>
                  </a:moveTo>
                  <a:lnTo>
                    <a:pt x="49" y="40"/>
                  </a:lnTo>
                  <a:lnTo>
                    <a:pt x="49" y="0"/>
                  </a:lnTo>
                  <a:lnTo>
                    <a:pt x="90" y="0"/>
                  </a:lnTo>
                  <a:lnTo>
                    <a:pt x="90" y="40"/>
                  </a:lnTo>
                  <a:close/>
                  <a:moveTo>
                    <a:pt x="90" y="74"/>
                  </a:moveTo>
                  <a:lnTo>
                    <a:pt x="66" y="74"/>
                  </a:lnTo>
                  <a:lnTo>
                    <a:pt x="66" y="67"/>
                  </a:lnTo>
                  <a:lnTo>
                    <a:pt x="57" y="67"/>
                  </a:lnTo>
                  <a:lnTo>
                    <a:pt x="57" y="90"/>
                  </a:lnTo>
                  <a:lnTo>
                    <a:pt x="49" y="90"/>
                  </a:lnTo>
                  <a:lnTo>
                    <a:pt x="49" y="50"/>
                  </a:lnTo>
                  <a:lnTo>
                    <a:pt x="73" y="50"/>
                  </a:lnTo>
                  <a:lnTo>
                    <a:pt x="73" y="57"/>
                  </a:lnTo>
                  <a:lnTo>
                    <a:pt x="83" y="57"/>
                  </a:lnTo>
                  <a:lnTo>
                    <a:pt x="83" y="50"/>
                  </a:lnTo>
                  <a:lnTo>
                    <a:pt x="90" y="50"/>
                  </a:lnTo>
                  <a:lnTo>
                    <a:pt x="90" y="74"/>
                  </a:lnTo>
                  <a:close/>
                  <a:moveTo>
                    <a:pt x="83" y="33"/>
                  </a:moveTo>
                  <a:lnTo>
                    <a:pt x="83" y="10"/>
                  </a:lnTo>
                  <a:lnTo>
                    <a:pt x="57" y="10"/>
                  </a:lnTo>
                  <a:lnTo>
                    <a:pt x="57" y="33"/>
                  </a:lnTo>
                  <a:lnTo>
                    <a:pt x="83" y="33"/>
                  </a:lnTo>
                  <a:close/>
                  <a:moveTo>
                    <a:pt x="73" y="26"/>
                  </a:moveTo>
                  <a:lnTo>
                    <a:pt x="66" y="26"/>
                  </a:lnTo>
                  <a:lnTo>
                    <a:pt x="66" y="17"/>
                  </a:lnTo>
                  <a:lnTo>
                    <a:pt x="73" y="17"/>
                  </a:lnTo>
                  <a:lnTo>
                    <a:pt x="73" y="26"/>
                  </a:lnTo>
                  <a:close/>
                  <a:moveTo>
                    <a:pt x="73" y="90"/>
                  </a:moveTo>
                  <a:lnTo>
                    <a:pt x="66" y="90"/>
                  </a:lnTo>
                  <a:lnTo>
                    <a:pt x="66" y="83"/>
                  </a:lnTo>
                  <a:lnTo>
                    <a:pt x="73" y="83"/>
                  </a:lnTo>
                  <a:lnTo>
                    <a:pt x="73" y="90"/>
                  </a:lnTo>
                  <a:close/>
                  <a:moveTo>
                    <a:pt x="90" y="90"/>
                  </a:moveTo>
                  <a:lnTo>
                    <a:pt x="83" y="90"/>
                  </a:lnTo>
                  <a:lnTo>
                    <a:pt x="83" y="83"/>
                  </a:lnTo>
                  <a:lnTo>
                    <a:pt x="90" y="83"/>
                  </a:lnTo>
                  <a:lnTo>
                    <a:pt x="90" y="9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p>
              <a:endParaRPr lang="id-ID" sz="1350"/>
            </a:p>
          </p:txBody>
        </p:sp>
      </p:grpSp>
      <p:sp>
        <p:nvSpPr>
          <p:cNvPr id="29" name="矩形 28"/>
          <p:cNvSpPr/>
          <p:nvPr/>
        </p:nvSpPr>
        <p:spPr>
          <a:xfrm>
            <a:off x="5379085" y="1974215"/>
            <a:ext cx="1301115" cy="337185"/>
          </a:xfrm>
          <a:prstGeom prst="rect">
            <a:avLst/>
          </a:prstGeom>
        </p:spPr>
        <p:txBody>
          <a:bodyPr wrap="none">
            <a:spAutoFit/>
          </a:bodyPr>
          <a:p>
            <a:pPr algn="l"/>
            <a:r>
              <a:rPr sz="1600" b="1" dirty="0" smtClean="0">
                <a:solidFill>
                  <a:srgbClr val="0070C0"/>
                </a:solidFill>
                <a:latin typeface="微软雅黑" panose="020B0503020204020204" pitchFamily="34" charset="-122"/>
                <a:ea typeface="微软雅黑" panose="020B0503020204020204" pitchFamily="34" charset="-122"/>
              </a:rPr>
              <a:t>css列表属性</a:t>
            </a:r>
            <a:endParaRPr sz="1600" b="1" dirty="0" smtClean="0">
              <a:solidFill>
                <a:srgbClr val="0070C0"/>
              </a:solidFill>
              <a:latin typeface="微软雅黑" panose="020B0503020204020204" pitchFamily="34" charset="-122"/>
              <a:ea typeface="微软雅黑" panose="020B0503020204020204" pitchFamily="34" charset="-122"/>
            </a:endParaRPr>
          </a:p>
        </p:txBody>
      </p:sp>
      <p:grpSp>
        <p:nvGrpSpPr>
          <p:cNvPr id="30" name="组合 29"/>
          <p:cNvGrpSpPr/>
          <p:nvPr/>
        </p:nvGrpSpPr>
        <p:grpSpPr>
          <a:xfrm>
            <a:off x="4579067" y="4401085"/>
            <a:ext cx="620233" cy="618851"/>
            <a:chOff x="5962996" y="3789040"/>
            <a:chExt cx="827193" cy="825350"/>
          </a:xfrm>
        </p:grpSpPr>
        <p:sp>
          <p:nvSpPr>
            <p:cNvPr id="32" name="橢圓 5"/>
            <p:cNvSpPr/>
            <p:nvPr/>
          </p:nvSpPr>
          <p:spPr>
            <a:xfrm>
              <a:off x="5962996" y="3789040"/>
              <a:ext cx="827193" cy="825350"/>
            </a:xfrm>
            <a:prstGeom prst="ellipse">
              <a:avLst/>
            </a:prstGeom>
            <a:gradFill>
              <a:gsLst>
                <a:gs pos="0">
                  <a:srgbClr val="0070C0"/>
                </a:gs>
                <a:gs pos="100000">
                  <a:srgbClr val="00B0F0"/>
                </a:gs>
              </a:gsLst>
              <a:lin ang="5400000" scaled="1"/>
            </a:gra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TW" altLang="en-US" sz="2100">
                <a:solidFill>
                  <a:schemeClr val="bg1"/>
                </a:solidFill>
                <a:effectLst>
                  <a:outerShdw blurRad="38100" dist="38100" dir="2700000" algn="tl">
                    <a:srgbClr val="000000">
                      <a:alpha val="43137"/>
                    </a:srgbClr>
                  </a:outerShdw>
                </a:effectLst>
                <a:latin typeface="DIN-BoldItalic" pitchFamily="50" charset="0"/>
              </a:endParaRPr>
            </a:p>
          </p:txBody>
        </p:sp>
        <p:sp>
          <p:nvSpPr>
            <p:cNvPr id="33" name="Freeform 336"/>
            <p:cNvSpPr>
              <a:spLocks noEditPoints="1"/>
            </p:cNvSpPr>
            <p:nvPr/>
          </p:nvSpPr>
          <p:spPr bwMode="auto">
            <a:xfrm>
              <a:off x="6224530" y="4048744"/>
              <a:ext cx="314081" cy="314081"/>
            </a:xfrm>
            <a:custGeom>
              <a:avLst/>
              <a:gdLst>
                <a:gd name="T0" fmla="*/ 0 w 90"/>
                <a:gd name="T1" fmla="*/ 40 h 90"/>
                <a:gd name="T2" fmla="*/ 40 w 90"/>
                <a:gd name="T3" fmla="*/ 0 h 90"/>
                <a:gd name="T4" fmla="*/ 40 w 90"/>
                <a:gd name="T5" fmla="*/ 90 h 90"/>
                <a:gd name="T6" fmla="*/ 0 w 90"/>
                <a:gd name="T7" fmla="*/ 50 h 90"/>
                <a:gd name="T8" fmla="*/ 40 w 90"/>
                <a:gd name="T9" fmla="*/ 90 h 90"/>
                <a:gd name="T10" fmla="*/ 33 w 90"/>
                <a:gd name="T11" fmla="*/ 10 h 90"/>
                <a:gd name="T12" fmla="*/ 9 w 90"/>
                <a:gd name="T13" fmla="*/ 33 h 90"/>
                <a:gd name="T14" fmla="*/ 33 w 90"/>
                <a:gd name="T15" fmla="*/ 83 h 90"/>
                <a:gd name="T16" fmla="*/ 9 w 90"/>
                <a:gd name="T17" fmla="*/ 57 h 90"/>
                <a:gd name="T18" fmla="*/ 33 w 90"/>
                <a:gd name="T19" fmla="*/ 83 h 90"/>
                <a:gd name="T20" fmla="*/ 16 w 90"/>
                <a:gd name="T21" fmla="*/ 26 h 90"/>
                <a:gd name="T22" fmla="*/ 26 w 90"/>
                <a:gd name="T23" fmla="*/ 17 h 90"/>
                <a:gd name="T24" fmla="*/ 26 w 90"/>
                <a:gd name="T25" fmla="*/ 74 h 90"/>
                <a:gd name="T26" fmla="*/ 16 w 90"/>
                <a:gd name="T27" fmla="*/ 67 h 90"/>
                <a:gd name="T28" fmla="*/ 26 w 90"/>
                <a:gd name="T29" fmla="*/ 74 h 90"/>
                <a:gd name="T30" fmla="*/ 49 w 90"/>
                <a:gd name="T31" fmla="*/ 40 h 90"/>
                <a:gd name="T32" fmla="*/ 90 w 90"/>
                <a:gd name="T33" fmla="*/ 0 h 90"/>
                <a:gd name="T34" fmla="*/ 90 w 90"/>
                <a:gd name="T35" fmla="*/ 74 h 90"/>
                <a:gd name="T36" fmla="*/ 66 w 90"/>
                <a:gd name="T37" fmla="*/ 67 h 90"/>
                <a:gd name="T38" fmla="*/ 57 w 90"/>
                <a:gd name="T39" fmla="*/ 90 h 90"/>
                <a:gd name="T40" fmla="*/ 49 w 90"/>
                <a:gd name="T41" fmla="*/ 50 h 90"/>
                <a:gd name="T42" fmla="*/ 73 w 90"/>
                <a:gd name="T43" fmla="*/ 57 h 90"/>
                <a:gd name="T44" fmla="*/ 83 w 90"/>
                <a:gd name="T45" fmla="*/ 50 h 90"/>
                <a:gd name="T46" fmla="*/ 90 w 90"/>
                <a:gd name="T47" fmla="*/ 74 h 90"/>
                <a:gd name="T48" fmla="*/ 83 w 90"/>
                <a:gd name="T49" fmla="*/ 10 h 90"/>
                <a:gd name="T50" fmla="*/ 57 w 90"/>
                <a:gd name="T51" fmla="*/ 33 h 90"/>
                <a:gd name="T52" fmla="*/ 73 w 90"/>
                <a:gd name="T53" fmla="*/ 26 h 90"/>
                <a:gd name="T54" fmla="*/ 66 w 90"/>
                <a:gd name="T55" fmla="*/ 17 h 90"/>
                <a:gd name="T56" fmla="*/ 73 w 90"/>
                <a:gd name="T57" fmla="*/ 26 h 90"/>
                <a:gd name="T58" fmla="*/ 66 w 90"/>
                <a:gd name="T59" fmla="*/ 90 h 90"/>
                <a:gd name="T60" fmla="*/ 73 w 90"/>
                <a:gd name="T61" fmla="*/ 83 h 90"/>
                <a:gd name="T62" fmla="*/ 90 w 90"/>
                <a:gd name="T63" fmla="*/ 90 h 90"/>
                <a:gd name="T64" fmla="*/ 83 w 90"/>
                <a:gd name="T65" fmla="*/ 83 h 90"/>
                <a:gd name="T66" fmla="*/ 90 w 90"/>
                <a:gd name="T6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0" h="90">
                  <a:moveTo>
                    <a:pt x="40" y="40"/>
                  </a:moveTo>
                  <a:lnTo>
                    <a:pt x="0" y="40"/>
                  </a:lnTo>
                  <a:lnTo>
                    <a:pt x="0" y="0"/>
                  </a:lnTo>
                  <a:lnTo>
                    <a:pt x="40" y="0"/>
                  </a:lnTo>
                  <a:lnTo>
                    <a:pt x="40" y="40"/>
                  </a:lnTo>
                  <a:close/>
                  <a:moveTo>
                    <a:pt x="40" y="90"/>
                  </a:moveTo>
                  <a:lnTo>
                    <a:pt x="0" y="90"/>
                  </a:lnTo>
                  <a:lnTo>
                    <a:pt x="0" y="50"/>
                  </a:lnTo>
                  <a:lnTo>
                    <a:pt x="40" y="50"/>
                  </a:lnTo>
                  <a:lnTo>
                    <a:pt x="40" y="90"/>
                  </a:lnTo>
                  <a:close/>
                  <a:moveTo>
                    <a:pt x="33" y="33"/>
                  </a:moveTo>
                  <a:lnTo>
                    <a:pt x="33" y="10"/>
                  </a:lnTo>
                  <a:lnTo>
                    <a:pt x="9" y="10"/>
                  </a:lnTo>
                  <a:lnTo>
                    <a:pt x="9" y="33"/>
                  </a:lnTo>
                  <a:lnTo>
                    <a:pt x="33" y="33"/>
                  </a:lnTo>
                  <a:close/>
                  <a:moveTo>
                    <a:pt x="33" y="83"/>
                  </a:moveTo>
                  <a:lnTo>
                    <a:pt x="33" y="57"/>
                  </a:lnTo>
                  <a:lnTo>
                    <a:pt x="9" y="57"/>
                  </a:lnTo>
                  <a:lnTo>
                    <a:pt x="9" y="83"/>
                  </a:lnTo>
                  <a:lnTo>
                    <a:pt x="33" y="83"/>
                  </a:lnTo>
                  <a:close/>
                  <a:moveTo>
                    <a:pt x="26" y="26"/>
                  </a:moveTo>
                  <a:lnTo>
                    <a:pt x="16" y="26"/>
                  </a:lnTo>
                  <a:lnTo>
                    <a:pt x="16" y="17"/>
                  </a:lnTo>
                  <a:lnTo>
                    <a:pt x="26" y="17"/>
                  </a:lnTo>
                  <a:lnTo>
                    <a:pt x="26" y="26"/>
                  </a:lnTo>
                  <a:close/>
                  <a:moveTo>
                    <a:pt x="26" y="74"/>
                  </a:moveTo>
                  <a:lnTo>
                    <a:pt x="16" y="74"/>
                  </a:lnTo>
                  <a:lnTo>
                    <a:pt x="16" y="67"/>
                  </a:lnTo>
                  <a:lnTo>
                    <a:pt x="26" y="67"/>
                  </a:lnTo>
                  <a:lnTo>
                    <a:pt x="26" y="74"/>
                  </a:lnTo>
                  <a:close/>
                  <a:moveTo>
                    <a:pt x="90" y="40"/>
                  </a:moveTo>
                  <a:lnTo>
                    <a:pt x="49" y="40"/>
                  </a:lnTo>
                  <a:lnTo>
                    <a:pt x="49" y="0"/>
                  </a:lnTo>
                  <a:lnTo>
                    <a:pt x="90" y="0"/>
                  </a:lnTo>
                  <a:lnTo>
                    <a:pt x="90" y="40"/>
                  </a:lnTo>
                  <a:close/>
                  <a:moveTo>
                    <a:pt x="90" y="74"/>
                  </a:moveTo>
                  <a:lnTo>
                    <a:pt x="66" y="74"/>
                  </a:lnTo>
                  <a:lnTo>
                    <a:pt x="66" y="67"/>
                  </a:lnTo>
                  <a:lnTo>
                    <a:pt x="57" y="67"/>
                  </a:lnTo>
                  <a:lnTo>
                    <a:pt x="57" y="90"/>
                  </a:lnTo>
                  <a:lnTo>
                    <a:pt x="49" y="90"/>
                  </a:lnTo>
                  <a:lnTo>
                    <a:pt x="49" y="50"/>
                  </a:lnTo>
                  <a:lnTo>
                    <a:pt x="73" y="50"/>
                  </a:lnTo>
                  <a:lnTo>
                    <a:pt x="73" y="57"/>
                  </a:lnTo>
                  <a:lnTo>
                    <a:pt x="83" y="57"/>
                  </a:lnTo>
                  <a:lnTo>
                    <a:pt x="83" y="50"/>
                  </a:lnTo>
                  <a:lnTo>
                    <a:pt x="90" y="50"/>
                  </a:lnTo>
                  <a:lnTo>
                    <a:pt x="90" y="74"/>
                  </a:lnTo>
                  <a:close/>
                  <a:moveTo>
                    <a:pt x="83" y="33"/>
                  </a:moveTo>
                  <a:lnTo>
                    <a:pt x="83" y="10"/>
                  </a:lnTo>
                  <a:lnTo>
                    <a:pt x="57" y="10"/>
                  </a:lnTo>
                  <a:lnTo>
                    <a:pt x="57" y="33"/>
                  </a:lnTo>
                  <a:lnTo>
                    <a:pt x="83" y="33"/>
                  </a:lnTo>
                  <a:close/>
                  <a:moveTo>
                    <a:pt x="73" y="26"/>
                  </a:moveTo>
                  <a:lnTo>
                    <a:pt x="66" y="26"/>
                  </a:lnTo>
                  <a:lnTo>
                    <a:pt x="66" y="17"/>
                  </a:lnTo>
                  <a:lnTo>
                    <a:pt x="73" y="17"/>
                  </a:lnTo>
                  <a:lnTo>
                    <a:pt x="73" y="26"/>
                  </a:lnTo>
                  <a:close/>
                  <a:moveTo>
                    <a:pt x="73" y="90"/>
                  </a:moveTo>
                  <a:lnTo>
                    <a:pt x="66" y="90"/>
                  </a:lnTo>
                  <a:lnTo>
                    <a:pt x="66" y="83"/>
                  </a:lnTo>
                  <a:lnTo>
                    <a:pt x="73" y="83"/>
                  </a:lnTo>
                  <a:lnTo>
                    <a:pt x="73" y="90"/>
                  </a:lnTo>
                  <a:close/>
                  <a:moveTo>
                    <a:pt x="90" y="90"/>
                  </a:moveTo>
                  <a:lnTo>
                    <a:pt x="83" y="90"/>
                  </a:lnTo>
                  <a:lnTo>
                    <a:pt x="83" y="83"/>
                  </a:lnTo>
                  <a:lnTo>
                    <a:pt x="90" y="83"/>
                  </a:lnTo>
                  <a:lnTo>
                    <a:pt x="90" y="9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62" tIns="34281" rIns="68562" bIns="34281" numCol="1" anchor="t" anchorCtr="0" compatLnSpc="1"/>
            <a:p>
              <a:endParaRPr lang="id-ID" sz="1350"/>
            </a:p>
          </p:txBody>
        </p:sp>
      </p:grpSp>
      <p:sp>
        <p:nvSpPr>
          <p:cNvPr id="35" name="矩形 34"/>
          <p:cNvSpPr/>
          <p:nvPr/>
        </p:nvSpPr>
        <p:spPr>
          <a:xfrm>
            <a:off x="5331460" y="3703320"/>
            <a:ext cx="2113915" cy="337185"/>
          </a:xfrm>
          <a:prstGeom prst="rect">
            <a:avLst/>
          </a:prstGeom>
        </p:spPr>
        <p:txBody>
          <a:bodyPr wrap="none">
            <a:spAutoFit/>
          </a:bodyPr>
          <a:p>
            <a:pPr algn="l"/>
            <a:r>
              <a:rPr sz="1600" b="1" dirty="0" smtClean="0">
                <a:solidFill>
                  <a:srgbClr val="0070C0"/>
                </a:solidFill>
                <a:latin typeface="微软雅黑" panose="020B0503020204020204" pitchFamily="34" charset="-122"/>
                <a:ea typeface="微软雅黑" panose="020B0503020204020204" pitchFamily="34" charset="-122"/>
              </a:rPr>
              <a:t>css背景属性</a:t>
            </a:r>
            <a:r>
              <a:rPr lang="zh-CN" sz="1600" b="1" dirty="0" smtClean="0">
                <a:solidFill>
                  <a:srgbClr val="0070C0"/>
                </a:solidFill>
                <a:latin typeface="微软雅黑" panose="020B0503020204020204" pitchFamily="34" charset="-122"/>
                <a:ea typeface="微软雅黑" panose="020B0503020204020204" pitchFamily="34" charset="-122"/>
              </a:rPr>
              <a:t>及精灵图</a:t>
            </a:r>
            <a:endParaRPr lang="zh-CN" sz="1600" b="1" dirty="0" smtClean="0">
              <a:solidFill>
                <a:srgbClr val="0070C0"/>
              </a:solidFill>
              <a:latin typeface="微软雅黑" panose="020B0503020204020204" pitchFamily="34" charset="-122"/>
              <a:ea typeface="微软雅黑" panose="020B0503020204020204" pitchFamily="34" charset="-122"/>
            </a:endParaRPr>
          </a:p>
        </p:txBody>
      </p:sp>
      <p:sp>
        <p:nvSpPr>
          <p:cNvPr id="36" name="矩形 35"/>
          <p:cNvSpPr/>
          <p:nvPr/>
        </p:nvSpPr>
        <p:spPr>
          <a:xfrm>
            <a:off x="5379085" y="4544695"/>
            <a:ext cx="995680" cy="337185"/>
          </a:xfrm>
          <a:prstGeom prst="rect">
            <a:avLst/>
          </a:prstGeom>
        </p:spPr>
        <p:txBody>
          <a:bodyPr wrap="none">
            <a:spAutoFit/>
          </a:bodyPr>
          <a:p>
            <a:pPr algn="l"/>
            <a:r>
              <a:rPr lang="zh-CN" sz="1600" b="1" dirty="0" smtClean="0">
                <a:solidFill>
                  <a:srgbClr val="0070C0"/>
                </a:solidFill>
                <a:latin typeface="微软雅黑" panose="020B0503020204020204" pitchFamily="34" charset="-122"/>
                <a:ea typeface="微软雅黑" panose="020B0503020204020204" pitchFamily="34" charset="-122"/>
              </a:rPr>
              <a:t>浮动属性</a:t>
            </a:r>
            <a:endParaRPr lang="zh-CN" sz="1600" b="1" dirty="0" smtClean="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42" presetClass="entr" presetSubtype="0"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1000"/>
                                        <p:tgtEl>
                                          <p:spTgt spid="12"/>
                                        </p:tgtEl>
                                      </p:cBhvr>
                                    </p:animEffect>
                                    <p:anim calcmode="lin" valueType="num">
                                      <p:cBhvr>
                                        <p:cTn id="21" dur="1000" fill="hold"/>
                                        <p:tgtEl>
                                          <p:spTgt spid="12"/>
                                        </p:tgtEl>
                                        <p:attrNameLst>
                                          <p:attrName>ppt_x</p:attrName>
                                        </p:attrNameLst>
                                      </p:cBhvr>
                                      <p:tavLst>
                                        <p:tav tm="0">
                                          <p:val>
                                            <p:strVal val="#ppt_x"/>
                                          </p:val>
                                        </p:tav>
                                        <p:tav tm="100000">
                                          <p:val>
                                            <p:strVal val="#ppt_x"/>
                                          </p:val>
                                        </p:tav>
                                      </p:tavLst>
                                    </p:anim>
                                    <p:anim calcmode="lin" valueType="num">
                                      <p:cBhvr>
                                        <p:cTn id="22" dur="1000" fill="hold"/>
                                        <p:tgtEl>
                                          <p:spTgt spid="12"/>
                                        </p:tgtEl>
                                        <p:attrNameLst>
                                          <p:attrName>ppt_y</p:attrName>
                                        </p:attrNameLst>
                                      </p:cBhvr>
                                      <p:tavLst>
                                        <p:tav tm="0">
                                          <p:val>
                                            <p:strVal val="#ppt_y+.1"/>
                                          </p:val>
                                        </p:tav>
                                        <p:tav tm="100000">
                                          <p:val>
                                            <p:strVal val="#ppt_y"/>
                                          </p:val>
                                        </p:tav>
                                      </p:tavLst>
                                    </p:anim>
                                  </p:childTnLst>
                                </p:cTn>
                              </p:par>
                            </p:childTnLst>
                          </p:cTn>
                        </p:par>
                        <p:par>
                          <p:cTn id="23" fill="hold">
                            <p:stCondLst>
                              <p:cond delay="1500"/>
                            </p:stCondLst>
                            <p:childTnLst>
                              <p:par>
                                <p:cTn id="24" presetID="42" presetClass="entr" presetSubtype="0" fill="hold"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1000"/>
                                        <p:tgtEl>
                                          <p:spTgt spid="15"/>
                                        </p:tgtEl>
                                      </p:cBhvr>
                                    </p:animEffect>
                                    <p:anim calcmode="lin" valueType="num">
                                      <p:cBhvr>
                                        <p:cTn id="27" dur="1000" fill="hold"/>
                                        <p:tgtEl>
                                          <p:spTgt spid="15"/>
                                        </p:tgtEl>
                                        <p:attrNameLst>
                                          <p:attrName>ppt_x</p:attrName>
                                        </p:attrNameLst>
                                      </p:cBhvr>
                                      <p:tavLst>
                                        <p:tav tm="0">
                                          <p:val>
                                            <p:strVal val="#ppt_x"/>
                                          </p:val>
                                        </p:tav>
                                        <p:tav tm="100000">
                                          <p:val>
                                            <p:strVal val="#ppt_x"/>
                                          </p:val>
                                        </p:tav>
                                      </p:tavLst>
                                    </p:anim>
                                    <p:anim calcmode="lin" valueType="num">
                                      <p:cBhvr>
                                        <p:cTn id="28" dur="1000" fill="hold"/>
                                        <p:tgtEl>
                                          <p:spTgt spid="15"/>
                                        </p:tgtEl>
                                        <p:attrNameLst>
                                          <p:attrName>ppt_y</p:attrName>
                                        </p:attrNameLst>
                                      </p:cBhvr>
                                      <p:tavLst>
                                        <p:tav tm="0">
                                          <p:val>
                                            <p:strVal val="#ppt_y+.1"/>
                                          </p:val>
                                        </p:tav>
                                        <p:tav tm="100000">
                                          <p:val>
                                            <p:strVal val="#ppt_y"/>
                                          </p:val>
                                        </p:tav>
                                      </p:tavLst>
                                    </p:anim>
                                  </p:childTnLst>
                                </p:cTn>
                              </p:par>
                              <p:par>
                                <p:cTn id="29" presetID="2" presetClass="entr" presetSubtype="8" fill="hold" nodeType="withEffect">
                                  <p:stCondLst>
                                    <p:cond delay="50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par>
                                <p:cTn id="33" presetID="2" presetClass="entr" presetSubtype="8" fill="hold" nodeType="withEffect">
                                  <p:stCondLst>
                                    <p:cond delay="1000"/>
                                  </p:stCondLst>
                                  <p:childTnLst>
                                    <p:set>
                                      <p:cBhvr>
                                        <p:cTn id="34" dur="1" fill="hold">
                                          <p:stCondLst>
                                            <p:cond delay="0"/>
                                          </p:stCondLst>
                                        </p:cTn>
                                        <p:tgtEl>
                                          <p:spTgt spid="21"/>
                                        </p:tgtEl>
                                        <p:attrNameLst>
                                          <p:attrName>style.visibility</p:attrName>
                                        </p:attrNameLst>
                                      </p:cBhvr>
                                      <p:to>
                                        <p:strVal val="visible"/>
                                      </p:to>
                                    </p:set>
                                    <p:anim calcmode="lin" valueType="num">
                                      <p:cBhvr additive="base">
                                        <p:cTn id="35" dur="500" fill="hold"/>
                                        <p:tgtEl>
                                          <p:spTgt spid="21"/>
                                        </p:tgtEl>
                                        <p:attrNameLst>
                                          <p:attrName>ppt_x</p:attrName>
                                        </p:attrNameLst>
                                      </p:cBhvr>
                                      <p:tavLst>
                                        <p:tav tm="0">
                                          <p:val>
                                            <p:strVal val="0-#ppt_w/2"/>
                                          </p:val>
                                        </p:tav>
                                        <p:tav tm="100000">
                                          <p:val>
                                            <p:strVal val="#ppt_x"/>
                                          </p:val>
                                        </p:tav>
                                      </p:tavLst>
                                    </p:anim>
                                    <p:anim calcmode="lin" valueType="num">
                                      <p:cBhvr additive="base">
                                        <p:cTn id="36" dur="500" fill="hold"/>
                                        <p:tgtEl>
                                          <p:spTgt spid="21"/>
                                        </p:tgtEl>
                                        <p:attrNameLst>
                                          <p:attrName>ppt_y</p:attrName>
                                        </p:attrNameLst>
                                      </p:cBhvr>
                                      <p:tavLst>
                                        <p:tav tm="0">
                                          <p:val>
                                            <p:strVal val="#ppt_y"/>
                                          </p:val>
                                        </p:tav>
                                        <p:tav tm="100000">
                                          <p:val>
                                            <p:strVal val="#ppt_y"/>
                                          </p:val>
                                        </p:tav>
                                      </p:tavLst>
                                    </p:anim>
                                  </p:childTnLst>
                                </p:cTn>
                              </p:par>
                              <p:par>
                                <p:cTn id="37" presetID="2" presetClass="entr" presetSubtype="8" fill="hold" nodeType="withEffect">
                                  <p:stCondLst>
                                    <p:cond delay="1500"/>
                                  </p:stCondLst>
                                  <p:childTnLst>
                                    <p:set>
                                      <p:cBhvr>
                                        <p:cTn id="38" dur="1" fill="hold">
                                          <p:stCondLst>
                                            <p:cond delay="0"/>
                                          </p:stCondLst>
                                        </p:cTn>
                                        <p:tgtEl>
                                          <p:spTgt spid="24"/>
                                        </p:tgtEl>
                                        <p:attrNameLst>
                                          <p:attrName>style.visibility</p:attrName>
                                        </p:attrNameLst>
                                      </p:cBhvr>
                                      <p:to>
                                        <p:strVal val="visible"/>
                                      </p:to>
                                    </p:set>
                                    <p:anim calcmode="lin" valueType="num">
                                      <p:cBhvr additive="base">
                                        <p:cTn id="39" dur="500" fill="hold"/>
                                        <p:tgtEl>
                                          <p:spTgt spid="24"/>
                                        </p:tgtEl>
                                        <p:attrNameLst>
                                          <p:attrName>ppt_x</p:attrName>
                                        </p:attrNameLst>
                                      </p:cBhvr>
                                      <p:tavLst>
                                        <p:tav tm="0">
                                          <p:val>
                                            <p:strVal val="0-#ppt_w/2"/>
                                          </p:val>
                                        </p:tav>
                                        <p:tav tm="100000">
                                          <p:val>
                                            <p:strVal val="#ppt_x"/>
                                          </p:val>
                                        </p:tav>
                                      </p:tavLst>
                                    </p:anim>
                                    <p:anim calcmode="lin" valueType="num">
                                      <p:cBhvr additive="base">
                                        <p:cTn id="40" dur="500" fill="hold"/>
                                        <p:tgtEl>
                                          <p:spTgt spid="24"/>
                                        </p:tgtEl>
                                        <p:attrNameLst>
                                          <p:attrName>ppt_y</p:attrName>
                                        </p:attrNameLst>
                                      </p:cBhvr>
                                      <p:tavLst>
                                        <p:tav tm="0">
                                          <p:val>
                                            <p:strVal val="#ppt_y"/>
                                          </p:val>
                                        </p:tav>
                                        <p:tav tm="100000">
                                          <p:val>
                                            <p:strVal val="#ppt_y"/>
                                          </p:val>
                                        </p:tav>
                                      </p:tavLst>
                                    </p:anim>
                                  </p:childTnLst>
                                </p:cTn>
                              </p:par>
                            </p:childTnLst>
                          </p:cTn>
                        </p:par>
                        <p:par>
                          <p:cTn id="41" fill="hold">
                            <p:stCondLst>
                              <p:cond delay="2500"/>
                            </p:stCondLst>
                            <p:childTnLst>
                              <p:par>
                                <p:cTn id="42" presetID="53" presetClass="entr" presetSubtype="16" fill="hold" grpId="0" nodeType="afterEffect">
                                  <p:stCondLst>
                                    <p:cond delay="0"/>
                                  </p:stCondLst>
                                  <p:childTnLst>
                                    <p:set>
                                      <p:cBhvr>
                                        <p:cTn id="43" dur="1" fill="hold">
                                          <p:stCondLst>
                                            <p:cond delay="0"/>
                                          </p:stCondLst>
                                        </p:cTn>
                                        <p:tgtEl>
                                          <p:spTgt spid="42"/>
                                        </p:tgtEl>
                                        <p:attrNameLst>
                                          <p:attrName>style.visibility</p:attrName>
                                        </p:attrNameLst>
                                      </p:cBhvr>
                                      <p:to>
                                        <p:strVal val="visible"/>
                                      </p:to>
                                    </p:set>
                                    <p:anim calcmode="lin" valueType="num">
                                      <p:cBhvr>
                                        <p:cTn id="44" dur="500" fill="hold"/>
                                        <p:tgtEl>
                                          <p:spTgt spid="42"/>
                                        </p:tgtEl>
                                        <p:attrNameLst>
                                          <p:attrName>ppt_w</p:attrName>
                                        </p:attrNameLst>
                                      </p:cBhvr>
                                      <p:tavLst>
                                        <p:tav tm="0">
                                          <p:val>
                                            <p:fltVal val="0"/>
                                          </p:val>
                                        </p:tav>
                                        <p:tav tm="100000">
                                          <p:val>
                                            <p:strVal val="#ppt_w"/>
                                          </p:val>
                                        </p:tav>
                                      </p:tavLst>
                                    </p:anim>
                                    <p:anim calcmode="lin" valueType="num">
                                      <p:cBhvr>
                                        <p:cTn id="45" dur="500" fill="hold"/>
                                        <p:tgtEl>
                                          <p:spTgt spid="42"/>
                                        </p:tgtEl>
                                        <p:attrNameLst>
                                          <p:attrName>ppt_h</p:attrName>
                                        </p:attrNameLst>
                                      </p:cBhvr>
                                      <p:tavLst>
                                        <p:tav tm="0">
                                          <p:val>
                                            <p:fltVal val="0"/>
                                          </p:val>
                                        </p:tav>
                                        <p:tav tm="100000">
                                          <p:val>
                                            <p:strVal val="#ppt_h"/>
                                          </p:val>
                                        </p:tav>
                                      </p:tavLst>
                                    </p:anim>
                                    <p:animEffect transition="in" filter="fade">
                                      <p:cBhvr>
                                        <p:cTn id="46" dur="500"/>
                                        <p:tgtEl>
                                          <p:spTgt spid="42"/>
                                        </p:tgtEl>
                                      </p:cBhvr>
                                    </p:animEffect>
                                  </p:childTnLst>
                                </p:cTn>
                              </p:par>
                              <p:par>
                                <p:cTn id="47" presetID="2" presetClass="entr" presetSubtype="8" fill="hold" nodeType="withEffect">
                                  <p:stCondLst>
                                    <p:cond delay="1500"/>
                                  </p:stCondLst>
                                  <p:childTnLst>
                                    <p:set>
                                      <p:cBhvr>
                                        <p:cTn id="48" dur="1" fill="hold">
                                          <p:stCondLst>
                                            <p:cond delay="0"/>
                                          </p:stCondLst>
                                        </p:cTn>
                                        <p:tgtEl>
                                          <p:spTgt spid="11"/>
                                        </p:tgtEl>
                                        <p:attrNameLst>
                                          <p:attrName>style.visibility</p:attrName>
                                        </p:attrNameLst>
                                      </p:cBhvr>
                                      <p:to>
                                        <p:strVal val="visible"/>
                                      </p:to>
                                    </p:set>
                                    <p:anim calcmode="lin" valueType="num">
                                      <p:cBhvr additive="base">
                                        <p:cTn id="49" dur="500" fill="hold"/>
                                        <p:tgtEl>
                                          <p:spTgt spid="11"/>
                                        </p:tgtEl>
                                        <p:attrNameLst>
                                          <p:attrName>ppt_x</p:attrName>
                                        </p:attrNameLst>
                                      </p:cBhvr>
                                      <p:tavLst>
                                        <p:tav tm="0">
                                          <p:val>
                                            <p:strVal val="0-#ppt_w/2"/>
                                          </p:val>
                                        </p:tav>
                                        <p:tav tm="100000">
                                          <p:val>
                                            <p:strVal val="#ppt_x"/>
                                          </p:val>
                                        </p:tav>
                                      </p:tavLst>
                                    </p:anim>
                                    <p:anim calcmode="lin" valueType="num">
                                      <p:cBhvr additive="base">
                                        <p:cTn id="50" dur="500" fill="hold"/>
                                        <p:tgtEl>
                                          <p:spTgt spid="11"/>
                                        </p:tgtEl>
                                        <p:attrNameLst>
                                          <p:attrName>ppt_y</p:attrName>
                                        </p:attrNameLst>
                                      </p:cBhvr>
                                      <p:tavLst>
                                        <p:tav tm="0">
                                          <p:val>
                                            <p:strVal val="#ppt_y"/>
                                          </p:val>
                                        </p:tav>
                                        <p:tav tm="100000">
                                          <p:val>
                                            <p:strVal val="#ppt_y"/>
                                          </p:val>
                                        </p:tav>
                                      </p:tavLst>
                                    </p:anim>
                                  </p:childTnLst>
                                </p:cTn>
                              </p:par>
                              <p:par>
                                <p:cTn id="51" presetID="2" presetClass="entr" presetSubtype="8" fill="hold" nodeType="withEffect">
                                  <p:stCondLst>
                                    <p:cond delay="1500"/>
                                  </p:stCondLst>
                                  <p:childTnLst>
                                    <p:set>
                                      <p:cBhvr>
                                        <p:cTn id="52" dur="1" fill="hold">
                                          <p:stCondLst>
                                            <p:cond delay="0"/>
                                          </p:stCondLst>
                                        </p:cTn>
                                        <p:tgtEl>
                                          <p:spTgt spid="30"/>
                                        </p:tgtEl>
                                        <p:attrNameLst>
                                          <p:attrName>style.visibility</p:attrName>
                                        </p:attrNameLst>
                                      </p:cBhvr>
                                      <p:to>
                                        <p:strVal val="visible"/>
                                      </p:to>
                                    </p:set>
                                    <p:anim calcmode="lin" valueType="num">
                                      <p:cBhvr additive="base">
                                        <p:cTn id="53" dur="500" fill="hold"/>
                                        <p:tgtEl>
                                          <p:spTgt spid="30"/>
                                        </p:tgtEl>
                                        <p:attrNameLst>
                                          <p:attrName>ppt_x</p:attrName>
                                        </p:attrNameLst>
                                      </p:cBhvr>
                                      <p:tavLst>
                                        <p:tav tm="0">
                                          <p:val>
                                            <p:strVal val="0-#ppt_w/2"/>
                                          </p:val>
                                        </p:tav>
                                        <p:tav tm="100000">
                                          <p:val>
                                            <p:strVal val="#ppt_x"/>
                                          </p:val>
                                        </p:tav>
                                      </p:tavLst>
                                    </p:anim>
                                    <p:anim calcmode="lin" valueType="num">
                                      <p:cBhvr additive="base">
                                        <p:cTn id="54"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4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sp>
        <p:nvSpPr>
          <p:cNvPr id="3" name="文本框 9"/>
          <p:cNvSpPr txBox="1"/>
          <p:nvPr/>
        </p:nvSpPr>
        <p:spPr>
          <a:xfrm>
            <a:off x="3767201" y="173845"/>
            <a:ext cx="1576869" cy="327660"/>
          </a:xfrm>
          <a:prstGeom prst="rect">
            <a:avLst/>
          </a:prstGeom>
          <a:noFill/>
        </p:spPr>
        <p:txBody>
          <a:bodyPr wrap="square" lIns="51421" tIns="25710" rIns="51421" bIns="25710" rtlCol="0">
            <a:spAutoFit/>
          </a:bodyPr>
          <a:lstStyle/>
          <a:p>
            <a:pPr marL="0" lvl="1" algn="ctr"/>
            <a:r>
              <a:rPr lang="en-US" altLang="zh-CN" b="1" dirty="0" smtClean="0">
                <a:solidFill>
                  <a:srgbClr val="0070C0"/>
                </a:solidFill>
                <a:latin typeface="微软雅黑" panose="020B0503020204020204" pitchFamily="34" charset="-122"/>
                <a:ea typeface="微软雅黑" panose="020B0503020204020204" pitchFamily="34" charset="-122"/>
              </a:rPr>
              <a:t>CSS</a:t>
            </a:r>
            <a:r>
              <a:rPr lang="zh-CN" altLang="en-US" b="1" dirty="0" smtClean="0">
                <a:solidFill>
                  <a:srgbClr val="0070C0"/>
                </a:solidFill>
                <a:latin typeface="微软雅黑" panose="020B0503020204020204" pitchFamily="34" charset="-122"/>
                <a:ea typeface="微软雅黑" panose="020B0503020204020204" pitchFamily="34" charset="-122"/>
              </a:rPr>
              <a:t>属性</a:t>
            </a:r>
            <a:endParaRPr lang="zh-CN" altLang="en-US" b="1" dirty="0" smtClean="0">
              <a:solidFill>
                <a:srgbClr val="0070C0"/>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5921798" y="256915"/>
            <a:ext cx="453150" cy="161976"/>
            <a:chOff x="264939" y="188640"/>
            <a:chExt cx="604358" cy="216024"/>
          </a:xfrm>
        </p:grpSpPr>
        <p:sp>
          <p:nvSpPr>
            <p:cNvPr id="5" name="燕尾形 4"/>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7" name="燕尾形 6"/>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8" name="组合 7"/>
          <p:cNvGrpSpPr/>
          <p:nvPr/>
        </p:nvGrpSpPr>
        <p:grpSpPr>
          <a:xfrm rot="10800000">
            <a:off x="2790266" y="256915"/>
            <a:ext cx="453150" cy="161976"/>
            <a:chOff x="264939" y="188640"/>
            <a:chExt cx="604358" cy="216024"/>
          </a:xfrm>
        </p:grpSpPr>
        <p:sp>
          <p:nvSpPr>
            <p:cNvPr id="9" name="燕尾形 8"/>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1" name="燕尾形 10"/>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15" name="组合 14"/>
          <p:cNvGrpSpPr/>
          <p:nvPr/>
        </p:nvGrpSpPr>
        <p:grpSpPr>
          <a:xfrm>
            <a:off x="5936074" y="3343896"/>
            <a:ext cx="3225240" cy="1706947"/>
            <a:chOff x="5917425" y="3435846"/>
            <a:chExt cx="3226575" cy="1707654"/>
          </a:xfrm>
        </p:grpSpPr>
        <p:pic>
          <p:nvPicPr>
            <p:cNvPr id="16" name="Picture 2"/>
            <p:cNvPicPr>
              <a:picLocks noChangeAspect="1" noChangeArrowheads="1"/>
            </p:cNvPicPr>
            <p:nvPr/>
          </p:nvPicPr>
          <p:blipFill rotWithShape="1">
            <a:blip r:embed="rId1" cstate="screen">
              <a:extLst>
                <a:ext uri="{BEBA8EAE-BF5A-486C-A8C5-ECC9F3942E4B}">
                  <a14:imgProps xmlns:a14="http://schemas.microsoft.com/office/drawing/2010/main">
                    <a14:imgLayer r:embed="rId2">
                      <a14:imgEffect>
                        <a14:brightnessContrast bright="-40000" contrast="-40000"/>
                      </a14:imgEffect>
                    </a14:imgLayer>
                  </a14:imgProps>
                </a:ext>
              </a:extLst>
            </a:blip>
            <a:srcRect/>
            <a:stretch>
              <a:fillRect/>
            </a:stretch>
          </p:blipFill>
          <p:spPr bwMode="auto">
            <a:xfrm>
              <a:off x="5917425" y="3435846"/>
              <a:ext cx="3226575" cy="1707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2"/>
            <p:cNvPicPr>
              <a:picLocks noChangeAspect="1" noChangeArrowheads="1"/>
            </p:cNvPicPr>
            <p:nvPr/>
          </p:nvPicPr>
          <p:blipFill rotWithShape="1">
            <a:blip r:embed="rId1" cstate="screen">
              <a:extLst>
                <a:ext uri="{BEBA8EAE-BF5A-486C-A8C5-ECC9F3942E4B}">
                  <a14:imgProps xmlns:a14="http://schemas.microsoft.com/office/drawing/2010/main">
                    <a14:imgLayer r:embed="rId2">
                      <a14:imgEffect>
                        <a14:brightnessContrast bright="-40000" contrast="-40000"/>
                      </a14:imgEffect>
                    </a14:imgLayer>
                  </a14:imgProps>
                </a:ext>
              </a:extLst>
            </a:blip>
            <a:srcRect/>
            <a:stretch>
              <a:fillRect/>
            </a:stretch>
          </p:blipFill>
          <p:spPr bwMode="auto">
            <a:xfrm>
              <a:off x="5917425" y="3435846"/>
              <a:ext cx="3226575" cy="1707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8" name="组合 17"/>
          <p:cNvGrpSpPr/>
          <p:nvPr/>
        </p:nvGrpSpPr>
        <p:grpSpPr>
          <a:xfrm>
            <a:off x="1456342" y="917998"/>
            <a:ext cx="6231894" cy="3759253"/>
            <a:chOff x="2034703" y="1151662"/>
            <a:chExt cx="7807300" cy="5013642"/>
          </a:xfrm>
        </p:grpSpPr>
        <p:sp>
          <p:nvSpPr>
            <p:cNvPr id="19" name="圆角矩形 18"/>
            <p:cNvSpPr/>
            <p:nvPr/>
          </p:nvSpPr>
          <p:spPr>
            <a:xfrm>
              <a:off x="2034703" y="1151664"/>
              <a:ext cx="7807300" cy="5013640"/>
            </a:xfrm>
            <a:prstGeom prst="roundRect">
              <a:avLst>
                <a:gd name="adj" fmla="val 1621"/>
              </a:avLst>
            </a:prstGeom>
            <a:solidFill>
              <a:schemeClr val="bg1">
                <a:lumMod val="65000"/>
              </a:schemeClr>
            </a:solidFill>
            <a:ln>
              <a:noFill/>
            </a:ln>
            <a:effectLst>
              <a:outerShdw blurRad="381000" dist="127000" dir="2700000" algn="tl" rotWithShape="0">
                <a:prstClr val="black">
                  <a:alpha val="40000"/>
                </a:prstClr>
              </a:outerShdw>
            </a:effectLst>
            <a:scene3d>
              <a:camera prst="orthographicFront"/>
              <a:lightRig rig="threePt" dir="t">
                <a:rot lat="0" lon="0" rev="0"/>
              </a:lightRig>
            </a:scene3d>
            <a:sp3d prstMaterial="softEdge">
              <a:bevelT w="254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0" name="梯形 19"/>
            <p:cNvSpPr/>
            <p:nvPr/>
          </p:nvSpPr>
          <p:spPr>
            <a:xfrm rot="16200000">
              <a:off x="-264305" y="3595509"/>
              <a:ext cx="5013640" cy="125950"/>
            </a:xfrm>
            <a:prstGeom prst="trapezoid">
              <a:avLst>
                <a:gd name="adj" fmla="val 37500"/>
              </a:avLst>
            </a:prstGeom>
            <a:gradFill>
              <a:gsLst>
                <a:gs pos="50000">
                  <a:srgbClr val="F3F3F3"/>
                </a:gs>
                <a:gs pos="26000">
                  <a:schemeClr val="bg1"/>
                </a:gs>
                <a:gs pos="0">
                  <a:srgbClr val="EEEEEE"/>
                </a:gs>
                <a:gs pos="75000">
                  <a:srgbClr val="E2E2E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梯形 20"/>
            <p:cNvSpPr/>
            <p:nvPr/>
          </p:nvSpPr>
          <p:spPr>
            <a:xfrm rot="5400000" flipH="1">
              <a:off x="7129387" y="3595509"/>
              <a:ext cx="5013640" cy="125950"/>
            </a:xfrm>
            <a:prstGeom prst="trapezoid">
              <a:avLst>
                <a:gd name="adj" fmla="val 37500"/>
              </a:avLst>
            </a:prstGeom>
            <a:gradFill>
              <a:gsLst>
                <a:gs pos="50000">
                  <a:srgbClr val="F3F3F3"/>
                </a:gs>
                <a:gs pos="26000">
                  <a:schemeClr val="bg1"/>
                </a:gs>
                <a:gs pos="0">
                  <a:srgbClr val="EEEEEE"/>
                </a:gs>
                <a:gs pos="75000">
                  <a:srgbClr val="E2E2E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2" name="矩形 21"/>
            <p:cNvSpPr/>
            <p:nvPr/>
          </p:nvSpPr>
          <p:spPr>
            <a:xfrm>
              <a:off x="3900276" y="1151662"/>
              <a:ext cx="1331495" cy="5013642"/>
            </a:xfrm>
            <a:prstGeom prst="rect">
              <a:avLst/>
            </a:prstGeom>
            <a:gradFill>
              <a:gsLst>
                <a:gs pos="0">
                  <a:srgbClr val="F7F7F7">
                    <a:alpha val="0"/>
                  </a:srgbClr>
                </a:gs>
                <a:gs pos="63000">
                  <a:schemeClr val="bg1">
                    <a:alpha val="33000"/>
                  </a:schemeClr>
                </a:gs>
                <a:gs pos="100000">
                  <a:srgbClr val="F7F7F7">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3" name="矩形 22"/>
            <p:cNvSpPr/>
            <p:nvPr/>
          </p:nvSpPr>
          <p:spPr>
            <a:xfrm>
              <a:off x="2303475" y="1151664"/>
              <a:ext cx="7269757" cy="5013640"/>
            </a:xfrm>
            <a:prstGeom prst="rect">
              <a:avLst/>
            </a:prstGeom>
            <a:gradFill>
              <a:gsLst>
                <a:gs pos="89000">
                  <a:srgbClr val="F7F7F7"/>
                </a:gs>
                <a:gs pos="74000">
                  <a:srgbClr val="EEEEEE"/>
                </a:gs>
                <a:gs pos="57000">
                  <a:srgbClr val="FBFBFB"/>
                </a:gs>
                <a:gs pos="47000">
                  <a:srgbClr val="EAEAEA"/>
                </a:gs>
                <a:gs pos="29000">
                  <a:srgbClr val="FBFBFB"/>
                </a:gs>
                <a:gs pos="15000">
                  <a:srgbClr val="F7F7F7"/>
                </a:gs>
                <a:gs pos="0">
                  <a:srgbClr val="F7F7F7"/>
                </a:gs>
                <a:gs pos="100000">
                  <a:srgbClr val="F5F5F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矩形 23"/>
            <p:cNvSpPr/>
            <p:nvPr/>
          </p:nvSpPr>
          <p:spPr>
            <a:xfrm>
              <a:off x="5979406" y="1151662"/>
              <a:ext cx="308198" cy="5013642"/>
            </a:xfrm>
            <a:prstGeom prst="rect">
              <a:avLst/>
            </a:prstGeom>
            <a:gradFill>
              <a:gsLst>
                <a:gs pos="100000">
                  <a:srgbClr val="F7F7F7">
                    <a:alpha val="0"/>
                  </a:srgbClr>
                </a:gs>
                <a:gs pos="0">
                  <a:schemeClr val="bg1">
                    <a:lumMod val="8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任意多边形 24"/>
            <p:cNvSpPr/>
            <p:nvPr/>
          </p:nvSpPr>
          <p:spPr>
            <a:xfrm rot="5400000" flipH="1">
              <a:off x="7080192" y="3643031"/>
              <a:ext cx="5013640" cy="30906"/>
            </a:xfrm>
            <a:custGeom>
              <a:avLst/>
              <a:gdLst>
                <a:gd name="connsiteX0" fmla="*/ 5013640 w 5013640"/>
                <a:gd name="connsiteY0" fmla="*/ 54754 h 54754"/>
                <a:gd name="connsiteX1" fmla="*/ 4993107 w 5013640"/>
                <a:gd name="connsiteY1" fmla="*/ 0 h 54754"/>
                <a:gd name="connsiteX2" fmla="*/ 20533 w 5013640"/>
                <a:gd name="connsiteY2" fmla="*/ 0 h 54754"/>
                <a:gd name="connsiteX3" fmla="*/ 0 w 5013640"/>
                <a:gd name="connsiteY3" fmla="*/ 54754 h 54754"/>
              </a:gdLst>
              <a:ahLst/>
              <a:cxnLst>
                <a:cxn ang="0">
                  <a:pos x="connsiteX0" y="connsiteY0"/>
                </a:cxn>
                <a:cxn ang="0">
                  <a:pos x="connsiteX1" y="connsiteY1"/>
                </a:cxn>
                <a:cxn ang="0">
                  <a:pos x="connsiteX2" y="connsiteY2"/>
                </a:cxn>
                <a:cxn ang="0">
                  <a:pos x="connsiteX3" y="connsiteY3"/>
                </a:cxn>
              </a:cxnLst>
              <a:rect l="l" t="t" r="r" b="b"/>
              <a:pathLst>
                <a:path w="5013640" h="54754">
                  <a:moveTo>
                    <a:pt x="5013640" y="54754"/>
                  </a:moveTo>
                  <a:lnTo>
                    <a:pt x="4993107" y="0"/>
                  </a:lnTo>
                  <a:lnTo>
                    <a:pt x="20533" y="0"/>
                  </a:lnTo>
                  <a:lnTo>
                    <a:pt x="0" y="54754"/>
                  </a:lnTo>
                  <a:close/>
                </a:path>
              </a:pathLst>
            </a:cu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26" name="椭圆 25"/>
          <p:cNvSpPr/>
          <p:nvPr/>
        </p:nvSpPr>
        <p:spPr>
          <a:xfrm rot="1860000">
            <a:off x="3109326" y="2465030"/>
            <a:ext cx="19271" cy="19271"/>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latin typeface="Arial" panose="020B0604020202020204" pitchFamily="34" charset="0"/>
              <a:ea typeface="微软雅黑" panose="020B0503020204020204" pitchFamily="34" charset="-122"/>
              <a:sym typeface="Arial" panose="020B0604020202020204" pitchFamily="34" charset="0"/>
            </a:endParaRPr>
          </a:p>
        </p:txBody>
      </p:sp>
      <p:sp>
        <p:nvSpPr>
          <p:cNvPr id="28" name="矩形 27"/>
          <p:cNvSpPr/>
          <p:nvPr/>
        </p:nvSpPr>
        <p:spPr>
          <a:xfrm>
            <a:off x="4761314" y="1105596"/>
            <a:ext cx="2614529" cy="3390900"/>
          </a:xfrm>
          <a:prstGeom prst="rect">
            <a:avLst/>
          </a:prstGeom>
        </p:spPr>
        <p:txBody>
          <a:bodyPr wrap="square" lIns="68556" tIns="34278" rIns="68556" bIns="34278">
            <a:spAutoFit/>
          </a:bodyPr>
          <a:lstStyle/>
          <a:p>
            <a:pPr algn="ctr">
              <a:lnSpc>
                <a:spcPct val="150000"/>
              </a:lnSpc>
              <a:defRPr/>
            </a:pPr>
            <a:r>
              <a:rPr lang="zh-CN" altLang="en-US" sz="1600" dirty="0">
                <a:latin typeface="微软雅黑" panose="020B0503020204020204" pitchFamily="34" charset="-122"/>
                <a:ea typeface="微软雅黑" panose="020B0503020204020204" pitchFamily="34" charset="-122"/>
                <a:sym typeface="+mn-ea"/>
              </a:rPr>
              <a:t>一、CSS属性组成和作用</a:t>
            </a:r>
            <a:endParaRPr lang="zh-CN" altLang="en-US" sz="1600" dirty="0">
              <a:latin typeface="微软雅黑" panose="020B0503020204020204" pitchFamily="34" charset="-122"/>
              <a:ea typeface="微软雅黑" panose="020B0503020204020204" pitchFamily="34" charset="-122"/>
            </a:endParaRPr>
          </a:p>
          <a:p>
            <a:pPr eaLnBrk="0" hangingPunct="0"/>
            <a:r>
              <a:rPr lang="zh-CN" altLang="en-US" sz="1600" dirty="0">
                <a:latin typeface="微软雅黑" panose="020B0503020204020204" pitchFamily="34" charset="-122"/>
                <a:ea typeface="微软雅黑" panose="020B0503020204020204" pitchFamily="34" charset="-122"/>
                <a:sym typeface="+mn-ea"/>
              </a:rPr>
              <a:t>                  </a:t>
            </a:r>
            <a:endParaRPr lang="zh-CN" altLang="en-US" sz="1600" dirty="0">
              <a:latin typeface="微软雅黑" panose="020B0503020204020204" pitchFamily="34" charset="-122"/>
              <a:ea typeface="微软雅黑" panose="020B0503020204020204" pitchFamily="34" charset="-122"/>
            </a:endParaRPr>
          </a:p>
          <a:p>
            <a:pPr eaLnBrk="0" hangingPunct="0"/>
            <a:r>
              <a:rPr lang="zh-CN" altLang="en-US" sz="1600" dirty="0">
                <a:latin typeface="微软雅黑" panose="020B0503020204020204" pitchFamily="34" charset="-122"/>
                <a:ea typeface="微软雅黑" panose="020B0503020204020204" pitchFamily="34" charset="-122"/>
                <a:sym typeface="+mn-ea"/>
              </a:rPr>
              <a:t>1）每个css样式都必须由两部分组成：选择符和声明</a:t>
            </a:r>
            <a:endParaRPr lang="zh-CN" altLang="en-US" sz="1600" dirty="0">
              <a:latin typeface="微软雅黑" panose="020B0503020204020204" pitchFamily="34" charset="-122"/>
              <a:ea typeface="微软雅黑" panose="020B0503020204020204" pitchFamily="34" charset="-122"/>
            </a:endParaRPr>
          </a:p>
          <a:p>
            <a:pPr eaLnBrk="0" hangingPunct="0"/>
            <a:r>
              <a:rPr lang="zh-CN" altLang="en-US" sz="1600" dirty="0">
                <a:latin typeface="微软雅黑" panose="020B0503020204020204" pitchFamily="34" charset="-122"/>
                <a:ea typeface="微软雅黑" panose="020B0503020204020204" pitchFamily="34" charset="-122"/>
                <a:sym typeface="+mn-ea"/>
              </a:rPr>
              <a:t>注：声明又包括属性和属性值</a:t>
            </a:r>
            <a:endParaRPr lang="zh-CN" altLang="en-US" sz="1600" dirty="0">
              <a:latin typeface="微软雅黑" panose="020B0503020204020204" pitchFamily="34" charset="-122"/>
              <a:ea typeface="微软雅黑" panose="020B0503020204020204" pitchFamily="34" charset="-122"/>
            </a:endParaRPr>
          </a:p>
          <a:p>
            <a:pPr eaLnBrk="0" hangingPunct="0"/>
            <a:r>
              <a:rPr lang="zh-CN" altLang="en-US" sz="1600" dirty="0">
                <a:latin typeface="微软雅黑" panose="020B0503020204020204" pitchFamily="34" charset="-122"/>
                <a:ea typeface="微软雅黑" panose="020B0503020204020204" pitchFamily="34" charset="-122"/>
                <a:sym typeface="+mn-ea"/>
              </a:rPr>
              <a:t>2）css属性：属性是指定选择符具有的属性</a:t>
            </a:r>
            <a:endParaRPr lang="zh-CN" altLang="en-US" sz="1600" dirty="0">
              <a:latin typeface="微软雅黑" panose="020B0503020204020204" pitchFamily="34" charset="-122"/>
              <a:ea typeface="微软雅黑" panose="020B0503020204020204" pitchFamily="34" charset="-122"/>
            </a:endParaRPr>
          </a:p>
          <a:p>
            <a:pPr eaLnBrk="0" hangingPunct="0"/>
            <a:endParaRPr lang="zh-CN" altLang="en-US" sz="1600" dirty="0">
              <a:latin typeface="微软雅黑" panose="020B0503020204020204" pitchFamily="34" charset="-122"/>
              <a:ea typeface="微软雅黑" panose="020B0503020204020204" pitchFamily="34" charset="-122"/>
            </a:endParaRPr>
          </a:p>
          <a:p>
            <a:pPr eaLnBrk="0" hangingPunct="0"/>
            <a:r>
              <a:rPr lang="zh-CN" altLang="en-US" sz="1600" dirty="0">
                <a:latin typeface="微软雅黑" panose="020B0503020204020204" pitchFamily="34" charset="-122"/>
                <a:ea typeface="微软雅黑" panose="020B0503020204020204" pitchFamily="34" charset="-122"/>
                <a:sym typeface="+mn-ea"/>
              </a:rPr>
              <a:t>3）css属性值：属性值包括法定属性值和常规的数值加单位或颜色值(colorValue)；如（25px）</a:t>
            </a:r>
            <a:endParaRPr lang="zh-CN" altLang="en-US" sz="1600" dirty="0">
              <a:latin typeface="微软雅黑" panose="020B0503020204020204" pitchFamily="34" charset="-122"/>
              <a:ea typeface="微软雅黑" panose="020B0503020204020204" pitchFamily="34" charset="-122"/>
            </a:endParaRPr>
          </a:p>
        </p:txBody>
      </p:sp>
      <p:pic>
        <p:nvPicPr>
          <p:cNvPr id="13" name="图片 12" descr="u=2190213352,1898608478&amp;fm=72"/>
          <p:cNvPicPr>
            <a:picLocks noChangeAspect="1"/>
          </p:cNvPicPr>
          <p:nvPr/>
        </p:nvPicPr>
        <p:blipFill>
          <a:blip r:embed="rId3"/>
          <a:stretch>
            <a:fillRect/>
          </a:stretch>
        </p:blipFill>
        <p:spPr>
          <a:xfrm>
            <a:off x="1993900" y="1673225"/>
            <a:ext cx="2249805" cy="22498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advClick="0" advTm="9000">
        <p14:prism dir="d" isInverted="1"/>
      </p:transition>
    </mc:Choice>
    <mc:Fallback>
      <p:transition spd="slow" advClick="0" advTm="9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1+#ppt_w/2"/>
                                          </p:val>
                                        </p:tav>
                                        <p:tav tm="100000">
                                          <p:val>
                                            <p:strVal val="#ppt_x"/>
                                          </p:val>
                                        </p:tav>
                                      </p:tavLst>
                                    </p:anim>
                                    <p:anim calcmode="lin" valueType="num">
                                      <p:cBhvr additive="base">
                                        <p:cTn id="12" dur="500" fill="hold"/>
                                        <p:tgtEl>
                                          <p:spTgt spid="4"/>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500" fill="hold"/>
                                        <p:tgtEl>
                                          <p:spTgt spid="3"/>
                                        </p:tgtEl>
                                        <p:attrNameLst>
                                          <p:attrName>ppt_w</p:attrName>
                                        </p:attrNameLst>
                                      </p:cBhvr>
                                      <p:tavLst>
                                        <p:tav tm="0">
                                          <p:val>
                                            <p:fltVal val="0"/>
                                          </p:val>
                                        </p:tav>
                                        <p:tav tm="100000">
                                          <p:val>
                                            <p:strVal val="#ppt_w"/>
                                          </p:val>
                                        </p:tav>
                                      </p:tavLst>
                                    </p:anim>
                                    <p:anim calcmode="lin" valueType="num">
                                      <p:cBhvr>
                                        <p:cTn id="21" dur="500" fill="hold"/>
                                        <p:tgtEl>
                                          <p:spTgt spid="3"/>
                                        </p:tgtEl>
                                        <p:attrNameLst>
                                          <p:attrName>ppt_h</p:attrName>
                                        </p:attrNameLst>
                                      </p:cBhvr>
                                      <p:tavLst>
                                        <p:tav tm="0">
                                          <p:val>
                                            <p:fltVal val="0"/>
                                          </p:val>
                                        </p:tav>
                                        <p:tav tm="100000">
                                          <p:val>
                                            <p:strVal val="#ppt_h"/>
                                          </p:val>
                                        </p:tav>
                                      </p:tavLst>
                                    </p:anim>
                                    <p:animEffect transition="in" filter="fade">
                                      <p:cBhvr>
                                        <p:cTn id="22" dur="500"/>
                                        <p:tgtEl>
                                          <p:spTgt spid="3"/>
                                        </p:tgtEl>
                                      </p:cBhvr>
                                    </p:animEffect>
                                  </p:childTnLst>
                                </p:cTn>
                              </p:par>
                            </p:childTnLst>
                          </p:cTn>
                        </p:par>
                        <p:par>
                          <p:cTn id="23" fill="hold">
                            <p:stCondLst>
                              <p:cond delay="1000"/>
                            </p:stCondLst>
                            <p:childTnLst>
                              <p:par>
                                <p:cTn id="24" presetID="42" presetClass="entr" presetSubtype="0" fill="hold" nodeType="after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1000"/>
                                        <p:tgtEl>
                                          <p:spTgt spid="18"/>
                                        </p:tgtEl>
                                      </p:cBhvr>
                                    </p:animEffect>
                                    <p:anim calcmode="lin" valueType="num">
                                      <p:cBhvr>
                                        <p:cTn id="27" dur="1000" fill="hold"/>
                                        <p:tgtEl>
                                          <p:spTgt spid="18"/>
                                        </p:tgtEl>
                                        <p:attrNameLst>
                                          <p:attrName>ppt_x</p:attrName>
                                        </p:attrNameLst>
                                      </p:cBhvr>
                                      <p:tavLst>
                                        <p:tav tm="0">
                                          <p:val>
                                            <p:strVal val="#ppt_x"/>
                                          </p:val>
                                        </p:tav>
                                        <p:tav tm="100000">
                                          <p:val>
                                            <p:strVal val="#ppt_x"/>
                                          </p:val>
                                        </p:tav>
                                      </p:tavLst>
                                    </p:anim>
                                    <p:anim calcmode="lin" valueType="num">
                                      <p:cBhvr>
                                        <p:cTn id="28" dur="1000" fill="hold"/>
                                        <p:tgtEl>
                                          <p:spTgt spid="18"/>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125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1000"/>
                                        <p:tgtEl>
                                          <p:spTgt spid="28"/>
                                        </p:tgtEl>
                                      </p:cBhvr>
                                    </p:animEffect>
                                    <p:anim calcmode="lin" valueType="num">
                                      <p:cBhvr>
                                        <p:cTn id="32" dur="1000" fill="hold"/>
                                        <p:tgtEl>
                                          <p:spTgt spid="28"/>
                                        </p:tgtEl>
                                        <p:attrNameLst>
                                          <p:attrName>ppt_x</p:attrName>
                                        </p:attrNameLst>
                                      </p:cBhvr>
                                      <p:tavLst>
                                        <p:tav tm="0">
                                          <p:val>
                                            <p:strVal val="#ppt_x"/>
                                          </p:val>
                                        </p:tav>
                                        <p:tav tm="100000">
                                          <p:val>
                                            <p:strVal val="#ppt_x"/>
                                          </p:val>
                                        </p:tav>
                                      </p:tavLst>
                                    </p:anim>
                                    <p:anim calcmode="lin" valueType="num">
                                      <p:cBhvr>
                                        <p:cTn id="33"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2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613535" y="1061085"/>
            <a:ext cx="6174105" cy="2584450"/>
          </a:xfrm>
          <a:prstGeom prst="rect">
            <a:avLst/>
          </a:prstGeom>
          <a:noFill/>
        </p:spPr>
        <p:txBody>
          <a:bodyPr wrap="square" rtlCol="0">
            <a:spAutoFit/>
          </a:bodyPr>
          <a:p>
            <a:pPr algn="l"/>
            <a:r>
              <a:rPr lang="zh-CN" altLang="en-US">
                <a:solidFill>
                  <a:srgbClr val="FF0000"/>
                </a:solidFill>
              </a:rPr>
              <a:t>1、font-family: 字体类型;</a:t>
            </a:r>
            <a:endParaRPr lang="zh-CN" altLang="en-US">
              <a:solidFill>
                <a:srgbClr val="FF0000"/>
              </a:solidFill>
            </a:endParaRPr>
          </a:p>
          <a:p>
            <a:pPr algn="l"/>
            <a:r>
              <a:rPr lang="zh-CN" altLang="en-US">
                <a:solidFill>
                  <a:srgbClr val="FF0000"/>
                </a:solidFill>
              </a:rPr>
              <a:t>{font-family:字体1，字体2，字体3；}</a:t>
            </a:r>
            <a:endParaRPr lang="zh-CN" altLang="en-US">
              <a:solidFill>
                <a:srgbClr val="FF0000"/>
              </a:solidFill>
            </a:endParaRPr>
          </a:p>
          <a:p>
            <a:pPr algn="l"/>
            <a:r>
              <a:rPr lang="zh-CN" altLang="en-US">
                <a:solidFill>
                  <a:srgbClr val="FF0000"/>
                </a:solidFill>
              </a:rPr>
              <a:t>      例：font-family:"微软雅黑","宋体";</a:t>
            </a:r>
            <a:endParaRPr lang="zh-CN" altLang="en-US"/>
          </a:p>
          <a:p>
            <a:pPr algn="l"/>
            <a:endParaRPr lang="zh-CN" altLang="en-US"/>
          </a:p>
          <a:p>
            <a:pPr algn="l"/>
            <a:r>
              <a:rPr lang="zh-CN" altLang="en-US"/>
              <a:t>说明：</a:t>
            </a:r>
            <a:endParaRPr lang="zh-CN" altLang="en-US"/>
          </a:p>
          <a:p>
            <a:pPr algn="l"/>
            <a:r>
              <a:rPr lang="zh-CN" altLang="en-US"/>
              <a:t>浏览器首先会寻找字体1、如存在就使用该字体来显示内容，如在字体1不存在的情况下，则会寻找字体2，如字体2也不存在，按字体3显示内容，如果字体3 也不存在；则按系统默认字体显示；</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613535" y="1061085"/>
            <a:ext cx="6174105" cy="2584450"/>
          </a:xfrm>
          <a:prstGeom prst="rect">
            <a:avLst/>
          </a:prstGeom>
          <a:noFill/>
        </p:spPr>
        <p:txBody>
          <a:bodyPr wrap="square" rtlCol="0">
            <a:spAutoFit/>
          </a:bodyPr>
          <a:p>
            <a:pPr algn="l"/>
            <a:r>
              <a:rPr lang="zh-CN" altLang="en-US"/>
              <a:t>当字体是中文字体时，需加双引号；</a:t>
            </a:r>
            <a:endParaRPr lang="zh-CN" altLang="en-US"/>
          </a:p>
          <a:p>
            <a:pPr algn="l"/>
            <a:endParaRPr lang="zh-CN" altLang="en-US"/>
          </a:p>
          <a:p>
            <a:pPr algn="l"/>
            <a:r>
              <a:rPr lang="zh-CN" altLang="en-US"/>
              <a:t>当英文字体中有空格时，需加双引号如（“Times New Roman”）</a:t>
            </a:r>
            <a:endParaRPr lang="zh-CN" altLang="en-US"/>
          </a:p>
          <a:p>
            <a:pPr algn="l"/>
            <a:endParaRPr lang="zh-CN" altLang="en-US"/>
          </a:p>
          <a:p>
            <a:pPr algn="l"/>
            <a:r>
              <a:rPr lang="zh-CN" altLang="en-US"/>
              <a:t>当英文字体只有一个单词组成是不加双引号；如：（Arial）；</a:t>
            </a:r>
            <a:endParaRPr lang="zh-CN" altLang="en-US"/>
          </a:p>
          <a:p>
            <a:pPr algn="l"/>
            <a:r>
              <a:rPr lang="zh-CN" altLang="en-US"/>
              <a:t>Windows中文版本操作系统下，中文默认字体为宋体或者新宋体，英文字体默认为Arial，新推出的版本也默认为微软雅黑</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613535" y="1061085"/>
            <a:ext cx="6174105" cy="2861310"/>
          </a:xfrm>
          <a:prstGeom prst="rect">
            <a:avLst/>
          </a:prstGeom>
          <a:noFill/>
        </p:spPr>
        <p:txBody>
          <a:bodyPr wrap="square" rtlCol="0">
            <a:spAutoFit/>
          </a:bodyPr>
          <a:p>
            <a:pPr algn="l"/>
            <a:r>
              <a:rPr lang="zh-CN" altLang="en-US">
                <a:solidFill>
                  <a:srgbClr val="FF0000"/>
                </a:solidFill>
              </a:rPr>
              <a:t>2、字体大小：{font-size:数值;}</a:t>
            </a:r>
            <a:endParaRPr lang="zh-CN" altLang="en-US">
              <a:solidFill>
                <a:srgbClr val="FF0000"/>
              </a:solidFill>
            </a:endParaRPr>
          </a:p>
          <a:p>
            <a:pPr algn="l"/>
            <a:r>
              <a:rPr lang="zh-CN" altLang="en-US">
                <a:solidFill>
                  <a:srgbClr val="FF0000"/>
                </a:solidFill>
              </a:rPr>
              <a:t>　　例：div{font-size：12px/14px；}</a:t>
            </a:r>
            <a:endParaRPr lang="zh-CN" altLang="en-US"/>
          </a:p>
          <a:p>
            <a:pPr algn="l"/>
            <a:endParaRPr lang="zh-CN" altLang="en-US"/>
          </a:p>
          <a:p>
            <a:pPr algn="l"/>
            <a:r>
              <a:rPr lang="zh-CN" altLang="en-US"/>
              <a:t>说明：</a:t>
            </a:r>
            <a:endParaRPr lang="zh-CN" altLang="en-US"/>
          </a:p>
          <a:p>
            <a:pPr algn="l"/>
            <a:r>
              <a:rPr lang="zh-CN" altLang="en-US"/>
              <a:t>1） 属性值为数值型时，必须给属性值加单位，属性值为0时除外。</a:t>
            </a:r>
            <a:endParaRPr lang="zh-CN" altLang="en-US"/>
          </a:p>
          <a:p>
            <a:pPr algn="l"/>
            <a:endParaRPr lang="zh-CN" altLang="en-US"/>
          </a:p>
          <a:p>
            <a:pPr algn="l"/>
            <a:r>
              <a:rPr lang="en-US" altLang="zh-CN"/>
              <a:t>2</a:t>
            </a:r>
            <a:r>
              <a:rPr lang="zh-CN" altLang="en-US"/>
              <a:t>）为了减小系统间的字体显示差异，IE Netscape Mozilla的浏览器制作商于1999年召开会议，共同确定16px/ppi为标准字体大小默认值,</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1772920" y="1428750"/>
            <a:ext cx="4845685" cy="2584450"/>
          </a:xfrm>
          <a:prstGeom prst="rect">
            <a:avLst/>
          </a:prstGeom>
          <a:noFill/>
        </p:spPr>
        <p:txBody>
          <a:bodyPr wrap="square" rtlCol="0" anchor="t">
            <a:spAutoFit/>
          </a:bodyPr>
          <a:p>
            <a:pPr eaLnBrk="0" hangingPunct="0"/>
            <a:r>
              <a:rPr lang="en-US" altLang="zh-CN" dirty="0">
                <a:latin typeface="宋体" panose="02010600030101010101" pitchFamily="2" charset="-122"/>
                <a:ea typeface="宋体" panose="02010600030101010101" pitchFamily="2" charset="-122"/>
                <a:sym typeface="+mn-ea"/>
              </a:rPr>
              <a:t>3</a:t>
            </a:r>
            <a:r>
              <a:rPr lang="zh-CN" altLang="en-US" dirty="0">
                <a:latin typeface="宋体" panose="02010600030101010101" pitchFamily="2" charset="-122"/>
                <a:ea typeface="宋体" panose="02010600030101010101" pitchFamily="2" charset="-122"/>
                <a:sym typeface="+mn-ea"/>
              </a:rPr>
              <a:t>)使用绝对大小关键字</a:t>
            </a:r>
            <a:endParaRPr lang="zh-CN" altLang="en-US" b="1" dirty="0">
              <a:latin typeface="宋体" panose="02010600030101010101" pitchFamily="2" charset="-122"/>
              <a:ea typeface="宋体" panose="02010600030101010101" pitchFamily="2" charset="-122"/>
              <a:sym typeface="+mn-ea"/>
            </a:endParaRPr>
          </a:p>
          <a:p>
            <a:pPr eaLnBrk="0" hangingPunct="0"/>
            <a:endParaRPr lang="zh-CN" altLang="en-US" dirty="0">
              <a:latin typeface="宋体" panose="02010600030101010101" pitchFamily="2" charset="-122"/>
              <a:ea typeface="宋体" panose="02010600030101010101" pitchFamily="2" charset="-122"/>
            </a:endParaRPr>
          </a:p>
          <a:p>
            <a:pPr lvl="1" eaLnBrk="0" hangingPunct="0"/>
            <a:r>
              <a:rPr lang="zh-CN" altLang="en-US" dirty="0">
                <a:latin typeface="宋体" panose="02010600030101010101" pitchFamily="2" charset="-122"/>
                <a:ea typeface="宋体" panose="02010600030101010101" pitchFamily="2" charset="-122"/>
                <a:sym typeface="+mn-ea"/>
              </a:rPr>
              <a:t>xx-small   =</a:t>
            </a:r>
            <a:r>
              <a:rPr lang="en-US" altLang="zh-CN" dirty="0">
                <a:latin typeface="宋体" panose="02010600030101010101" pitchFamily="2" charset="-122"/>
                <a:ea typeface="宋体" panose="02010600030101010101" pitchFamily="2" charset="-122"/>
                <a:sym typeface="+mn-ea"/>
              </a:rPr>
              <a:t>9</a:t>
            </a:r>
            <a:r>
              <a:rPr lang="zh-CN" altLang="en-US" dirty="0">
                <a:latin typeface="宋体" panose="02010600030101010101" pitchFamily="2" charset="-122"/>
                <a:ea typeface="宋体" panose="02010600030101010101" pitchFamily="2" charset="-122"/>
                <a:sym typeface="+mn-ea"/>
              </a:rPr>
              <a:t>px</a:t>
            </a:r>
            <a:endParaRPr lang="zh-CN" altLang="en-US" dirty="0">
              <a:latin typeface="宋体" panose="02010600030101010101" pitchFamily="2" charset="-122"/>
              <a:ea typeface="宋体" panose="02010600030101010101" pitchFamily="2" charset="-122"/>
            </a:endParaRPr>
          </a:p>
          <a:p>
            <a:pPr lvl="1" eaLnBrk="0" hangingPunct="0"/>
            <a:r>
              <a:rPr lang="zh-CN" altLang="en-US" dirty="0">
                <a:latin typeface="宋体" panose="02010600030101010101" pitchFamily="2" charset="-122"/>
                <a:ea typeface="宋体" panose="02010600030101010101" pitchFamily="2" charset="-122"/>
                <a:sym typeface="+mn-ea"/>
              </a:rPr>
              <a:t>x-small    =1</a:t>
            </a:r>
            <a:r>
              <a:rPr lang="en-US" altLang="zh-CN" dirty="0">
                <a:latin typeface="宋体" panose="02010600030101010101" pitchFamily="2" charset="-122"/>
                <a:ea typeface="宋体" panose="02010600030101010101" pitchFamily="2" charset="-122"/>
                <a:sym typeface="+mn-ea"/>
              </a:rPr>
              <a:t>1</a:t>
            </a:r>
            <a:r>
              <a:rPr lang="zh-CN" altLang="en-US" dirty="0">
                <a:latin typeface="宋体" panose="02010600030101010101" pitchFamily="2" charset="-122"/>
                <a:ea typeface="宋体" panose="02010600030101010101" pitchFamily="2" charset="-122"/>
                <a:sym typeface="+mn-ea"/>
              </a:rPr>
              <a:t>px</a:t>
            </a:r>
            <a:endParaRPr lang="zh-CN" altLang="en-US" dirty="0">
              <a:latin typeface="宋体" panose="02010600030101010101" pitchFamily="2" charset="-122"/>
              <a:ea typeface="宋体" panose="02010600030101010101" pitchFamily="2" charset="-122"/>
            </a:endParaRPr>
          </a:p>
          <a:p>
            <a:pPr lvl="1" eaLnBrk="0" hangingPunct="0"/>
            <a:r>
              <a:rPr lang="zh-CN" altLang="en-US" dirty="0">
                <a:latin typeface="宋体" panose="02010600030101010101" pitchFamily="2" charset="-122"/>
                <a:ea typeface="宋体" panose="02010600030101010101" pitchFamily="2" charset="-122"/>
                <a:sym typeface="+mn-ea"/>
              </a:rPr>
              <a:t>small      =13px</a:t>
            </a:r>
            <a:endParaRPr lang="zh-CN" altLang="en-US" dirty="0">
              <a:latin typeface="宋体" panose="02010600030101010101" pitchFamily="2" charset="-122"/>
              <a:ea typeface="宋体" panose="02010600030101010101" pitchFamily="2" charset="-122"/>
            </a:endParaRPr>
          </a:p>
          <a:p>
            <a:pPr lvl="1" eaLnBrk="0" hangingPunct="0"/>
            <a:r>
              <a:rPr lang="zh-CN" altLang="en-US" dirty="0">
                <a:latin typeface="宋体" panose="02010600030101010101" pitchFamily="2" charset="-122"/>
                <a:ea typeface="宋体" panose="02010600030101010101" pitchFamily="2" charset="-122"/>
                <a:sym typeface="+mn-ea"/>
              </a:rPr>
              <a:t>medium     =16px</a:t>
            </a:r>
            <a:endParaRPr lang="zh-CN" altLang="en-US" dirty="0">
              <a:latin typeface="宋体" panose="02010600030101010101" pitchFamily="2" charset="-122"/>
              <a:ea typeface="宋体" panose="02010600030101010101" pitchFamily="2" charset="-122"/>
            </a:endParaRPr>
          </a:p>
          <a:p>
            <a:pPr lvl="1" eaLnBrk="0" hangingPunct="0"/>
            <a:r>
              <a:rPr lang="zh-CN" altLang="en-US" dirty="0">
                <a:latin typeface="宋体" panose="02010600030101010101" pitchFamily="2" charset="-122"/>
                <a:ea typeface="宋体" panose="02010600030101010101" pitchFamily="2" charset="-122"/>
                <a:sym typeface="+mn-ea"/>
              </a:rPr>
              <a:t>large      =1</a:t>
            </a:r>
            <a:r>
              <a:rPr lang="en-US" altLang="zh-CN" dirty="0">
                <a:latin typeface="宋体" panose="02010600030101010101" pitchFamily="2" charset="-122"/>
                <a:ea typeface="宋体" panose="02010600030101010101" pitchFamily="2" charset="-122"/>
                <a:sym typeface="+mn-ea"/>
              </a:rPr>
              <a:t>8</a:t>
            </a:r>
            <a:r>
              <a:rPr lang="zh-CN" altLang="en-US" dirty="0">
                <a:latin typeface="宋体" panose="02010600030101010101" pitchFamily="2" charset="-122"/>
                <a:ea typeface="宋体" panose="02010600030101010101" pitchFamily="2" charset="-122"/>
                <a:sym typeface="+mn-ea"/>
              </a:rPr>
              <a:t>px</a:t>
            </a:r>
            <a:endParaRPr lang="zh-CN" altLang="en-US" dirty="0">
              <a:latin typeface="宋体" panose="02010600030101010101" pitchFamily="2" charset="-122"/>
              <a:ea typeface="宋体" panose="02010600030101010101" pitchFamily="2" charset="-122"/>
            </a:endParaRPr>
          </a:p>
          <a:p>
            <a:pPr lvl="1" eaLnBrk="0" hangingPunct="0"/>
            <a:r>
              <a:rPr lang="zh-CN" altLang="en-US" dirty="0">
                <a:latin typeface="宋体" panose="02010600030101010101" pitchFamily="2" charset="-122"/>
                <a:ea typeface="宋体" panose="02010600030101010101" pitchFamily="2" charset="-122"/>
                <a:sym typeface="+mn-ea"/>
              </a:rPr>
              <a:t>x-large    =2</a:t>
            </a:r>
            <a:r>
              <a:rPr lang="en-US" altLang="zh-CN" dirty="0">
                <a:latin typeface="宋体" panose="02010600030101010101" pitchFamily="2" charset="-122"/>
                <a:ea typeface="宋体" panose="02010600030101010101" pitchFamily="2" charset="-122"/>
                <a:sym typeface="+mn-ea"/>
              </a:rPr>
              <a:t>4</a:t>
            </a:r>
            <a:r>
              <a:rPr lang="zh-CN" altLang="en-US" dirty="0">
                <a:latin typeface="宋体" panose="02010600030101010101" pitchFamily="2" charset="-122"/>
                <a:ea typeface="宋体" panose="02010600030101010101" pitchFamily="2" charset="-122"/>
                <a:sym typeface="+mn-ea"/>
              </a:rPr>
              <a:t>px</a:t>
            </a:r>
            <a:endParaRPr lang="zh-CN" altLang="en-US" dirty="0">
              <a:latin typeface="宋体" panose="02010600030101010101" pitchFamily="2" charset="-122"/>
              <a:ea typeface="宋体" panose="02010600030101010101" pitchFamily="2" charset="-122"/>
            </a:endParaRPr>
          </a:p>
          <a:p>
            <a:pPr lvl="1" eaLnBrk="0" hangingPunct="0"/>
            <a:r>
              <a:rPr lang="zh-CN" altLang="en-US" dirty="0">
                <a:latin typeface="宋体" panose="02010600030101010101" pitchFamily="2" charset="-122"/>
                <a:ea typeface="宋体" panose="02010600030101010101" pitchFamily="2" charset="-122"/>
                <a:sym typeface="+mn-ea"/>
              </a:rPr>
              <a:t>xx-large   =</a:t>
            </a:r>
            <a:r>
              <a:rPr lang="en-US" altLang="zh-CN" dirty="0">
                <a:latin typeface="宋体" panose="02010600030101010101" pitchFamily="2" charset="-122"/>
                <a:ea typeface="宋体" panose="02010600030101010101" pitchFamily="2" charset="-122"/>
                <a:sym typeface="+mn-ea"/>
              </a:rPr>
              <a:t>32</a:t>
            </a:r>
            <a:r>
              <a:rPr lang="zh-CN" altLang="en-US" dirty="0">
                <a:latin typeface="宋体" panose="02010600030101010101" pitchFamily="2" charset="-122"/>
                <a:ea typeface="宋体" panose="02010600030101010101" pitchFamily="2" charset="-122"/>
                <a:sym typeface="+mn-ea"/>
              </a:rPr>
              <a:t>px</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613535" y="1061085"/>
            <a:ext cx="6174105" cy="3415030"/>
          </a:xfrm>
          <a:prstGeom prst="rect">
            <a:avLst/>
          </a:prstGeom>
          <a:noFill/>
        </p:spPr>
        <p:txBody>
          <a:bodyPr wrap="square" rtlCol="0">
            <a:spAutoFit/>
          </a:bodyPr>
          <a:p>
            <a:pPr algn="l"/>
            <a:r>
              <a:rPr lang="zh-CN" altLang="en-US">
                <a:solidFill>
                  <a:srgbClr val="FF0000"/>
                </a:solidFill>
              </a:rPr>
              <a:t>3、文本颜色：{color:颜色值;}</a:t>
            </a:r>
            <a:endParaRPr lang="zh-CN" altLang="en-US">
              <a:solidFill>
                <a:srgbClr val="FF0000"/>
              </a:solidFill>
            </a:endParaRPr>
          </a:p>
          <a:p>
            <a:pPr algn="l"/>
            <a:r>
              <a:rPr lang="zh-CN" altLang="en-US">
                <a:solidFill>
                  <a:srgbClr val="FF0000"/>
                </a:solidFill>
              </a:rPr>
              <a:t>　　例：div{color：red ；}</a:t>
            </a:r>
            <a:endParaRPr lang="zh-CN" altLang="en-US"/>
          </a:p>
          <a:p>
            <a:pPr algn="l"/>
            <a:r>
              <a:rPr lang="zh-CN" altLang="en-US"/>
              <a:t>说明：</a:t>
            </a:r>
            <a:endParaRPr lang="zh-CN" altLang="en-US"/>
          </a:p>
          <a:p>
            <a:pPr algn="l"/>
            <a:r>
              <a:rPr lang="zh-CN" altLang="en-US"/>
              <a:t>  （1）用十六进制表示颜色值：</a:t>
            </a:r>
            <a:endParaRPr lang="zh-CN" altLang="en-US"/>
          </a:p>
          <a:p>
            <a:pPr algn="l"/>
            <a:r>
              <a:rPr lang="zh-CN" altLang="en-US"/>
              <a:t>0  1  2  3  4   5  6  7  8  9  A  B  C  D  E  F</a:t>
            </a:r>
            <a:endParaRPr lang="zh-CN" altLang="en-US"/>
          </a:p>
          <a:p>
            <a:pPr algn="l"/>
            <a:r>
              <a:rPr lang="zh-CN" altLang="en-US"/>
              <a:t>颜色模式：光色模式 FF 00 00</a:t>
            </a:r>
            <a:endParaRPr lang="zh-CN" altLang="en-US"/>
          </a:p>
          <a:p>
            <a:pPr algn="l"/>
            <a:r>
              <a:rPr lang="zh-CN" altLang="en-US"/>
              <a:t> （2）RGB(三基色：红绿蓝)</a:t>
            </a:r>
            <a:endParaRPr lang="zh-CN" altLang="en-US"/>
          </a:p>
          <a:p>
            <a:pPr algn="l"/>
            <a:r>
              <a:rPr lang="zh-CN" altLang="en-US"/>
              <a:t> 例如：color:#F00;color:rgb(0,204,204); </a:t>
            </a:r>
            <a:endParaRPr lang="zh-CN" altLang="en-US"/>
          </a:p>
          <a:p>
            <a:pPr algn="l"/>
            <a:r>
              <a:rPr lang="zh-CN" altLang="en-US"/>
              <a:t> </a:t>
            </a:r>
            <a:r>
              <a:rPr lang="zh-CN" altLang="en-US">
                <a:sym typeface="+mn-ea"/>
              </a:rPr>
              <a:t>（</a:t>
            </a:r>
            <a:r>
              <a:rPr lang="en-US" altLang="zh-CN">
                <a:sym typeface="+mn-ea"/>
              </a:rPr>
              <a:t>3</a:t>
            </a:r>
            <a:r>
              <a:rPr lang="zh-CN" altLang="en-US">
                <a:sym typeface="+mn-ea"/>
              </a:rPr>
              <a:t>）</a:t>
            </a:r>
            <a:r>
              <a:rPr lang="zh-CN" altLang="en-US"/>
              <a:t>rgba(0,255,255,0.6 ) </a:t>
            </a:r>
            <a:endParaRPr lang="zh-CN" altLang="en-US"/>
          </a:p>
          <a:p>
            <a:pPr algn="l"/>
            <a:r>
              <a:rPr lang="zh-CN" altLang="en-US"/>
              <a:t> （4）用颜色名表示：</a:t>
            </a:r>
            <a:endParaRPr lang="zh-CN" altLang="en-US"/>
          </a:p>
          <a:p>
            <a:pPr algn="l"/>
            <a:r>
              <a:rPr lang="zh-CN" altLang="en-US"/>
              <a:t>black 纯黑    silver 浅灰      navy 深蓝</a:t>
            </a:r>
            <a:endParaRPr lang="zh-CN" altLang="en-US"/>
          </a:p>
          <a:p>
            <a:pPr algn="l"/>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613535" y="1061085"/>
            <a:ext cx="6174105" cy="2861310"/>
          </a:xfrm>
          <a:prstGeom prst="rect">
            <a:avLst/>
          </a:prstGeom>
          <a:noFill/>
        </p:spPr>
        <p:txBody>
          <a:bodyPr wrap="square" rtlCol="0">
            <a:spAutoFit/>
          </a:bodyPr>
          <a:p>
            <a:pPr algn="l"/>
            <a:r>
              <a:rPr lang="zh-CN" altLang="en-US">
                <a:solidFill>
                  <a:srgbClr val="FF0000"/>
                </a:solidFill>
              </a:rPr>
              <a:t>4、加粗：</a:t>
            </a:r>
            <a:endParaRPr lang="zh-CN" altLang="en-US">
              <a:solidFill>
                <a:srgbClr val="FF0000"/>
              </a:solidFill>
            </a:endParaRPr>
          </a:p>
          <a:p>
            <a:pPr algn="l"/>
            <a:r>
              <a:rPr lang="zh-CN" altLang="en-US">
                <a:solidFill>
                  <a:srgbClr val="FF0000"/>
                </a:solidFill>
              </a:rPr>
              <a:t>{ font-weight:bolder/bold/normal/100—900;}</a:t>
            </a:r>
            <a:endParaRPr lang="zh-CN" altLang="en-US"/>
          </a:p>
          <a:p>
            <a:pPr algn="l"/>
            <a:endParaRPr lang="zh-CN" altLang="en-US"/>
          </a:p>
          <a:p>
            <a:pPr algn="l"/>
            <a:r>
              <a:rPr lang="zh-CN" altLang="en-US"/>
              <a:t>说明：</a:t>
            </a:r>
            <a:endParaRPr lang="zh-CN" altLang="en-US"/>
          </a:p>
          <a:p>
            <a:pPr algn="l"/>
            <a:r>
              <a:rPr lang="zh-CN" altLang="en-US"/>
              <a:t>bolder(更粗的)/bold（加粗）/normal（常规）</a:t>
            </a:r>
            <a:endParaRPr lang="zh-CN" altLang="en-US"/>
          </a:p>
          <a:p>
            <a:pPr algn="l"/>
            <a:r>
              <a:rPr lang="zh-CN" altLang="en-US"/>
              <a:t>在css规范中，把字体的粗细分为9个等级，分别为100-900，其中100对应最轻的字体变形，而900对应最重的字体变形，</a:t>
            </a:r>
            <a:endParaRPr lang="zh-CN" altLang="en-US"/>
          </a:p>
          <a:p>
            <a:pPr algn="l"/>
            <a:r>
              <a:rPr lang="zh-CN" altLang="en-US"/>
              <a:t>一般</a:t>
            </a:r>
            <a:r>
              <a:rPr lang="en-US" altLang="zh-CN"/>
              <a:t>100-</a:t>
            </a:r>
            <a:r>
              <a:rPr lang="zh-CN" altLang="en-US"/>
              <a:t>500常规字体</a:t>
            </a:r>
            <a:endParaRPr lang="zh-CN" altLang="en-US"/>
          </a:p>
          <a:p>
            <a:pPr algn="l"/>
            <a:r>
              <a:rPr lang="zh-CN" altLang="en-US"/>
              <a:t>600-900加粗字体</a:t>
            </a:r>
            <a:endParaRPr lang="zh-CN" altLang="en-US"/>
          </a:p>
          <a:p>
            <a:pPr algn="l"/>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603375" y="1656080"/>
            <a:ext cx="6174105" cy="2030095"/>
          </a:xfrm>
          <a:prstGeom prst="rect">
            <a:avLst/>
          </a:prstGeom>
          <a:noFill/>
        </p:spPr>
        <p:txBody>
          <a:bodyPr wrap="square" rtlCol="0">
            <a:spAutoFit/>
          </a:bodyPr>
          <a:p>
            <a:pPr algn="l"/>
            <a:r>
              <a:rPr lang="zh-CN" altLang="en-US">
                <a:solidFill>
                  <a:srgbClr val="FF0000"/>
                </a:solidFill>
              </a:rPr>
              <a:t>5、字体倾斜：font-style：italic(倾斜度小)/oblique（倾斜度大）/normal（取消倾斜，常规显示）;</a:t>
            </a:r>
            <a:endParaRPr lang="zh-CN" altLang="en-US">
              <a:solidFill>
                <a:srgbClr val="FF0000"/>
              </a:solidFill>
            </a:endParaRPr>
          </a:p>
          <a:p>
            <a:pPr algn="l"/>
            <a:endParaRPr lang="zh-CN" altLang="en-US">
              <a:solidFill>
                <a:srgbClr val="FF0000"/>
              </a:solidFill>
            </a:endParaRPr>
          </a:p>
          <a:p>
            <a:pPr algn="l"/>
            <a:r>
              <a:rPr lang="zh-CN" altLang="en-US">
                <a:solidFill>
                  <a:schemeClr val="tx1"/>
                </a:solidFill>
              </a:rPr>
              <a:t>说明：</a:t>
            </a:r>
            <a:endParaRPr lang="zh-CN" altLang="en-US">
              <a:solidFill>
                <a:schemeClr val="tx1"/>
              </a:solidFill>
            </a:endParaRPr>
          </a:p>
          <a:p>
            <a:pPr algn="l"/>
            <a:r>
              <a:rPr lang="zh-CN" altLang="en-US">
                <a:solidFill>
                  <a:schemeClr val="tx1"/>
                </a:solidFill>
              </a:rPr>
              <a:t>1）italic和oblique都表示倾斜，不过oblique的幅度要大一点。但一般浏览器对它们的区分不是很明显。</a:t>
            </a:r>
            <a:endParaRPr lang="zh-CN" altLang="en-US">
              <a:solidFill>
                <a:srgbClr val="FF0000"/>
              </a:solidFill>
            </a:endParaRPr>
          </a:p>
          <a:p>
            <a:pPr algn="l"/>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603375" y="1656080"/>
            <a:ext cx="6174105" cy="1753235"/>
          </a:xfrm>
          <a:prstGeom prst="rect">
            <a:avLst/>
          </a:prstGeom>
          <a:noFill/>
        </p:spPr>
        <p:txBody>
          <a:bodyPr wrap="square" rtlCol="0">
            <a:spAutoFit/>
          </a:bodyPr>
          <a:p>
            <a:pPr algn="l"/>
            <a:r>
              <a:rPr lang="en-US" altLang="zh-CN">
                <a:solidFill>
                  <a:srgbClr val="FF0000"/>
                </a:solidFill>
              </a:rPr>
              <a:t>6</a:t>
            </a:r>
            <a:r>
              <a:rPr lang="zh-CN" altLang="en-US">
                <a:solidFill>
                  <a:srgbClr val="FF0000"/>
                </a:solidFill>
              </a:rPr>
              <a:t>、文本是否大小写 {font-variant:normal(正常的字体)/small-caps(小型的大写字母字体)}</a:t>
            </a:r>
            <a:endParaRPr lang="zh-CN" altLang="en-US">
              <a:solidFill>
                <a:srgbClr val="FF0000"/>
              </a:solidFill>
            </a:endParaRPr>
          </a:p>
          <a:p>
            <a:pPr algn="l"/>
            <a:endParaRPr lang="zh-CN" altLang="en-US">
              <a:solidFill>
                <a:srgbClr val="FF0000"/>
              </a:solidFill>
            </a:endParaRPr>
          </a:p>
          <a:p>
            <a:pPr algn="l"/>
            <a:r>
              <a:rPr lang="zh-CN" altLang="en-US">
                <a:solidFill>
                  <a:schemeClr val="tx1"/>
                </a:solidFill>
              </a:rPr>
              <a:t>说明：</a:t>
            </a:r>
            <a:endParaRPr lang="zh-CN" altLang="en-US">
              <a:solidFill>
                <a:schemeClr val="tx1"/>
              </a:solidFill>
            </a:endParaRPr>
          </a:p>
          <a:p>
            <a:pPr algn="l"/>
            <a:r>
              <a:rPr lang="zh-CN" altLang="en-US">
                <a:solidFill>
                  <a:schemeClr val="tx1"/>
                </a:solidFill>
              </a:rPr>
              <a:t>1）对英文内容起作用</a:t>
            </a:r>
            <a:endParaRPr lang="zh-CN" altLang="en-US">
              <a:solidFill>
                <a:srgbClr val="FF0000"/>
              </a:solidFill>
            </a:endParaRPr>
          </a:p>
          <a:p>
            <a:pPr algn="l"/>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485265" y="1165860"/>
            <a:ext cx="6174105" cy="3415030"/>
          </a:xfrm>
          <a:prstGeom prst="rect">
            <a:avLst/>
          </a:prstGeom>
          <a:noFill/>
        </p:spPr>
        <p:txBody>
          <a:bodyPr wrap="square" rtlCol="0">
            <a:spAutoFit/>
          </a:bodyPr>
          <a:p>
            <a:pPr algn="l"/>
            <a:r>
              <a:rPr>
                <a:solidFill>
                  <a:schemeClr val="tx1"/>
                </a:solidFill>
              </a:rPr>
              <a:t>说明：</a:t>
            </a:r>
            <a:endParaRPr>
              <a:solidFill>
                <a:schemeClr val="tx1"/>
              </a:solidFill>
            </a:endParaRPr>
          </a:p>
          <a:p>
            <a:pPr algn="l"/>
            <a:r>
              <a:rPr>
                <a:solidFill>
                  <a:schemeClr val="tx1"/>
                </a:solidFill>
              </a:rPr>
              <a:t>font的属性值应按以下次序书写(各个属性之间用空格隔开)</a:t>
            </a:r>
            <a:endParaRPr>
              <a:solidFill>
                <a:schemeClr val="tx1"/>
              </a:solidFill>
            </a:endParaRPr>
          </a:p>
          <a:p>
            <a:pPr algn="l"/>
            <a:endParaRPr>
              <a:solidFill>
                <a:schemeClr val="tx1"/>
              </a:solidFill>
            </a:endParaRPr>
          </a:p>
          <a:p>
            <a:pPr algn="l"/>
            <a:r>
              <a:rPr>
                <a:solidFill>
                  <a:schemeClr val="tx1"/>
                </a:solidFill>
              </a:rPr>
              <a:t>顺序: font-style | font-variant(小体大写字母) | font-weight | font-size / line-height | font-family</a:t>
            </a:r>
            <a:endParaRPr>
              <a:solidFill>
                <a:srgbClr val="FF0000"/>
              </a:solidFill>
            </a:endParaRPr>
          </a:p>
          <a:p>
            <a:pPr algn="l"/>
            <a:endParaRPr>
              <a:solidFill>
                <a:srgbClr val="FF0000"/>
              </a:solidFill>
            </a:endParaRPr>
          </a:p>
          <a:p>
            <a:pPr algn="l"/>
            <a:r>
              <a:rPr>
                <a:solidFill>
                  <a:schemeClr val="tx1"/>
                </a:solidFill>
              </a:rPr>
              <a:t>(1)简写时 , font-size和line-height只能通过斜杠/组成一个值，不能分开写。</a:t>
            </a:r>
            <a:endParaRPr>
              <a:solidFill>
                <a:schemeClr val="tx1"/>
              </a:solidFill>
            </a:endParaRPr>
          </a:p>
          <a:p>
            <a:pPr algn="l"/>
            <a:r>
              <a:rPr>
                <a:solidFill>
                  <a:schemeClr val="tx1"/>
                </a:solidFill>
              </a:rPr>
              <a:t>(2) 顺序不能改变 ,这种简写法只有在同时指定font-size和font-family属性时才起作用,而且,你没有设定font-weight , font-style , 以及font-varient , 他们会使用缺省值。</a:t>
            </a:r>
            <a:endParaRPr>
              <a:solidFill>
                <a:srgbClr val="FF0000"/>
              </a:solidFill>
            </a:endParaRPr>
          </a:p>
          <a:p>
            <a:pPr algn="l"/>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613535" y="1061085"/>
            <a:ext cx="6174105" cy="1476375"/>
          </a:xfrm>
          <a:prstGeom prst="rect">
            <a:avLst/>
          </a:prstGeom>
          <a:noFill/>
        </p:spPr>
        <p:txBody>
          <a:bodyPr wrap="square" rtlCol="0">
            <a:spAutoFit/>
          </a:bodyPr>
          <a:p>
            <a:pPr algn="l"/>
            <a:r>
              <a:rPr lang="en-US" altLang="zh-CN">
                <a:solidFill>
                  <a:srgbClr val="FF0000"/>
                </a:solidFill>
              </a:rPr>
              <a:t>7</a:t>
            </a:r>
            <a:r>
              <a:rPr lang="zh-CN" altLang="en-US">
                <a:solidFill>
                  <a:srgbClr val="FF0000"/>
                </a:solidFill>
              </a:rPr>
              <a:t>、宽度</a:t>
            </a:r>
            <a:endParaRPr lang="zh-CN" altLang="en-US">
              <a:solidFill>
                <a:srgbClr val="FF0000"/>
              </a:solidFill>
            </a:endParaRPr>
          </a:p>
          <a:p>
            <a:pPr algn="l"/>
            <a:r>
              <a:rPr lang="zh-CN" altLang="en-US">
                <a:solidFill>
                  <a:srgbClr val="FF0000"/>
                </a:solidFill>
              </a:rPr>
              <a:t>{</a:t>
            </a:r>
            <a:r>
              <a:rPr lang="en-US" altLang="zh-CN">
                <a:solidFill>
                  <a:srgbClr val="FF0000"/>
                </a:solidFill>
              </a:rPr>
              <a:t>width:30px</a:t>
            </a:r>
            <a:r>
              <a:rPr lang="zh-CN" altLang="en-US">
                <a:solidFill>
                  <a:srgbClr val="FF0000"/>
                </a:solidFill>
              </a:rPr>
              <a:t>;}</a:t>
            </a:r>
            <a:endParaRPr lang="zh-CN" altLang="en-US">
              <a:solidFill>
                <a:srgbClr val="FF0000"/>
              </a:solidFill>
            </a:endParaRPr>
          </a:p>
          <a:p>
            <a:pPr algn="l"/>
            <a:endParaRPr lang="zh-CN" altLang="en-US">
              <a:solidFill>
                <a:srgbClr val="FF0000"/>
              </a:solidFill>
            </a:endParaRPr>
          </a:p>
          <a:p>
            <a:pPr algn="l"/>
            <a:r>
              <a:rPr lang="zh-CN" altLang="en-US">
                <a:sym typeface="+mn-ea"/>
              </a:rPr>
              <a:t>说明：</a:t>
            </a:r>
            <a:endParaRPr lang="zh-CN" altLang="en-US"/>
          </a:p>
          <a:p>
            <a:pPr algn="l"/>
            <a:r>
              <a:rPr lang="zh-CN" altLang="en-US"/>
              <a:t>定义容器的宽度</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613535" y="1061085"/>
            <a:ext cx="6174105" cy="1476375"/>
          </a:xfrm>
          <a:prstGeom prst="rect">
            <a:avLst/>
          </a:prstGeom>
          <a:noFill/>
        </p:spPr>
        <p:txBody>
          <a:bodyPr wrap="square" rtlCol="0">
            <a:spAutoFit/>
          </a:bodyPr>
          <a:p>
            <a:pPr algn="l"/>
            <a:r>
              <a:rPr lang="en-US" altLang="zh-CN">
                <a:solidFill>
                  <a:srgbClr val="FF0000"/>
                </a:solidFill>
              </a:rPr>
              <a:t>8</a:t>
            </a:r>
            <a:r>
              <a:rPr lang="zh-CN" altLang="en-US">
                <a:solidFill>
                  <a:srgbClr val="FF0000"/>
                </a:solidFill>
              </a:rPr>
              <a:t>、高度</a:t>
            </a:r>
            <a:endParaRPr lang="zh-CN" altLang="en-US">
              <a:solidFill>
                <a:srgbClr val="FF0000"/>
              </a:solidFill>
            </a:endParaRPr>
          </a:p>
          <a:p>
            <a:pPr algn="l"/>
            <a:r>
              <a:rPr lang="zh-CN" altLang="en-US">
                <a:solidFill>
                  <a:srgbClr val="FF0000"/>
                </a:solidFill>
              </a:rPr>
              <a:t>{</a:t>
            </a:r>
            <a:r>
              <a:rPr lang="en-US" altLang="zh-CN">
                <a:solidFill>
                  <a:srgbClr val="FF0000"/>
                </a:solidFill>
              </a:rPr>
              <a:t>height:130px</a:t>
            </a:r>
            <a:r>
              <a:rPr lang="zh-CN" altLang="en-US">
                <a:solidFill>
                  <a:srgbClr val="FF0000"/>
                </a:solidFill>
              </a:rPr>
              <a:t>;}</a:t>
            </a:r>
            <a:endParaRPr lang="zh-CN" altLang="en-US">
              <a:solidFill>
                <a:srgbClr val="FF0000"/>
              </a:solidFill>
            </a:endParaRPr>
          </a:p>
          <a:p>
            <a:pPr algn="l"/>
            <a:endParaRPr lang="zh-CN" altLang="en-US">
              <a:solidFill>
                <a:srgbClr val="FF0000"/>
              </a:solidFill>
            </a:endParaRPr>
          </a:p>
          <a:p>
            <a:pPr algn="l"/>
            <a:r>
              <a:rPr lang="zh-CN" altLang="en-US">
                <a:sym typeface="+mn-ea"/>
              </a:rPr>
              <a:t>说明：</a:t>
            </a:r>
            <a:endParaRPr lang="zh-CN" altLang="en-US"/>
          </a:p>
          <a:p>
            <a:pPr algn="l"/>
            <a:r>
              <a:rPr lang="zh-CN" altLang="en-US"/>
              <a:t>定义容器的高度</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613535" y="1061085"/>
            <a:ext cx="6174105" cy="2030095"/>
          </a:xfrm>
          <a:prstGeom prst="rect">
            <a:avLst/>
          </a:prstGeom>
          <a:noFill/>
        </p:spPr>
        <p:txBody>
          <a:bodyPr wrap="square" rtlCol="0">
            <a:spAutoFit/>
          </a:bodyPr>
          <a:p>
            <a:pPr algn="l"/>
            <a:r>
              <a:rPr lang="en-US" altLang="zh-CN">
                <a:solidFill>
                  <a:srgbClr val="FF0000"/>
                </a:solidFill>
              </a:rPr>
              <a:t>9</a:t>
            </a:r>
            <a:r>
              <a:rPr lang="zh-CN" altLang="en-US">
                <a:solidFill>
                  <a:srgbClr val="FF0000"/>
                </a:solidFill>
              </a:rPr>
              <a:t>、水平对齐方式 </a:t>
            </a:r>
            <a:endParaRPr lang="zh-CN" altLang="en-US">
              <a:solidFill>
                <a:srgbClr val="FF0000"/>
              </a:solidFill>
            </a:endParaRPr>
          </a:p>
          <a:p>
            <a:pPr algn="l"/>
            <a:r>
              <a:rPr lang="zh-CN" altLang="en-US">
                <a:solidFill>
                  <a:srgbClr val="FF0000"/>
                </a:solidFill>
              </a:rPr>
              <a:t>{text-align:left/right/center;}</a:t>
            </a:r>
            <a:endParaRPr lang="zh-CN" altLang="en-US">
              <a:solidFill>
                <a:srgbClr val="FF0000"/>
              </a:solidFill>
            </a:endParaRPr>
          </a:p>
          <a:p>
            <a:pPr algn="l"/>
            <a:endParaRPr lang="zh-CN" altLang="en-US">
              <a:solidFill>
                <a:srgbClr val="FF0000"/>
              </a:solidFill>
            </a:endParaRPr>
          </a:p>
          <a:p>
            <a:pPr algn="l"/>
            <a:r>
              <a:rPr lang="zh-CN" altLang="en-US">
                <a:sym typeface="+mn-ea"/>
              </a:rPr>
              <a:t>说明：</a:t>
            </a:r>
            <a:endParaRPr lang="zh-CN" altLang="en-US"/>
          </a:p>
          <a:p>
            <a:pPr algn="l"/>
            <a:r>
              <a:rPr lang="en-US" altLang="zh-CN"/>
              <a:t>left: </a:t>
            </a:r>
            <a:r>
              <a:rPr lang="zh-CN" altLang="en-US"/>
              <a:t>左对齐</a:t>
            </a:r>
            <a:endParaRPr lang="zh-CN" altLang="en-US"/>
          </a:p>
          <a:p>
            <a:pPr algn="l"/>
            <a:r>
              <a:rPr lang="en-US" altLang="zh-CN"/>
              <a:t>right:</a:t>
            </a:r>
            <a:r>
              <a:rPr lang="zh-CN" altLang="en-US"/>
              <a:t>右对齐</a:t>
            </a:r>
            <a:endParaRPr lang="zh-CN" altLang="en-US"/>
          </a:p>
          <a:p>
            <a:pPr algn="l"/>
            <a:r>
              <a:rPr lang="en-US" altLang="zh-CN"/>
              <a:t>center</a:t>
            </a:r>
            <a:r>
              <a:rPr lang="zh-CN" altLang="en-US"/>
              <a:t>：居中</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582420" y="2031365"/>
            <a:ext cx="6174105" cy="645160"/>
          </a:xfrm>
          <a:prstGeom prst="rect">
            <a:avLst/>
          </a:prstGeom>
          <a:noFill/>
        </p:spPr>
        <p:txBody>
          <a:bodyPr wrap="square" rtlCol="0">
            <a:spAutoFit/>
          </a:bodyPr>
          <a:p>
            <a:pPr algn="l"/>
            <a:r>
              <a:rPr lang="en-US">
                <a:solidFill>
                  <a:srgbClr val="FF0000"/>
                </a:solidFill>
              </a:rPr>
              <a:t>10</a:t>
            </a:r>
            <a:r>
              <a:rPr>
                <a:solidFill>
                  <a:srgbClr val="FF0000"/>
                </a:solidFill>
              </a:rPr>
              <a:t>、垂直对齐方式 </a:t>
            </a:r>
            <a:endParaRPr>
              <a:solidFill>
                <a:srgbClr val="FF0000"/>
              </a:solidFill>
            </a:endParaRPr>
          </a:p>
          <a:p>
            <a:pPr algn="l"/>
            <a:r>
              <a:rPr>
                <a:solidFill>
                  <a:srgbClr val="FF0000"/>
                </a:solidFill>
              </a:rPr>
              <a:t> {vertical-align:top/bottom/middle;}img/input</a:t>
            </a:r>
            <a:endParaRPr>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613535" y="1061085"/>
            <a:ext cx="6174105" cy="3969385"/>
          </a:xfrm>
          <a:prstGeom prst="rect">
            <a:avLst/>
          </a:prstGeom>
          <a:noFill/>
        </p:spPr>
        <p:txBody>
          <a:bodyPr wrap="square" rtlCol="0">
            <a:spAutoFit/>
          </a:bodyPr>
          <a:p>
            <a:pPr algn="l"/>
            <a:r>
              <a:rPr lang="en-US" altLang="zh-CN">
                <a:solidFill>
                  <a:srgbClr val="FF0000"/>
                </a:solidFill>
              </a:rPr>
              <a:t>11</a:t>
            </a:r>
            <a:r>
              <a:rPr lang="zh-CN" altLang="en-US">
                <a:solidFill>
                  <a:srgbClr val="FF0000"/>
                </a:solidFill>
              </a:rPr>
              <a:t>、行高{line-height:数值;}</a:t>
            </a:r>
            <a:endParaRPr lang="zh-CN" altLang="en-US">
              <a:solidFill>
                <a:srgbClr val="FF0000"/>
              </a:solidFill>
            </a:endParaRPr>
          </a:p>
          <a:p>
            <a:pPr algn="l"/>
            <a:endParaRPr lang="zh-CN" altLang="en-US">
              <a:solidFill>
                <a:srgbClr val="FF0000"/>
              </a:solidFill>
            </a:endParaRPr>
          </a:p>
          <a:p>
            <a:pPr algn="l"/>
            <a:r>
              <a:rPr lang="zh-CN" altLang="en-US">
                <a:solidFill>
                  <a:schemeClr val="tx1"/>
                </a:solidFill>
              </a:rPr>
              <a:t>说明：</a:t>
            </a:r>
            <a:endParaRPr lang="zh-CN" altLang="en-US">
              <a:solidFill>
                <a:schemeClr val="tx1"/>
              </a:solidFill>
            </a:endParaRPr>
          </a:p>
          <a:p>
            <a:pPr algn="l"/>
            <a:endParaRPr lang="zh-CN" altLang="en-US">
              <a:solidFill>
                <a:schemeClr val="tx1"/>
              </a:solidFill>
            </a:endParaRPr>
          </a:p>
          <a:p>
            <a:pPr algn="l"/>
            <a:r>
              <a:rPr lang="zh-CN" altLang="en-US">
                <a:solidFill>
                  <a:schemeClr val="tx1"/>
                </a:solidFill>
              </a:rPr>
              <a:t>1）当单行文本的行高等于容器高时，可实现单行文本在容器中垂直方向居中对齐；</a:t>
            </a:r>
            <a:endParaRPr lang="zh-CN" altLang="en-US">
              <a:solidFill>
                <a:schemeClr val="tx1"/>
              </a:solidFill>
            </a:endParaRPr>
          </a:p>
          <a:p>
            <a:pPr algn="l"/>
            <a:endParaRPr lang="zh-CN" altLang="en-US">
              <a:solidFill>
                <a:schemeClr val="tx1"/>
              </a:solidFill>
            </a:endParaRPr>
          </a:p>
          <a:p>
            <a:pPr algn="l"/>
            <a:r>
              <a:rPr lang="zh-CN" altLang="en-US">
                <a:solidFill>
                  <a:schemeClr val="tx1"/>
                </a:solidFill>
              </a:rPr>
              <a:t>2)   当单行文本的行高小于容器高时，可实现单行文本在容器中垂直中齐以上任意位置的定位；</a:t>
            </a:r>
            <a:endParaRPr lang="zh-CN" altLang="en-US">
              <a:solidFill>
                <a:schemeClr val="tx1"/>
              </a:solidFill>
            </a:endParaRPr>
          </a:p>
          <a:p>
            <a:pPr algn="l"/>
            <a:endParaRPr lang="zh-CN" altLang="en-US">
              <a:solidFill>
                <a:schemeClr val="tx1"/>
              </a:solidFill>
            </a:endParaRPr>
          </a:p>
          <a:p>
            <a:pPr algn="l"/>
            <a:r>
              <a:rPr lang="zh-CN" altLang="en-US">
                <a:solidFill>
                  <a:schemeClr val="tx1"/>
                </a:solidFill>
              </a:rPr>
              <a:t>3)   当单行文本的行高大于容器高时，可实现单行文本在容器中垂直中齐以下任意位置的定位。（IE6及以下版本存在浏览器兼容问题）</a:t>
            </a:r>
            <a:endParaRPr lang="zh-CN" altLang="en-US">
              <a:solidFill>
                <a:schemeClr val="tx1"/>
              </a:solidFill>
            </a:endParaRPr>
          </a:p>
          <a:p>
            <a:pPr algn="l"/>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613535" y="1061085"/>
            <a:ext cx="6174105" cy="2306955"/>
          </a:xfrm>
          <a:prstGeom prst="rect">
            <a:avLst/>
          </a:prstGeom>
          <a:noFill/>
        </p:spPr>
        <p:txBody>
          <a:bodyPr wrap="square" rtlCol="0">
            <a:spAutoFit/>
          </a:bodyPr>
          <a:p>
            <a:pPr algn="l"/>
            <a:endParaRPr lang="zh-CN" altLang="en-US">
              <a:solidFill>
                <a:schemeClr val="tx1"/>
              </a:solidFill>
            </a:endParaRPr>
          </a:p>
          <a:p>
            <a:pPr algn="l"/>
            <a:endParaRPr lang="zh-CN" altLang="en-US">
              <a:solidFill>
                <a:schemeClr val="tx1"/>
              </a:solidFill>
            </a:endParaRPr>
          </a:p>
          <a:p>
            <a:pPr algn="l"/>
            <a:r>
              <a:rPr lang="zh-CN" altLang="en-US">
                <a:solidFill>
                  <a:schemeClr val="tx1"/>
                </a:solidFill>
              </a:rPr>
              <a:t>倍行高：{line-height:2;} 2倍 ，</a:t>
            </a:r>
            <a:endParaRPr lang="zh-CN" altLang="en-US">
              <a:solidFill>
                <a:schemeClr val="tx1"/>
              </a:solidFill>
            </a:endParaRPr>
          </a:p>
          <a:p>
            <a:pPr algn="l"/>
            <a:r>
              <a:rPr lang="zh-CN" altLang="en-US">
                <a:solidFill>
                  <a:schemeClr val="tx1"/>
                </a:solidFill>
              </a:rPr>
              <a:t>        {line-height:1.5;}1.5倍；</a:t>
            </a:r>
            <a:endParaRPr lang="zh-CN" altLang="en-US">
              <a:solidFill>
                <a:schemeClr val="tx1"/>
              </a:solidFill>
            </a:endParaRPr>
          </a:p>
          <a:p>
            <a:pPr algn="l"/>
            <a:endParaRPr lang="zh-CN" altLang="en-US">
              <a:solidFill>
                <a:schemeClr val="tx1"/>
              </a:solidFill>
            </a:endParaRPr>
          </a:p>
          <a:p>
            <a:pPr algn="l"/>
            <a:r>
              <a:rPr lang="zh-CN" altLang="en-US">
                <a:solidFill>
                  <a:schemeClr val="tx1"/>
                </a:solidFill>
              </a:rPr>
              <a:t>注：当使用倍行高为单位时，不加PX；按字体大小的倍数而设置。</a:t>
            </a:r>
            <a:endParaRPr lang="zh-CN" altLang="en-US">
              <a:solidFill>
                <a:schemeClr val="tx1"/>
              </a:solidFill>
            </a:endParaRPr>
          </a:p>
          <a:p>
            <a:pPr algn="l"/>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613535" y="1061085"/>
            <a:ext cx="6174105" cy="3138170"/>
          </a:xfrm>
          <a:prstGeom prst="rect">
            <a:avLst/>
          </a:prstGeom>
          <a:noFill/>
        </p:spPr>
        <p:txBody>
          <a:bodyPr wrap="square" rtlCol="0">
            <a:spAutoFit/>
          </a:bodyPr>
          <a:p>
            <a:pPr algn="l"/>
            <a:endParaRPr lang="zh-CN" altLang="en-US">
              <a:solidFill>
                <a:schemeClr val="tx1"/>
              </a:solidFill>
            </a:endParaRPr>
          </a:p>
          <a:p>
            <a:pPr algn="l"/>
            <a:r>
              <a:rPr lang="en-US" altLang="zh-CN">
                <a:solidFill>
                  <a:srgbClr val="FF0000"/>
                </a:solidFill>
              </a:rPr>
              <a:t>12</a:t>
            </a:r>
            <a:r>
              <a:rPr lang="zh-CN" altLang="en-US">
                <a:solidFill>
                  <a:srgbClr val="FF0000"/>
                </a:solidFill>
              </a:rPr>
              <a:t>、文本修饰：</a:t>
            </a:r>
            <a:endParaRPr lang="zh-CN" altLang="en-US">
              <a:solidFill>
                <a:srgbClr val="FF0000"/>
              </a:solidFill>
            </a:endParaRPr>
          </a:p>
          <a:p>
            <a:pPr algn="l"/>
            <a:r>
              <a:rPr lang="zh-CN" altLang="en-US">
                <a:solidFill>
                  <a:srgbClr val="FF0000"/>
                </a:solidFill>
              </a:rPr>
              <a:t>text-decoration:none/underline/overline/line-through</a:t>
            </a:r>
            <a:endParaRPr lang="zh-CN" altLang="en-US">
              <a:solidFill>
                <a:schemeClr val="tx1"/>
              </a:solidFill>
            </a:endParaRPr>
          </a:p>
          <a:p>
            <a:pPr algn="l"/>
            <a:endParaRPr lang="zh-CN" altLang="en-US">
              <a:solidFill>
                <a:schemeClr val="tx1"/>
              </a:solidFill>
            </a:endParaRPr>
          </a:p>
          <a:p>
            <a:pPr algn="l"/>
            <a:r>
              <a:rPr lang="zh-CN" altLang="en-US">
                <a:solidFill>
                  <a:schemeClr val="tx1"/>
                </a:solidFill>
              </a:rPr>
              <a:t>说明：</a:t>
            </a:r>
            <a:endParaRPr lang="zh-CN" altLang="en-US">
              <a:solidFill>
                <a:schemeClr val="tx1"/>
              </a:solidFill>
            </a:endParaRPr>
          </a:p>
          <a:p>
            <a:pPr algn="l"/>
            <a:endParaRPr lang="zh-CN" altLang="en-US">
              <a:solidFill>
                <a:schemeClr val="tx1"/>
              </a:solidFill>
            </a:endParaRPr>
          </a:p>
          <a:p>
            <a:pPr algn="l"/>
            <a:r>
              <a:rPr lang="zh-CN" altLang="en-US">
                <a:solidFill>
                  <a:schemeClr val="tx1"/>
                </a:solidFill>
              </a:rPr>
              <a:t>none:没有修饰</a:t>
            </a:r>
            <a:endParaRPr lang="zh-CN" altLang="en-US">
              <a:solidFill>
                <a:schemeClr val="tx1"/>
              </a:solidFill>
            </a:endParaRPr>
          </a:p>
          <a:p>
            <a:pPr algn="l"/>
            <a:r>
              <a:rPr lang="zh-CN" altLang="en-US">
                <a:solidFill>
                  <a:schemeClr val="tx1"/>
                </a:solidFill>
              </a:rPr>
              <a:t>underline:添加下划线</a:t>
            </a:r>
            <a:endParaRPr lang="zh-CN" altLang="en-US">
              <a:solidFill>
                <a:schemeClr val="tx1"/>
              </a:solidFill>
            </a:endParaRPr>
          </a:p>
          <a:p>
            <a:pPr algn="l"/>
            <a:r>
              <a:rPr lang="zh-CN" altLang="en-US">
                <a:solidFill>
                  <a:schemeClr val="tx1"/>
                </a:solidFill>
              </a:rPr>
              <a:t>overline:添加上划线</a:t>
            </a:r>
            <a:endParaRPr lang="zh-CN" altLang="en-US">
              <a:solidFill>
                <a:schemeClr val="tx1"/>
              </a:solidFill>
            </a:endParaRPr>
          </a:p>
          <a:p>
            <a:pPr algn="l"/>
            <a:r>
              <a:rPr lang="zh-CN" altLang="en-US">
                <a:solidFill>
                  <a:schemeClr val="tx1"/>
                </a:solidFill>
              </a:rPr>
              <a:t>line-through:添加删除线</a:t>
            </a:r>
            <a:endParaRPr lang="zh-CN" altLang="en-US">
              <a:solidFill>
                <a:schemeClr val="tx1"/>
              </a:solidFill>
            </a:endParaRPr>
          </a:p>
          <a:p>
            <a:pPr algn="l"/>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613535" y="1061085"/>
            <a:ext cx="6174105" cy="3138170"/>
          </a:xfrm>
          <a:prstGeom prst="rect">
            <a:avLst/>
          </a:prstGeom>
          <a:noFill/>
        </p:spPr>
        <p:txBody>
          <a:bodyPr wrap="square" rtlCol="0">
            <a:spAutoFit/>
          </a:bodyPr>
          <a:p>
            <a:pPr algn="l"/>
            <a:endParaRPr lang="zh-CN" altLang="en-US">
              <a:solidFill>
                <a:schemeClr val="tx1"/>
              </a:solidFill>
            </a:endParaRPr>
          </a:p>
          <a:p>
            <a:pPr algn="l"/>
            <a:r>
              <a:rPr>
                <a:solidFill>
                  <a:srgbClr val="FF0000"/>
                </a:solidFill>
              </a:rPr>
              <a:t>1</a:t>
            </a:r>
            <a:r>
              <a:rPr lang="en-US">
                <a:solidFill>
                  <a:srgbClr val="FF0000"/>
                </a:solidFill>
              </a:rPr>
              <a:t>3</a:t>
            </a:r>
            <a:r>
              <a:rPr>
                <a:solidFill>
                  <a:srgbClr val="FF0000"/>
                </a:solidFill>
              </a:rPr>
              <a:t>、首行缩进：text-indent:数值；</a:t>
            </a:r>
            <a:endParaRPr>
              <a:solidFill>
                <a:srgbClr val="FF0000"/>
              </a:solidFill>
            </a:endParaRPr>
          </a:p>
          <a:p>
            <a:pPr algn="l"/>
            <a:r>
              <a:rPr>
                <a:solidFill>
                  <a:srgbClr val="FF0000"/>
                </a:solidFill>
              </a:rPr>
              <a:t>设置第一行的缩进值，负值是向前进（可以直接设置长度，或设置百分比）</a:t>
            </a:r>
            <a:endParaRPr>
              <a:solidFill>
                <a:srgbClr val="FF0000"/>
              </a:solidFill>
            </a:endParaRPr>
          </a:p>
          <a:p>
            <a:pPr algn="l"/>
            <a:endParaRPr>
              <a:solidFill>
                <a:srgbClr val="FF0000"/>
              </a:solidFill>
            </a:endParaRPr>
          </a:p>
          <a:p>
            <a:pPr algn="l"/>
            <a:r>
              <a:rPr>
                <a:solidFill>
                  <a:schemeClr val="tx1"/>
                </a:solidFill>
              </a:rPr>
              <a:t>说明：</a:t>
            </a:r>
            <a:endParaRPr>
              <a:solidFill>
                <a:schemeClr val="tx1"/>
              </a:solidFill>
            </a:endParaRPr>
          </a:p>
          <a:p>
            <a:pPr algn="l"/>
            <a:endParaRPr>
              <a:solidFill>
                <a:schemeClr val="tx1"/>
              </a:solidFill>
            </a:endParaRPr>
          </a:p>
          <a:p>
            <a:pPr algn="l"/>
            <a:r>
              <a:rPr>
                <a:solidFill>
                  <a:schemeClr val="tx1"/>
                </a:solidFill>
              </a:rPr>
              <a:t>1）text-indent可以取负值，可实现隐藏文本，悬挂缩进。</a:t>
            </a:r>
            <a:endParaRPr>
              <a:solidFill>
                <a:schemeClr val="tx1"/>
              </a:solidFill>
            </a:endParaRPr>
          </a:p>
          <a:p>
            <a:pPr algn="l"/>
            <a:r>
              <a:rPr>
                <a:solidFill>
                  <a:schemeClr val="tx1"/>
                </a:solidFill>
              </a:rPr>
              <a:t>2）text-indent属性只对第一行起作用，若第一行不是文本则没变化。</a:t>
            </a:r>
            <a:endParaRPr>
              <a:solidFill>
                <a:srgbClr val="FF0000"/>
              </a:solidFill>
            </a:endParaRPr>
          </a:p>
          <a:p>
            <a:pPr algn="l"/>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613535" y="1061085"/>
            <a:ext cx="6174105" cy="2030095"/>
          </a:xfrm>
          <a:prstGeom prst="rect">
            <a:avLst/>
          </a:prstGeom>
          <a:noFill/>
        </p:spPr>
        <p:txBody>
          <a:bodyPr wrap="square" rtlCol="0">
            <a:spAutoFit/>
          </a:bodyPr>
          <a:p>
            <a:pPr algn="l"/>
            <a:endParaRPr lang="zh-CN" altLang="en-US">
              <a:solidFill>
                <a:schemeClr val="tx1"/>
              </a:solidFill>
            </a:endParaRPr>
          </a:p>
          <a:p>
            <a:pPr algn="l"/>
            <a:r>
              <a:rPr>
                <a:solidFill>
                  <a:srgbClr val="FF0000"/>
                </a:solidFill>
              </a:rPr>
              <a:t>1</a:t>
            </a:r>
            <a:r>
              <a:rPr lang="en-US">
                <a:solidFill>
                  <a:srgbClr val="FF0000"/>
                </a:solidFill>
              </a:rPr>
              <a:t>4</a:t>
            </a:r>
            <a:r>
              <a:rPr>
                <a:solidFill>
                  <a:srgbClr val="FF0000"/>
                </a:solidFill>
              </a:rPr>
              <a:t>、字符间距 {letter-spacing:value;}</a:t>
            </a:r>
            <a:endParaRPr>
              <a:solidFill>
                <a:srgbClr val="FF0000"/>
              </a:solidFill>
            </a:endParaRPr>
          </a:p>
          <a:p>
            <a:pPr algn="l"/>
            <a:r>
              <a:rPr>
                <a:solidFill>
                  <a:srgbClr val="FF0000"/>
                </a:solidFill>
              </a:rPr>
              <a:t>      控制字与字的字距</a:t>
            </a:r>
            <a:endParaRPr>
              <a:solidFill>
                <a:srgbClr val="FF0000"/>
              </a:solidFill>
            </a:endParaRPr>
          </a:p>
          <a:p>
            <a:pPr algn="l"/>
            <a:endParaRPr>
              <a:solidFill>
                <a:srgbClr val="FF0000"/>
              </a:solidFill>
            </a:endParaRPr>
          </a:p>
          <a:p>
            <a:pPr algn="l"/>
            <a:r>
              <a:rPr>
                <a:solidFill>
                  <a:schemeClr val="tx1"/>
                </a:solidFill>
              </a:rPr>
              <a:t>说明：</a:t>
            </a:r>
            <a:endParaRPr>
              <a:solidFill>
                <a:schemeClr val="tx1"/>
              </a:solidFill>
            </a:endParaRPr>
          </a:p>
          <a:p>
            <a:pPr algn="l"/>
            <a:r>
              <a:rPr>
                <a:solidFill>
                  <a:schemeClr val="tx1"/>
                </a:solidFill>
              </a:rPr>
              <a:t>     每个文字以及字母之间的间隔，</a:t>
            </a:r>
            <a:endParaRPr>
              <a:solidFill>
                <a:srgbClr val="FF0000"/>
              </a:solidFill>
            </a:endParaRPr>
          </a:p>
          <a:p>
            <a:pPr algn="l"/>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613535" y="1061085"/>
            <a:ext cx="6174105" cy="2030095"/>
          </a:xfrm>
          <a:prstGeom prst="rect">
            <a:avLst/>
          </a:prstGeom>
          <a:noFill/>
        </p:spPr>
        <p:txBody>
          <a:bodyPr wrap="square" rtlCol="0">
            <a:spAutoFit/>
          </a:bodyPr>
          <a:p>
            <a:pPr algn="l"/>
            <a:endParaRPr lang="zh-CN" altLang="en-US">
              <a:solidFill>
                <a:schemeClr val="tx1"/>
              </a:solidFill>
            </a:endParaRPr>
          </a:p>
          <a:p>
            <a:pPr algn="l"/>
            <a:r>
              <a:rPr>
                <a:solidFill>
                  <a:srgbClr val="FF0000"/>
                </a:solidFill>
              </a:rPr>
              <a:t>1</a:t>
            </a:r>
            <a:r>
              <a:rPr lang="en-US">
                <a:solidFill>
                  <a:srgbClr val="FF0000"/>
                </a:solidFill>
              </a:rPr>
              <a:t>5</a:t>
            </a:r>
            <a:r>
              <a:rPr>
                <a:solidFill>
                  <a:srgbClr val="FF0000"/>
                </a:solidFill>
              </a:rPr>
              <a:t>、词间距 {word-spacing:normal/数值;}控制英文单词词距。（通用于英文词和词之间的间距）</a:t>
            </a:r>
            <a:endParaRPr>
              <a:solidFill>
                <a:srgbClr val="FF0000"/>
              </a:solidFill>
            </a:endParaRPr>
          </a:p>
          <a:p>
            <a:pPr algn="l"/>
            <a:endParaRPr>
              <a:solidFill>
                <a:srgbClr val="FF0000"/>
              </a:solidFill>
            </a:endParaRPr>
          </a:p>
          <a:p>
            <a:pPr algn="l"/>
            <a:r>
              <a:rPr>
                <a:solidFill>
                  <a:schemeClr val="tx1"/>
                </a:solidFill>
              </a:rPr>
              <a:t>说明：</a:t>
            </a:r>
            <a:endParaRPr>
              <a:solidFill>
                <a:schemeClr val="tx1"/>
              </a:solidFill>
            </a:endParaRPr>
          </a:p>
          <a:p>
            <a:pPr algn="l"/>
            <a:r>
              <a:rPr>
                <a:solidFill>
                  <a:schemeClr val="tx1"/>
                </a:solidFill>
              </a:rPr>
              <a:t>    完整的单词之间的间隔，不是字母之间</a:t>
            </a:r>
            <a:endParaRPr>
              <a:solidFill>
                <a:srgbClr val="FF0000"/>
              </a:solidFill>
            </a:endParaRPr>
          </a:p>
          <a:p>
            <a:pPr algn="l"/>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613535" y="1593215"/>
            <a:ext cx="6174105" cy="1476375"/>
          </a:xfrm>
          <a:prstGeom prst="rect">
            <a:avLst/>
          </a:prstGeom>
          <a:noFill/>
        </p:spPr>
        <p:txBody>
          <a:bodyPr wrap="square" rtlCol="0">
            <a:spAutoFit/>
          </a:bodyPr>
          <a:p>
            <a:pPr algn="l"/>
            <a:endParaRPr lang="zh-CN" altLang="en-US">
              <a:solidFill>
                <a:schemeClr val="tx1"/>
              </a:solidFill>
            </a:endParaRPr>
          </a:p>
          <a:p>
            <a:pPr algn="l"/>
            <a:r>
              <a:rPr>
                <a:solidFill>
                  <a:srgbClr val="FF0000"/>
                </a:solidFill>
              </a:rPr>
              <a:t>1</a:t>
            </a:r>
            <a:r>
              <a:rPr lang="en-US">
                <a:solidFill>
                  <a:srgbClr val="FF0000"/>
                </a:solidFill>
              </a:rPr>
              <a:t>6</a:t>
            </a:r>
            <a:r>
              <a:rPr>
                <a:solidFill>
                  <a:srgbClr val="FF0000"/>
                </a:solidFill>
              </a:rPr>
              <a:t>、控制文本大小写</a:t>
            </a:r>
            <a:endParaRPr>
              <a:solidFill>
                <a:srgbClr val="FF0000"/>
              </a:solidFill>
            </a:endParaRPr>
          </a:p>
          <a:p>
            <a:pPr algn="l"/>
            <a:r>
              <a:rPr>
                <a:solidFill>
                  <a:srgbClr val="FF0000"/>
                </a:solidFill>
              </a:rPr>
              <a:t>text-transform: none(默认值)/capitalize(每个单词首字母大写)/uppercase (都为大写字母)/lowercase ( 都为小写字母 )</a:t>
            </a:r>
            <a:endParaRPr>
              <a:solidFill>
                <a:srgbClr val="FF0000"/>
              </a:solidFill>
            </a:endParaRPr>
          </a:p>
          <a:p>
            <a:pPr algn="l"/>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613535" y="1593215"/>
            <a:ext cx="6174105" cy="2030095"/>
          </a:xfrm>
          <a:prstGeom prst="rect">
            <a:avLst/>
          </a:prstGeom>
          <a:noFill/>
        </p:spPr>
        <p:txBody>
          <a:bodyPr wrap="square" rtlCol="0">
            <a:spAutoFit/>
          </a:bodyPr>
          <a:p>
            <a:pPr algn="l"/>
            <a:endParaRPr lang="zh-CN" altLang="en-US">
              <a:solidFill>
                <a:schemeClr val="tx1"/>
              </a:solidFill>
            </a:endParaRPr>
          </a:p>
          <a:p>
            <a:pPr algn="l"/>
            <a:r>
              <a:rPr>
                <a:solidFill>
                  <a:srgbClr val="FF0000"/>
                </a:solidFill>
              </a:rPr>
              <a:t>1</a:t>
            </a:r>
            <a:r>
              <a:rPr lang="en-US">
                <a:solidFill>
                  <a:srgbClr val="FF0000"/>
                </a:solidFill>
              </a:rPr>
              <a:t>7</a:t>
            </a:r>
            <a:r>
              <a:rPr>
                <a:solidFill>
                  <a:srgbClr val="FF0000"/>
                </a:solidFill>
              </a:rPr>
              <a:t>、文本阴影  text-shadow     </a:t>
            </a:r>
            <a:endParaRPr>
              <a:solidFill>
                <a:srgbClr val="FF0000"/>
              </a:solidFill>
            </a:endParaRPr>
          </a:p>
          <a:p>
            <a:pPr algn="l"/>
            <a:endParaRPr>
              <a:solidFill>
                <a:srgbClr val="FF0000"/>
              </a:solidFill>
            </a:endParaRPr>
          </a:p>
          <a:p>
            <a:pPr algn="l"/>
            <a:r>
              <a:rPr>
                <a:solidFill>
                  <a:schemeClr val="tx1"/>
                </a:solidFill>
              </a:rPr>
              <a:t> 例：text-shadow: 5px 5px 5px #FF0000; </a:t>
            </a:r>
            <a:endParaRPr>
              <a:solidFill>
                <a:srgbClr val="FF0000"/>
              </a:solidFill>
            </a:endParaRPr>
          </a:p>
          <a:p>
            <a:pPr algn="l"/>
            <a:r>
              <a:rPr>
                <a:solidFill>
                  <a:schemeClr val="tx1"/>
                </a:solidFill>
              </a:rPr>
              <a:t>分别表示：水平偏移值，垂直偏移值，模糊的半径，阴影的颜色）</a:t>
            </a:r>
            <a:endParaRPr>
              <a:solidFill>
                <a:srgbClr val="FF0000"/>
              </a:solidFill>
            </a:endParaRPr>
          </a:p>
          <a:p>
            <a:pPr algn="l"/>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581785" y="1217930"/>
            <a:ext cx="6174105" cy="3415030"/>
          </a:xfrm>
          <a:prstGeom prst="rect">
            <a:avLst/>
          </a:prstGeom>
          <a:noFill/>
        </p:spPr>
        <p:txBody>
          <a:bodyPr wrap="square" rtlCol="0">
            <a:spAutoFit/>
          </a:bodyPr>
          <a:p>
            <a:pPr algn="l"/>
            <a:endParaRPr lang="zh-CN" altLang="en-US">
              <a:solidFill>
                <a:schemeClr val="tx1"/>
              </a:solidFill>
            </a:endParaRPr>
          </a:p>
          <a:p>
            <a:pPr algn="l"/>
            <a:r>
              <a:rPr>
                <a:solidFill>
                  <a:srgbClr val="FF0000"/>
                </a:solidFill>
              </a:rPr>
              <a:t>1</a:t>
            </a:r>
            <a:r>
              <a:rPr lang="en-US">
                <a:solidFill>
                  <a:srgbClr val="FF0000"/>
                </a:solidFill>
              </a:rPr>
              <a:t>8</a:t>
            </a:r>
            <a:r>
              <a:rPr>
                <a:solidFill>
                  <a:srgbClr val="FF0000"/>
                </a:solidFill>
              </a:rPr>
              <a:t>、定义列表符号样式：</a:t>
            </a:r>
            <a:endParaRPr>
              <a:solidFill>
                <a:srgbClr val="FF0000"/>
              </a:solidFill>
            </a:endParaRPr>
          </a:p>
          <a:p>
            <a:pPr algn="l"/>
            <a:endParaRPr>
              <a:solidFill>
                <a:srgbClr val="FF0000"/>
              </a:solidFill>
            </a:endParaRPr>
          </a:p>
          <a:p>
            <a:pPr algn="l"/>
            <a:r>
              <a:rPr lang="en-US">
                <a:solidFill>
                  <a:schemeClr val="tx1"/>
                </a:solidFill>
              </a:rPr>
              <a:t>1</a:t>
            </a:r>
            <a:r>
              <a:rPr lang="zh-CN" altLang="en-US">
                <a:solidFill>
                  <a:schemeClr val="tx1"/>
                </a:solidFill>
              </a:rPr>
              <a:t>、</a:t>
            </a:r>
            <a:r>
              <a:rPr>
                <a:solidFill>
                  <a:schemeClr val="tx1"/>
                </a:solidFill>
              </a:rPr>
              <a:t>list-style-type：disc(实心圆)/circle(空心圆)/square(实心方块)/none(去掉列表符号)；</a:t>
            </a:r>
            <a:endParaRPr>
              <a:solidFill>
                <a:srgbClr val="FF0000"/>
              </a:solidFill>
            </a:endParaRPr>
          </a:p>
          <a:p>
            <a:pPr algn="l"/>
            <a:endParaRPr>
              <a:solidFill>
                <a:srgbClr val="FF0000"/>
              </a:solidFill>
            </a:endParaRPr>
          </a:p>
          <a:p>
            <a:pPr algn="l"/>
            <a:r>
              <a:rPr>
                <a:solidFill>
                  <a:schemeClr val="tx1"/>
                </a:solidFill>
              </a:rPr>
              <a:t>2、使用图片作为列表符号：</a:t>
            </a:r>
            <a:endParaRPr>
              <a:solidFill>
                <a:schemeClr val="tx1"/>
              </a:solidFill>
            </a:endParaRPr>
          </a:p>
          <a:p>
            <a:pPr algn="l"/>
            <a:r>
              <a:rPr>
                <a:solidFill>
                  <a:schemeClr val="tx1"/>
                </a:solidFill>
              </a:rPr>
              <a:t>list-style-image：url(所使用图片的路径及全称)；</a:t>
            </a:r>
            <a:endParaRPr>
              <a:solidFill>
                <a:schemeClr val="tx1"/>
              </a:solidFill>
            </a:endParaRPr>
          </a:p>
          <a:p>
            <a:pPr algn="l"/>
            <a:endParaRPr>
              <a:solidFill>
                <a:schemeClr val="tx1"/>
              </a:solidFill>
            </a:endParaRPr>
          </a:p>
          <a:p>
            <a:pPr algn="l"/>
            <a:r>
              <a:rPr lang="en-US">
                <a:sym typeface="+mn-ea"/>
              </a:rPr>
              <a:t>3</a:t>
            </a:r>
            <a:r>
              <a:rPr>
                <a:sym typeface="+mn-ea"/>
              </a:rPr>
              <a:t>、</a:t>
            </a:r>
            <a:r>
              <a:rPr lang="zh-CN">
                <a:sym typeface="+mn-ea"/>
              </a:rPr>
              <a:t>声明列表标志相对于列表项内容的位置</a:t>
            </a:r>
            <a:r>
              <a:rPr>
                <a:sym typeface="+mn-ea"/>
              </a:rPr>
              <a:t>：</a:t>
            </a:r>
            <a:endParaRPr>
              <a:solidFill>
                <a:schemeClr val="tx1"/>
              </a:solidFill>
            </a:endParaRPr>
          </a:p>
          <a:p>
            <a:pPr algn="l"/>
            <a:r>
              <a:rPr>
                <a:sym typeface="+mn-ea"/>
              </a:rPr>
              <a:t>list-style-</a:t>
            </a:r>
            <a:r>
              <a:rPr lang="en-US">
                <a:sym typeface="+mn-ea"/>
              </a:rPr>
              <a:t>position</a:t>
            </a:r>
            <a:r>
              <a:rPr>
                <a:sym typeface="+mn-ea"/>
              </a:rPr>
              <a:t>：</a:t>
            </a:r>
            <a:r>
              <a:rPr lang="en-US">
                <a:sym typeface="+mn-ea"/>
              </a:rPr>
              <a:t>outside</a:t>
            </a:r>
            <a:r>
              <a:rPr lang="zh-CN" altLang="en-US">
                <a:sym typeface="+mn-ea"/>
              </a:rPr>
              <a:t>（外部）</a:t>
            </a:r>
            <a:r>
              <a:rPr lang="en-US" altLang="zh-CN">
                <a:sym typeface="+mn-ea"/>
              </a:rPr>
              <a:t>/ inside</a:t>
            </a:r>
            <a:r>
              <a:rPr lang="zh-CN" altLang="en-US">
                <a:sym typeface="+mn-ea"/>
              </a:rPr>
              <a:t>（内部）</a:t>
            </a:r>
            <a:r>
              <a:rPr>
                <a:sym typeface="+mn-ea"/>
              </a:rPr>
              <a:t>；</a:t>
            </a:r>
            <a:endParaRPr>
              <a:solidFill>
                <a:srgbClr val="FF0000"/>
              </a:solidFill>
            </a:endParaRPr>
          </a:p>
          <a:p>
            <a:pPr algn="l"/>
            <a:endParaRPr lang="zh-CN" altLang="en-US">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1329690" y="1018540"/>
            <a:ext cx="6077585" cy="3661410"/>
          </a:xfrm>
          <a:prstGeom prst="rect">
            <a:avLst/>
          </a:prstGeom>
          <a:noFill/>
        </p:spPr>
        <p:txBody>
          <a:bodyPr wrap="square" rtlCol="0" anchor="t">
            <a:spAutoFit/>
          </a:bodyPr>
          <a:p>
            <a:pPr eaLnBrk="0" hangingPunct="0"/>
            <a:r>
              <a:rPr lang="en-US" altLang="zh-CN" dirty="0">
                <a:solidFill>
                  <a:srgbClr val="FF0000"/>
                </a:solidFill>
                <a:latin typeface="宋体" panose="02010600030101010101" pitchFamily="2" charset="-122"/>
                <a:ea typeface="宋体" panose="02010600030101010101" pitchFamily="2" charset="-122"/>
                <a:sym typeface="+mn-ea"/>
              </a:rPr>
              <a:t>19</a:t>
            </a:r>
            <a:r>
              <a:rPr lang="zh-CN" altLang="en-US" dirty="0">
                <a:solidFill>
                  <a:srgbClr val="FF0000"/>
                </a:solidFill>
                <a:latin typeface="宋体" panose="02010600030101010101" pitchFamily="2" charset="-122"/>
                <a:ea typeface="宋体" panose="02010600030101010101" pitchFamily="2" charset="-122"/>
                <a:sym typeface="+mn-ea"/>
              </a:rPr>
              <a:t>、</a:t>
            </a:r>
            <a:r>
              <a:rPr lang="zh-CN" altLang="en-US" dirty="0">
                <a:solidFill>
                  <a:srgbClr val="FF0000"/>
                </a:solidFill>
                <a:latin typeface="宋体" panose="02010600030101010101" pitchFamily="2" charset="-122"/>
                <a:sym typeface="宋体" panose="02010600030101010101" pitchFamily="2" charset="-122"/>
              </a:rPr>
              <a:t>边框</a:t>
            </a:r>
            <a:r>
              <a:rPr lang="zh-CN" altLang="en-US" dirty="0">
                <a:solidFill>
                  <a:srgbClr val="FF0000"/>
                </a:solidFill>
                <a:latin typeface="宋体" panose="02010600030101010101" pitchFamily="2" charset="-122"/>
                <a:ea typeface="宋体" panose="02010600030101010101" pitchFamily="2" charset="-122"/>
                <a:sym typeface="+mn-ea"/>
              </a:rPr>
              <a:t>设置： </a:t>
            </a:r>
            <a:r>
              <a:rPr lang="en-US" altLang="zh-CN" dirty="0">
                <a:solidFill>
                  <a:srgbClr val="FF0000"/>
                </a:solidFill>
                <a:latin typeface="宋体" panose="02010600030101010101" pitchFamily="2" charset="-122"/>
                <a:ea typeface="宋体" panose="02010600030101010101" pitchFamily="2" charset="-122"/>
                <a:sym typeface="+mn-ea"/>
              </a:rPr>
              <a:t>border:</a:t>
            </a:r>
            <a:r>
              <a:rPr lang="en-US" altLang="zh-CN" dirty="0">
                <a:solidFill>
                  <a:srgbClr val="FF0000"/>
                </a:solidFill>
                <a:latin typeface="宋体" panose="02010600030101010101" pitchFamily="2" charset="-122"/>
                <a:ea typeface="宋体" panose="02010600030101010101" pitchFamily="2" charset="-122"/>
                <a:sym typeface="Arial" panose="020B0604020202020204" pitchFamily="34" charset="0"/>
              </a:rPr>
              <a:t>solid  </a:t>
            </a:r>
            <a:r>
              <a:rPr lang="en-US" altLang="zh-CN" dirty="0">
                <a:solidFill>
                  <a:srgbClr val="FF0000"/>
                </a:solidFill>
                <a:latin typeface="宋体" panose="02010600030101010101" pitchFamily="2" charset="-122"/>
                <a:ea typeface="宋体" panose="02010600030101010101" pitchFamily="2" charset="-122"/>
                <a:sym typeface="+mn-ea"/>
              </a:rPr>
              <a:t>3px  red;</a:t>
            </a:r>
            <a:endParaRPr lang="en-US" altLang="zh-CN" dirty="0">
              <a:solidFill>
                <a:srgbClr val="FF0000"/>
              </a:solidFill>
              <a:latin typeface="宋体" panose="02010600030101010101" pitchFamily="2" charset="-122"/>
              <a:ea typeface="宋体" panose="02010600030101010101" pitchFamily="2" charset="-122"/>
            </a:endParaRPr>
          </a:p>
          <a:p>
            <a:pPr eaLnBrk="0" hangingPunct="0"/>
            <a:r>
              <a:rPr lang="zh-CN" altLang="en-US" dirty="0">
                <a:solidFill>
                  <a:srgbClr val="FF0000"/>
                </a:solidFill>
                <a:latin typeface="宋体" panose="02010600030101010101" pitchFamily="2" charset="-122"/>
                <a:ea typeface="宋体" panose="02010600030101010101" pitchFamily="2" charset="-122"/>
                <a:sym typeface="+mn-ea"/>
              </a:rPr>
              <a:t>设置：</a:t>
            </a:r>
            <a:endParaRPr lang="zh-CN" altLang="en-US" dirty="0">
              <a:solidFill>
                <a:srgbClr val="FF0000"/>
              </a:solidFill>
              <a:latin typeface="宋体" panose="02010600030101010101" pitchFamily="2" charset="-122"/>
              <a:ea typeface="宋体" panose="02010600030101010101" pitchFamily="2" charset="-122"/>
            </a:endParaRPr>
          </a:p>
          <a:p>
            <a:pPr eaLnBrk="0" hangingPunct="0"/>
            <a:r>
              <a:rPr lang="zh-CN" altLang="en-US" dirty="0">
                <a:solidFill>
                  <a:srgbClr val="FF0000"/>
                </a:solidFill>
                <a:latin typeface="宋体" panose="02010600030101010101" pitchFamily="2" charset="-122"/>
                <a:ea typeface="宋体" panose="02010600030101010101" pitchFamily="2" charset="-122"/>
                <a:sym typeface="+mn-ea"/>
              </a:rPr>
              <a:t>边框： border:线型（solid/dashed/dotted/double）  粗细（数值+单位） 颜色;</a:t>
            </a:r>
            <a:endParaRPr lang="zh-CN" altLang="en-US" sz="1600" b="1" dirty="0">
              <a:latin typeface="宋体" panose="02010600030101010101" pitchFamily="2" charset="-122"/>
              <a:ea typeface="宋体" panose="02010600030101010101" pitchFamily="2" charset="-122"/>
            </a:endParaRPr>
          </a:p>
          <a:p>
            <a:pPr eaLnBrk="0" hangingPunct="0"/>
            <a:endParaRPr lang="zh-CN" altLang="en-US" sz="1600" b="1" dirty="0">
              <a:latin typeface="宋体" panose="02010600030101010101" pitchFamily="2" charset="-122"/>
              <a:ea typeface="宋体" panose="02010600030101010101" pitchFamily="2" charset="-122"/>
            </a:endParaRPr>
          </a:p>
          <a:p>
            <a:pPr eaLnBrk="0" hangingPunct="0"/>
            <a:r>
              <a:rPr lang="zh-CN" altLang="en-US" sz="1600" dirty="0">
                <a:solidFill>
                  <a:schemeClr val="tx1"/>
                </a:solidFill>
                <a:latin typeface="宋体" panose="02010600030101010101" pitchFamily="2" charset="-122"/>
                <a:ea typeface="宋体" panose="02010600030101010101" pitchFamily="2" charset="-122"/>
                <a:sym typeface="+mn-ea"/>
              </a:rPr>
              <a:t>右边框：border-right:线型（solid/dashed/dotted/double）     粗细（数值+单位） 颜色;</a:t>
            </a:r>
            <a:endParaRPr lang="zh-CN" altLang="en-US" sz="1600" dirty="0">
              <a:solidFill>
                <a:schemeClr val="tx1"/>
              </a:solidFill>
              <a:latin typeface="宋体" panose="02010600030101010101" pitchFamily="2" charset="-122"/>
              <a:ea typeface="宋体" panose="02010600030101010101" pitchFamily="2" charset="-122"/>
            </a:endParaRPr>
          </a:p>
          <a:p>
            <a:pPr eaLnBrk="0" hangingPunct="0"/>
            <a:r>
              <a:rPr lang="zh-CN" altLang="en-US" sz="1600" dirty="0">
                <a:solidFill>
                  <a:schemeClr val="tx1"/>
                </a:solidFill>
                <a:latin typeface="宋体" panose="02010600030101010101" pitchFamily="2" charset="-122"/>
                <a:ea typeface="宋体" panose="02010600030101010101" pitchFamily="2" charset="-122"/>
                <a:sym typeface="+mn-ea"/>
              </a:rPr>
              <a:t>左边框</a:t>
            </a:r>
            <a:r>
              <a:rPr lang="en-US" altLang="zh-CN" sz="1600" dirty="0">
                <a:solidFill>
                  <a:schemeClr val="tx1"/>
                </a:solidFill>
                <a:latin typeface="宋体" panose="02010600030101010101" pitchFamily="2" charset="-122"/>
                <a:ea typeface="宋体" panose="02010600030101010101" pitchFamily="2" charset="-122"/>
                <a:sym typeface="+mn-ea"/>
              </a:rPr>
              <a:t>:</a:t>
            </a:r>
            <a:r>
              <a:rPr lang="zh-CN" altLang="en-US" sz="1600" dirty="0">
                <a:solidFill>
                  <a:schemeClr val="tx1"/>
                </a:solidFill>
                <a:latin typeface="宋体" panose="02010600030101010101" pitchFamily="2" charset="-122"/>
                <a:ea typeface="宋体" panose="02010600030101010101" pitchFamily="2" charset="-122"/>
                <a:sym typeface="+mn-ea"/>
              </a:rPr>
              <a:t> border-left:线形（solid/dashed/dotted/double）     粗细（数值+单位） 颜色;</a:t>
            </a:r>
            <a:endParaRPr lang="zh-CN" altLang="en-US" sz="1600" dirty="0">
              <a:solidFill>
                <a:schemeClr val="tx1"/>
              </a:solidFill>
              <a:latin typeface="宋体" panose="02010600030101010101" pitchFamily="2" charset="-122"/>
              <a:ea typeface="宋体" panose="02010600030101010101" pitchFamily="2" charset="-122"/>
            </a:endParaRPr>
          </a:p>
          <a:p>
            <a:pPr eaLnBrk="0" hangingPunct="0"/>
            <a:r>
              <a:rPr lang="zh-CN" altLang="en-US" sz="1600" dirty="0">
                <a:solidFill>
                  <a:schemeClr val="tx1"/>
                </a:solidFill>
                <a:latin typeface="宋体" panose="02010600030101010101" pitchFamily="2" charset="-122"/>
                <a:ea typeface="宋体" panose="02010600030101010101" pitchFamily="2" charset="-122"/>
                <a:sym typeface="+mn-ea"/>
              </a:rPr>
              <a:t>上边框</a:t>
            </a:r>
            <a:r>
              <a:rPr lang="en-US" altLang="zh-CN" sz="1600" dirty="0">
                <a:solidFill>
                  <a:schemeClr val="tx1"/>
                </a:solidFill>
                <a:latin typeface="宋体" panose="02010600030101010101" pitchFamily="2" charset="-122"/>
                <a:ea typeface="宋体" panose="02010600030101010101" pitchFamily="2" charset="-122"/>
                <a:sym typeface="+mn-ea"/>
              </a:rPr>
              <a:t>:</a:t>
            </a:r>
            <a:r>
              <a:rPr lang="zh-CN" altLang="en-US" sz="1600" dirty="0">
                <a:solidFill>
                  <a:schemeClr val="tx1"/>
                </a:solidFill>
                <a:latin typeface="宋体" panose="02010600030101010101" pitchFamily="2" charset="-122"/>
                <a:ea typeface="宋体" panose="02010600030101010101" pitchFamily="2" charset="-122"/>
                <a:sym typeface="+mn-ea"/>
              </a:rPr>
              <a:t> border-top:线形（solid/dashed/dotted/double）     粗细（数值+单位） 颜色;</a:t>
            </a:r>
            <a:endParaRPr lang="zh-CN" altLang="en-US" sz="1600" dirty="0">
              <a:solidFill>
                <a:schemeClr val="tx1"/>
              </a:solidFill>
              <a:latin typeface="宋体" panose="02010600030101010101" pitchFamily="2" charset="-122"/>
              <a:ea typeface="宋体" panose="02010600030101010101" pitchFamily="2" charset="-122"/>
            </a:endParaRPr>
          </a:p>
          <a:p>
            <a:pPr eaLnBrk="0" hangingPunct="0"/>
            <a:r>
              <a:rPr lang="zh-CN" altLang="en-US" sz="1600" dirty="0">
                <a:solidFill>
                  <a:schemeClr val="tx1"/>
                </a:solidFill>
                <a:latin typeface="宋体" panose="02010600030101010101" pitchFamily="2" charset="-122"/>
                <a:ea typeface="宋体" panose="02010600030101010101" pitchFamily="2" charset="-122"/>
                <a:sym typeface="+mn-ea"/>
              </a:rPr>
              <a:t>下边框</a:t>
            </a:r>
            <a:r>
              <a:rPr lang="en-US" altLang="zh-CN" sz="1600" dirty="0">
                <a:solidFill>
                  <a:schemeClr val="tx1"/>
                </a:solidFill>
                <a:latin typeface="宋体" panose="02010600030101010101" pitchFamily="2" charset="-122"/>
                <a:ea typeface="宋体" panose="02010600030101010101" pitchFamily="2" charset="-122"/>
                <a:sym typeface="+mn-ea"/>
              </a:rPr>
              <a:t>:</a:t>
            </a:r>
            <a:r>
              <a:rPr lang="zh-CN" altLang="en-US" sz="1600" dirty="0">
                <a:solidFill>
                  <a:schemeClr val="tx1"/>
                </a:solidFill>
                <a:latin typeface="宋体" panose="02010600030101010101" pitchFamily="2" charset="-122"/>
                <a:ea typeface="宋体" panose="02010600030101010101" pitchFamily="2" charset="-122"/>
                <a:sym typeface="+mn-ea"/>
              </a:rPr>
              <a:t> border-bottom:线形（solid/dashed/dotted/double）     粗细（数值+单位） 颜色;</a:t>
            </a:r>
            <a:endParaRPr lang="zh-CN" altLang="en-US" sz="1600" dirty="0">
              <a:solidFill>
                <a:schemeClr val="tx1"/>
              </a:solidFill>
              <a:latin typeface="宋体" panose="02010600030101010101" pitchFamily="2" charset="-122"/>
              <a:ea typeface="宋体" panose="02010600030101010101" pitchFamily="2" charset="-122"/>
            </a:endParaRPr>
          </a:p>
          <a:p>
            <a:pPr eaLnBrk="0" hangingPunct="0"/>
            <a:r>
              <a:rPr lang="zh-CN" altLang="en-US" sz="1600" dirty="0">
                <a:solidFill>
                  <a:schemeClr val="tx1"/>
                </a:solidFill>
                <a:latin typeface="宋体" panose="02010600030101010101" pitchFamily="2" charset="-122"/>
                <a:ea typeface="宋体" panose="02010600030101010101" pitchFamily="2" charset="-122"/>
                <a:sym typeface="+mn-ea"/>
              </a:rPr>
              <a:t>solid:实线，dashed:虚线，dotted:点状线，double:双线</a:t>
            </a:r>
            <a:endParaRPr lang="zh-CN" altLang="en-US" sz="1600" dirty="0">
              <a:solidFill>
                <a:schemeClr val="tx1"/>
              </a:solidFill>
              <a:latin typeface="宋体" panose="02010600030101010101" pitchFamily="2" charset="-122"/>
              <a:ea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485265" y="904875"/>
            <a:ext cx="6174105" cy="3353435"/>
          </a:xfrm>
          <a:prstGeom prst="rect">
            <a:avLst/>
          </a:prstGeom>
          <a:noFill/>
        </p:spPr>
        <p:txBody>
          <a:bodyPr wrap="square" rtlCol="0">
            <a:spAutoFit/>
          </a:bodyPr>
          <a:p>
            <a:pPr algn="l"/>
            <a:r>
              <a:rPr lang="en-US">
                <a:solidFill>
                  <a:srgbClr val="FF0000"/>
                </a:solidFill>
              </a:rPr>
              <a:t>20</a:t>
            </a:r>
            <a:r>
              <a:rPr>
                <a:solidFill>
                  <a:srgbClr val="FF0000"/>
                </a:solidFill>
              </a:rPr>
              <a:t>、</a:t>
            </a:r>
            <a:r>
              <a:rPr>
                <a:solidFill>
                  <a:srgbClr val="FF0000"/>
                </a:solidFill>
                <a:sym typeface="+mn-ea"/>
              </a:rPr>
              <a:t>背景</a:t>
            </a:r>
            <a:endParaRPr>
              <a:solidFill>
                <a:srgbClr val="FF0000"/>
              </a:solidFill>
              <a:sym typeface="+mn-ea"/>
            </a:endParaRPr>
          </a:p>
          <a:p>
            <a:pPr algn="l"/>
            <a:endParaRPr>
              <a:solidFill>
                <a:srgbClr val="FF0000"/>
              </a:solidFill>
            </a:endParaRPr>
          </a:p>
          <a:p>
            <a:pPr algn="l"/>
            <a:r>
              <a:rPr lang="en-US" sz="1600">
                <a:solidFill>
                  <a:schemeClr val="tx1"/>
                </a:solidFill>
                <a:sym typeface="+mn-ea"/>
              </a:rPr>
              <a:t>1</a:t>
            </a:r>
            <a:r>
              <a:rPr lang="zh-CN" altLang="en-US" sz="1600">
                <a:solidFill>
                  <a:schemeClr val="tx1"/>
                </a:solidFill>
                <a:sym typeface="+mn-ea"/>
              </a:rPr>
              <a:t>）</a:t>
            </a:r>
            <a:r>
              <a:rPr sz="1600">
                <a:solidFill>
                  <a:schemeClr val="tx1"/>
                </a:solidFill>
                <a:sym typeface="+mn-ea"/>
              </a:rPr>
              <a:t>背景颜色</a:t>
            </a:r>
            <a:endParaRPr sz="1600">
              <a:solidFill>
                <a:schemeClr val="tx1"/>
              </a:solidFill>
            </a:endParaRPr>
          </a:p>
          <a:p>
            <a:pPr algn="l"/>
            <a:r>
              <a:rPr sz="1600">
                <a:solidFill>
                  <a:schemeClr val="tx1"/>
                </a:solidFill>
              </a:rPr>
              <a:t>语法：选择符{background-color:颜色值;}</a:t>
            </a:r>
            <a:endParaRPr sz="1600">
              <a:solidFill>
                <a:schemeClr val="tx1"/>
              </a:solidFill>
            </a:endParaRPr>
          </a:p>
          <a:p>
            <a:pPr algn="l"/>
            <a:endParaRPr sz="1600">
              <a:solidFill>
                <a:schemeClr val="tx1"/>
              </a:solidFill>
            </a:endParaRPr>
          </a:p>
          <a:p>
            <a:pPr algn="l"/>
            <a:r>
              <a:rPr lang="en-US" sz="1600">
                <a:solidFill>
                  <a:schemeClr val="tx1"/>
                </a:solidFill>
              </a:rPr>
              <a:t>2</a:t>
            </a:r>
            <a:r>
              <a:rPr lang="zh-CN" altLang="en-US" sz="1600">
                <a:solidFill>
                  <a:schemeClr val="tx1"/>
                </a:solidFill>
              </a:rPr>
              <a:t>）背景图</a:t>
            </a:r>
            <a:endParaRPr lang="zh-CN" altLang="en-US" sz="1600">
              <a:solidFill>
                <a:schemeClr val="tx1"/>
              </a:solidFill>
            </a:endParaRPr>
          </a:p>
          <a:p>
            <a:pPr algn="l"/>
            <a:r>
              <a:rPr sz="1600">
                <a:solidFill>
                  <a:schemeClr val="tx1"/>
                </a:solidFill>
              </a:rPr>
              <a:t>语法：background-image：url(背景图片的路径及全称)；</a:t>
            </a:r>
            <a:endParaRPr sz="1600">
              <a:solidFill>
                <a:schemeClr val="tx1"/>
              </a:solidFill>
            </a:endParaRPr>
          </a:p>
          <a:p>
            <a:pPr algn="l"/>
            <a:endParaRPr sz="1600">
              <a:solidFill>
                <a:schemeClr val="tx1"/>
              </a:solidFill>
            </a:endParaRPr>
          </a:p>
          <a:p>
            <a:pPr algn="l"/>
            <a:r>
              <a:rPr sz="1600">
                <a:solidFill>
                  <a:schemeClr val="tx1"/>
                </a:solidFill>
              </a:rPr>
              <a:t>背景图片的显示原则</a:t>
            </a:r>
            <a:endParaRPr sz="1600">
              <a:solidFill>
                <a:schemeClr val="tx1"/>
              </a:solidFill>
            </a:endParaRPr>
          </a:p>
          <a:p>
            <a:pPr algn="l"/>
            <a:r>
              <a:rPr sz="1600">
                <a:solidFill>
                  <a:schemeClr val="tx1"/>
                </a:solidFill>
              </a:rPr>
              <a:t>        1）容器尺寸等于图片尺寸，背景图片正好显示在容器中;</a:t>
            </a:r>
            <a:endParaRPr sz="1600">
              <a:solidFill>
                <a:schemeClr val="tx1"/>
              </a:solidFill>
            </a:endParaRPr>
          </a:p>
          <a:p>
            <a:pPr algn="l"/>
            <a:r>
              <a:rPr sz="1600">
                <a:solidFill>
                  <a:schemeClr val="tx1"/>
                </a:solidFill>
              </a:rPr>
              <a:t>        2）容器尺寸大于图片尺寸，背景图片将默认平铺，直至铺满元素；</a:t>
            </a:r>
            <a:endParaRPr sz="1600">
              <a:solidFill>
                <a:schemeClr val="tx1"/>
              </a:solidFill>
            </a:endParaRPr>
          </a:p>
          <a:p>
            <a:pPr algn="l"/>
            <a:r>
              <a:rPr sz="1600">
                <a:solidFill>
                  <a:schemeClr val="tx1"/>
                </a:solidFill>
              </a:rPr>
              <a:t>        3）容器尺寸小于图片尺寸，只显示元素范围以内的背景图。</a:t>
            </a:r>
            <a:endParaRPr lang="zh-CN" altLang="en-US" sz="160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484630" y="1510030"/>
            <a:ext cx="6174105" cy="2306955"/>
          </a:xfrm>
          <a:prstGeom prst="rect">
            <a:avLst/>
          </a:prstGeom>
          <a:noFill/>
        </p:spPr>
        <p:txBody>
          <a:bodyPr wrap="square" rtlCol="0">
            <a:spAutoFit/>
          </a:bodyPr>
          <a:p>
            <a:pPr algn="l"/>
            <a:r>
              <a:rPr lang="zh-CN" sz="1600">
                <a:solidFill>
                  <a:schemeClr val="tx1"/>
                </a:solidFill>
              </a:rPr>
              <a:t>说明：</a:t>
            </a:r>
            <a:r>
              <a:rPr sz="1600">
                <a:solidFill>
                  <a:schemeClr val="tx1"/>
                </a:solidFill>
              </a:rPr>
              <a:t>网页上常用的图片格式（压缩图片）</a:t>
            </a:r>
            <a:endParaRPr sz="1600">
              <a:solidFill>
                <a:schemeClr val="tx1"/>
              </a:solidFill>
            </a:endParaRPr>
          </a:p>
          <a:p>
            <a:pPr algn="l"/>
            <a:endParaRPr sz="1600">
              <a:solidFill>
                <a:schemeClr val="tx1"/>
              </a:solidFill>
            </a:endParaRPr>
          </a:p>
          <a:p>
            <a:pPr algn="l"/>
            <a:r>
              <a:rPr sz="1600">
                <a:solidFill>
                  <a:schemeClr val="tx1"/>
                </a:solidFill>
              </a:rPr>
              <a:t>1)jpg:有损压缩格式，靠损失图片本身的质量来减小图片的体积，适用于颜色丰富的图像;(像素点组成的，像素点越多会越清晰 )</a:t>
            </a:r>
            <a:endParaRPr sz="1600">
              <a:solidFill>
                <a:schemeClr val="tx1"/>
              </a:solidFill>
            </a:endParaRPr>
          </a:p>
          <a:p>
            <a:pPr algn="l"/>
            <a:r>
              <a:rPr sz="1600">
                <a:solidFill>
                  <a:schemeClr val="tx1"/>
                </a:solidFill>
              </a:rPr>
              <a:t>2）gif：有损压缩格式，靠损失图片的色彩数量来减小图片的体积，</a:t>
            </a:r>
            <a:r>
              <a:rPr sz="1600">
                <a:solidFill>
                  <a:srgbClr val="FF0000"/>
                </a:solidFill>
              </a:rPr>
              <a:t>支持透明，支持动画</a:t>
            </a:r>
            <a:r>
              <a:rPr sz="1600">
                <a:solidFill>
                  <a:schemeClr val="tx1"/>
                </a:solidFill>
              </a:rPr>
              <a:t>，适用于颜色数量较少的图像;</a:t>
            </a:r>
            <a:endParaRPr sz="1600">
              <a:solidFill>
                <a:schemeClr val="tx1"/>
              </a:solidFill>
            </a:endParaRPr>
          </a:p>
          <a:p>
            <a:pPr algn="l"/>
            <a:r>
              <a:rPr sz="1600">
                <a:solidFill>
                  <a:schemeClr val="tx1"/>
                </a:solidFill>
              </a:rPr>
              <a:t>3)png:有损压缩格式，损失图片的色彩数量来减小图片的体积，</a:t>
            </a:r>
            <a:r>
              <a:rPr sz="1600">
                <a:solidFill>
                  <a:srgbClr val="FF0000"/>
                </a:solidFill>
              </a:rPr>
              <a:t>支持透明，不支持动画</a:t>
            </a:r>
            <a:r>
              <a:rPr sz="1600">
                <a:solidFill>
                  <a:schemeClr val="tx1"/>
                </a:solidFill>
              </a:rPr>
              <a:t>，是fireworks的 源文件格式，适用于颜色数量较少的图像;</a:t>
            </a:r>
            <a:endParaRPr sz="160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485265" y="1280795"/>
            <a:ext cx="6174105" cy="3046095"/>
          </a:xfrm>
          <a:prstGeom prst="rect">
            <a:avLst/>
          </a:prstGeom>
          <a:noFill/>
        </p:spPr>
        <p:txBody>
          <a:bodyPr wrap="square" rtlCol="0">
            <a:spAutoFit/>
          </a:bodyPr>
          <a:p>
            <a:pPr algn="l"/>
            <a:r>
              <a:rPr lang="en-US" sz="1600">
                <a:solidFill>
                  <a:schemeClr val="tx1"/>
                </a:solidFill>
              </a:rPr>
              <a:t>3</a:t>
            </a:r>
            <a:r>
              <a:rPr lang="zh-CN" altLang="en-US" sz="1600">
                <a:solidFill>
                  <a:schemeClr val="tx1"/>
                </a:solidFill>
              </a:rPr>
              <a:t>）</a:t>
            </a:r>
            <a:r>
              <a:rPr sz="1600">
                <a:solidFill>
                  <a:schemeClr val="tx1"/>
                </a:solidFill>
              </a:rPr>
              <a:t>、背景图片平铺属性</a:t>
            </a:r>
            <a:endParaRPr sz="1600">
              <a:solidFill>
                <a:schemeClr val="tx1"/>
              </a:solidFill>
            </a:endParaRPr>
          </a:p>
          <a:p>
            <a:pPr algn="l"/>
            <a:r>
              <a:rPr sz="1600">
                <a:solidFill>
                  <a:schemeClr val="tx1"/>
                </a:solidFill>
              </a:rPr>
              <a:t>语法：选择符 {background-repeat:no-repeat/repeat/repeat-x/repeat-y }</a:t>
            </a:r>
            <a:endParaRPr sz="1600">
              <a:solidFill>
                <a:schemeClr val="tx1"/>
              </a:solidFill>
            </a:endParaRPr>
          </a:p>
          <a:p>
            <a:pPr algn="l"/>
            <a:r>
              <a:rPr sz="1600">
                <a:solidFill>
                  <a:schemeClr val="tx1"/>
                </a:solidFill>
              </a:rPr>
              <a:t>no-repeat:不平铺</a:t>
            </a:r>
            <a:endParaRPr sz="1600">
              <a:solidFill>
                <a:schemeClr val="tx1"/>
              </a:solidFill>
            </a:endParaRPr>
          </a:p>
          <a:p>
            <a:pPr algn="l"/>
            <a:r>
              <a:rPr sz="1600">
                <a:solidFill>
                  <a:schemeClr val="tx1"/>
                </a:solidFill>
              </a:rPr>
              <a:t>repeat：平铺</a:t>
            </a:r>
            <a:endParaRPr sz="1600">
              <a:solidFill>
                <a:schemeClr val="tx1"/>
              </a:solidFill>
            </a:endParaRPr>
          </a:p>
          <a:p>
            <a:pPr algn="l"/>
            <a:r>
              <a:rPr sz="1600">
                <a:solidFill>
                  <a:schemeClr val="tx1"/>
                </a:solidFill>
              </a:rPr>
              <a:t>repeat-x：横向平铺</a:t>
            </a:r>
            <a:endParaRPr sz="1600">
              <a:solidFill>
                <a:schemeClr val="tx1"/>
              </a:solidFill>
            </a:endParaRPr>
          </a:p>
          <a:p>
            <a:pPr algn="l"/>
            <a:r>
              <a:rPr sz="1600">
                <a:solidFill>
                  <a:schemeClr val="tx1"/>
                </a:solidFill>
              </a:rPr>
              <a:t>repeat-y ：纵向平铺</a:t>
            </a:r>
            <a:endParaRPr sz="1600">
              <a:solidFill>
                <a:schemeClr val="tx1"/>
              </a:solidFill>
            </a:endParaRPr>
          </a:p>
          <a:p>
            <a:pPr algn="l"/>
            <a:endParaRPr sz="1600">
              <a:solidFill>
                <a:schemeClr val="tx1"/>
              </a:solidFill>
            </a:endParaRPr>
          </a:p>
          <a:p>
            <a:pPr algn="l"/>
            <a:r>
              <a:rPr lang="en-US" altLang="zh-CN" sz="1600">
                <a:solidFill>
                  <a:schemeClr val="tx1"/>
                </a:solidFill>
              </a:rPr>
              <a:t>4</a:t>
            </a:r>
            <a:r>
              <a:rPr lang="zh-CN" altLang="en-US" sz="1600">
                <a:solidFill>
                  <a:schemeClr val="tx1"/>
                </a:solidFill>
              </a:rPr>
              <a:t>）、背景图的固定</a:t>
            </a:r>
            <a:endParaRPr lang="zh-CN" altLang="en-US" sz="1600">
              <a:solidFill>
                <a:schemeClr val="tx1"/>
              </a:solidFill>
            </a:endParaRPr>
          </a:p>
          <a:p>
            <a:pPr algn="l"/>
            <a:r>
              <a:rPr lang="zh-CN" altLang="en-US" sz="1600">
                <a:solidFill>
                  <a:schemeClr val="tx1"/>
                </a:solidFill>
              </a:rPr>
              <a:t>语法：选择符{background-attachment:scroll(滚动)/fixed(固定);}</a:t>
            </a:r>
            <a:endParaRPr lang="zh-CN" altLang="en-US" sz="1600">
              <a:solidFill>
                <a:schemeClr val="tx1"/>
              </a:solidFill>
            </a:endParaRPr>
          </a:p>
          <a:p>
            <a:pPr algn="l"/>
            <a:r>
              <a:rPr lang="zh-CN" altLang="en-US" sz="1600">
                <a:solidFill>
                  <a:schemeClr val="tx1"/>
                </a:solidFill>
              </a:rPr>
              <a:t>说明：</a:t>
            </a:r>
            <a:endParaRPr lang="zh-CN" altLang="en-US" sz="1600">
              <a:solidFill>
                <a:schemeClr val="tx1"/>
              </a:solidFill>
            </a:endParaRPr>
          </a:p>
          <a:p>
            <a:pPr algn="l"/>
            <a:r>
              <a:rPr lang="zh-CN" altLang="en-US" sz="1600">
                <a:solidFill>
                  <a:schemeClr val="tx1"/>
                </a:solidFill>
              </a:rPr>
              <a:t>fixed 固定，不随内容一块滚动；</a:t>
            </a:r>
            <a:endParaRPr lang="zh-CN" altLang="en-US" sz="1600">
              <a:solidFill>
                <a:schemeClr val="tx1"/>
              </a:solidFill>
            </a:endParaRPr>
          </a:p>
          <a:p>
            <a:pPr algn="l"/>
            <a:r>
              <a:rPr lang="zh-CN" altLang="en-US" sz="1600">
                <a:solidFill>
                  <a:schemeClr val="tx1"/>
                </a:solidFill>
              </a:rPr>
              <a:t>scroll:随内容一块滚动。</a:t>
            </a:r>
            <a:endParaRPr lang="zh-CN" altLang="en-US" sz="160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484630" y="1418590"/>
            <a:ext cx="6174105" cy="2306955"/>
          </a:xfrm>
          <a:prstGeom prst="rect">
            <a:avLst/>
          </a:prstGeom>
          <a:noFill/>
        </p:spPr>
        <p:txBody>
          <a:bodyPr wrap="square" rtlCol="0">
            <a:spAutoFit/>
          </a:bodyPr>
          <a:p>
            <a:pPr algn="l"/>
            <a:r>
              <a:rPr lang="en-US" sz="1600">
                <a:solidFill>
                  <a:schemeClr val="tx1"/>
                </a:solidFill>
              </a:rPr>
              <a:t>5</a:t>
            </a:r>
            <a:r>
              <a:rPr lang="zh-CN" altLang="en-US" sz="1600">
                <a:solidFill>
                  <a:schemeClr val="tx1"/>
                </a:solidFill>
              </a:rPr>
              <a:t>）</a:t>
            </a:r>
            <a:r>
              <a:rPr sz="1600">
                <a:solidFill>
                  <a:schemeClr val="tx1"/>
                </a:solidFill>
              </a:rPr>
              <a:t>、背景图片的位置</a:t>
            </a:r>
            <a:endParaRPr sz="1600">
              <a:solidFill>
                <a:schemeClr val="tx1"/>
              </a:solidFill>
            </a:endParaRPr>
          </a:p>
          <a:p>
            <a:pPr algn="l"/>
            <a:endParaRPr sz="1600">
              <a:solidFill>
                <a:schemeClr val="tx1"/>
              </a:solidFill>
            </a:endParaRPr>
          </a:p>
          <a:p>
            <a:pPr algn="l"/>
            <a:r>
              <a:rPr sz="1600">
                <a:solidFill>
                  <a:schemeClr val="tx1"/>
                </a:solidFill>
              </a:rPr>
              <a:t>语法：background-position:值1    值2;</a:t>
            </a:r>
            <a:endParaRPr sz="1600">
              <a:solidFill>
                <a:schemeClr val="tx1"/>
              </a:solidFill>
            </a:endParaRPr>
          </a:p>
          <a:p>
            <a:pPr algn="l"/>
            <a:endParaRPr sz="1600">
              <a:solidFill>
                <a:schemeClr val="tx1"/>
              </a:solidFill>
            </a:endParaRPr>
          </a:p>
          <a:p>
            <a:pPr algn="l"/>
            <a:r>
              <a:rPr sz="1600">
                <a:solidFill>
                  <a:schemeClr val="tx1"/>
                </a:solidFill>
              </a:rPr>
              <a:t>选择符{background-position:left/center/right/数值  top/center/bottom/数值;}</a:t>
            </a:r>
            <a:endParaRPr sz="1600">
              <a:solidFill>
                <a:schemeClr val="tx1"/>
              </a:solidFill>
            </a:endParaRPr>
          </a:p>
          <a:p>
            <a:pPr algn="l"/>
            <a:endParaRPr sz="1600">
              <a:solidFill>
                <a:schemeClr val="tx1"/>
              </a:solidFill>
            </a:endParaRPr>
          </a:p>
          <a:p>
            <a:pPr algn="l"/>
            <a:r>
              <a:rPr sz="1600">
                <a:solidFill>
                  <a:schemeClr val="tx1"/>
                </a:solidFill>
              </a:rPr>
              <a:t>水平方向上的对齐方式（left/center/right）或值 </a:t>
            </a:r>
            <a:endParaRPr sz="1600">
              <a:solidFill>
                <a:schemeClr val="tx1"/>
              </a:solidFill>
            </a:endParaRPr>
          </a:p>
          <a:p>
            <a:pPr algn="l"/>
            <a:r>
              <a:rPr sz="1600">
                <a:solidFill>
                  <a:schemeClr val="tx1"/>
                </a:solidFill>
              </a:rPr>
              <a:t>垂直方向上的对齐方式(top/center/bottom)或值</a:t>
            </a:r>
            <a:endParaRPr sz="160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485265" y="1207770"/>
            <a:ext cx="6174105" cy="3291840"/>
          </a:xfrm>
          <a:prstGeom prst="rect">
            <a:avLst/>
          </a:prstGeom>
          <a:noFill/>
        </p:spPr>
        <p:txBody>
          <a:bodyPr wrap="square" rtlCol="0">
            <a:spAutoFit/>
          </a:bodyPr>
          <a:p>
            <a:pPr algn="l"/>
            <a:r>
              <a:rPr lang="en-US" sz="1600">
                <a:solidFill>
                  <a:schemeClr val="tx1"/>
                </a:solidFill>
              </a:rPr>
              <a:t>6</a:t>
            </a:r>
            <a:r>
              <a:rPr lang="zh-CN" altLang="en-US" sz="1600">
                <a:solidFill>
                  <a:schemeClr val="tx1"/>
                </a:solidFill>
              </a:rPr>
              <a:t>）</a:t>
            </a:r>
            <a:r>
              <a:rPr sz="1600">
                <a:solidFill>
                  <a:schemeClr val="tx1"/>
                </a:solidFill>
              </a:rPr>
              <a:t>、background-size: 数值/auto/cover/contain</a:t>
            </a:r>
            <a:endParaRPr sz="1600">
              <a:solidFill>
                <a:schemeClr val="tx1"/>
              </a:solidFill>
            </a:endParaRPr>
          </a:p>
          <a:p>
            <a:pPr algn="l"/>
            <a:endParaRPr sz="1600">
              <a:solidFill>
                <a:schemeClr val="tx1"/>
              </a:solidFill>
            </a:endParaRPr>
          </a:p>
          <a:p>
            <a:pPr algn="l"/>
            <a:r>
              <a:rPr sz="1600">
                <a:solidFill>
                  <a:schemeClr val="tx1"/>
                </a:solidFill>
              </a:rPr>
              <a:t>  说明：</a:t>
            </a:r>
            <a:endParaRPr sz="1600">
              <a:solidFill>
                <a:schemeClr val="tx1"/>
              </a:solidFill>
            </a:endParaRPr>
          </a:p>
          <a:p>
            <a:pPr algn="l"/>
            <a:r>
              <a:rPr sz="1600">
                <a:solidFill>
                  <a:schemeClr val="tx1"/>
                </a:solidFill>
              </a:rPr>
              <a:t>length：用长度值指定背景图像大小。不允许负值。用百分比指定背景图像大小。不允许负值   。</a:t>
            </a:r>
            <a:endParaRPr sz="1600">
              <a:solidFill>
                <a:schemeClr val="tx1"/>
              </a:solidFill>
            </a:endParaRPr>
          </a:p>
          <a:p>
            <a:pPr algn="l"/>
            <a:endParaRPr sz="1600">
              <a:solidFill>
                <a:schemeClr val="tx1"/>
              </a:solidFill>
            </a:endParaRPr>
          </a:p>
          <a:p>
            <a:pPr algn="l"/>
            <a:r>
              <a:rPr sz="1600">
                <a:solidFill>
                  <a:schemeClr val="tx1"/>
                </a:solidFill>
              </a:rPr>
              <a:t>auto：背景图像的真实大小。</a:t>
            </a:r>
            <a:endParaRPr sz="1600">
              <a:solidFill>
                <a:schemeClr val="tx1"/>
              </a:solidFill>
            </a:endParaRPr>
          </a:p>
          <a:p>
            <a:pPr algn="l"/>
            <a:endParaRPr sz="1600">
              <a:solidFill>
                <a:schemeClr val="tx1"/>
              </a:solidFill>
            </a:endParaRPr>
          </a:p>
          <a:p>
            <a:pPr algn="l"/>
            <a:r>
              <a:rPr sz="1600">
                <a:solidFill>
                  <a:schemeClr val="tx1"/>
                </a:solidFill>
              </a:rPr>
              <a:t>cover：将背景图像等比缩放到完全覆盖容器，背景图像有可能超出容器。</a:t>
            </a:r>
            <a:endParaRPr sz="1600">
              <a:solidFill>
                <a:schemeClr val="tx1"/>
              </a:solidFill>
            </a:endParaRPr>
          </a:p>
          <a:p>
            <a:pPr algn="l"/>
            <a:endParaRPr sz="1600">
              <a:solidFill>
                <a:schemeClr val="tx1"/>
              </a:solidFill>
            </a:endParaRPr>
          </a:p>
          <a:p>
            <a:pPr algn="l"/>
            <a:r>
              <a:rPr sz="1600">
                <a:solidFill>
                  <a:schemeClr val="tx1"/>
                </a:solidFill>
              </a:rPr>
              <a:t>contain：将背景图像等比缩放到宽度或高度与容器的宽度或高度相等，背景图像始终被包含在容器内。</a:t>
            </a:r>
            <a:endParaRPr sz="160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484630" y="1510030"/>
            <a:ext cx="6174105" cy="1814830"/>
          </a:xfrm>
          <a:prstGeom prst="rect">
            <a:avLst/>
          </a:prstGeom>
          <a:noFill/>
        </p:spPr>
        <p:txBody>
          <a:bodyPr wrap="square" rtlCol="0">
            <a:spAutoFit/>
          </a:bodyPr>
          <a:p>
            <a:pPr algn="l"/>
            <a:r>
              <a:rPr lang="en-US" sz="1600">
                <a:solidFill>
                  <a:schemeClr val="tx1"/>
                </a:solidFill>
              </a:rPr>
              <a:t>7</a:t>
            </a:r>
            <a:r>
              <a:rPr lang="zh-CN" altLang="en-US" sz="1600">
                <a:solidFill>
                  <a:schemeClr val="tx1"/>
                </a:solidFill>
              </a:rPr>
              <a:t>）</a:t>
            </a:r>
            <a:r>
              <a:rPr sz="1600">
                <a:solidFill>
                  <a:schemeClr val="tx1"/>
                </a:solidFill>
              </a:rPr>
              <a:t>、背景属性的缩写语法：</a:t>
            </a:r>
            <a:endParaRPr sz="1600">
              <a:solidFill>
                <a:schemeClr val="tx1"/>
              </a:solidFill>
            </a:endParaRPr>
          </a:p>
          <a:p>
            <a:pPr algn="l"/>
            <a:endParaRPr sz="1600">
              <a:solidFill>
                <a:schemeClr val="tx1"/>
              </a:solidFill>
            </a:endParaRPr>
          </a:p>
          <a:p>
            <a:pPr algn="l"/>
            <a:r>
              <a:rPr sz="1600">
                <a:solidFill>
                  <a:schemeClr val="tx1"/>
                </a:solidFill>
              </a:rPr>
              <a:t>background:属性值1   属性值2   属性值3；</a:t>
            </a:r>
            <a:endParaRPr sz="1600">
              <a:solidFill>
                <a:schemeClr val="tx1"/>
              </a:solidFill>
            </a:endParaRPr>
          </a:p>
          <a:p>
            <a:pPr algn="l"/>
            <a:endParaRPr sz="1600">
              <a:solidFill>
                <a:schemeClr val="tx1"/>
              </a:solidFill>
            </a:endParaRPr>
          </a:p>
          <a:p>
            <a:pPr algn="l"/>
            <a:r>
              <a:rPr sz="1600">
                <a:solidFill>
                  <a:schemeClr val="tx1"/>
                </a:solidFill>
              </a:rPr>
              <a:t>背景缩写：</a:t>
            </a:r>
            <a:endParaRPr sz="1600">
              <a:solidFill>
                <a:schemeClr val="tx1"/>
              </a:solidFill>
            </a:endParaRPr>
          </a:p>
          <a:p>
            <a:pPr algn="l"/>
            <a:r>
              <a:rPr sz="1600">
                <a:solidFill>
                  <a:schemeClr val="tx1"/>
                </a:solidFill>
              </a:rPr>
              <a:t>background:</a:t>
            </a:r>
            <a:r>
              <a:rPr sz="1600">
                <a:sym typeface="+mn-ea"/>
              </a:rPr>
              <a:t> red </a:t>
            </a:r>
            <a:r>
              <a:rPr sz="1600">
                <a:solidFill>
                  <a:schemeClr val="tx1"/>
                </a:solidFill>
              </a:rPr>
              <a:t>url（背景图片的路径及全称） no-repeat center top/contain ；</a:t>
            </a:r>
            <a:endParaRPr sz="160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485265" y="904875"/>
            <a:ext cx="6174105" cy="3599815"/>
          </a:xfrm>
          <a:prstGeom prst="rect">
            <a:avLst/>
          </a:prstGeom>
          <a:noFill/>
        </p:spPr>
        <p:txBody>
          <a:bodyPr wrap="square" rtlCol="0">
            <a:spAutoFit/>
          </a:bodyPr>
          <a:p>
            <a:pPr algn="l"/>
            <a:r>
              <a:rPr lang="en-US">
                <a:solidFill>
                  <a:srgbClr val="FF0000"/>
                </a:solidFill>
              </a:rPr>
              <a:t>21</a:t>
            </a:r>
            <a:r>
              <a:rPr>
                <a:solidFill>
                  <a:srgbClr val="FF0000"/>
                </a:solidFill>
              </a:rPr>
              <a:t>、</a:t>
            </a:r>
            <a:r>
              <a:rPr lang="zh-CN">
                <a:solidFill>
                  <a:srgbClr val="FF0000"/>
                </a:solidFill>
              </a:rPr>
              <a:t>精灵图</a:t>
            </a:r>
            <a:endParaRPr>
              <a:solidFill>
                <a:srgbClr val="FF0000"/>
              </a:solidFill>
              <a:sym typeface="+mn-ea"/>
            </a:endParaRPr>
          </a:p>
          <a:p>
            <a:pPr algn="l"/>
            <a:endParaRPr>
              <a:solidFill>
                <a:srgbClr val="FF0000"/>
              </a:solidFill>
            </a:endParaRPr>
          </a:p>
          <a:p>
            <a:pPr algn="l"/>
            <a:r>
              <a:rPr lang="en-US" sz="1600">
                <a:solidFill>
                  <a:schemeClr val="tx1"/>
                </a:solidFill>
                <a:sym typeface="+mn-ea"/>
              </a:rPr>
              <a:t>1</a:t>
            </a:r>
            <a:r>
              <a:rPr lang="zh-CN" altLang="en-US" sz="1600">
                <a:solidFill>
                  <a:schemeClr val="tx1"/>
                </a:solidFill>
                <a:sym typeface="+mn-ea"/>
              </a:rPr>
              <a:t>）精灵图技术产生的目的：很多大型网页在首页加载的时候都需要加载很多的小图片，而考虑到在同一时间服务器拥堵的情况下，为了解决这一问题，采用了精灵图这一技术来缓解加载时间过长从而影响用户体验的这个问题。</a:t>
            </a:r>
            <a:endParaRPr sz="1600">
              <a:solidFill>
                <a:schemeClr val="tx1"/>
              </a:solidFill>
            </a:endParaRPr>
          </a:p>
          <a:p>
            <a:pPr algn="l"/>
            <a:endParaRPr sz="1600">
              <a:solidFill>
                <a:schemeClr val="tx1"/>
              </a:solidFill>
            </a:endParaRPr>
          </a:p>
          <a:p>
            <a:pPr algn="l"/>
            <a:r>
              <a:rPr lang="en-US" sz="1600">
                <a:solidFill>
                  <a:schemeClr val="tx1"/>
                </a:solidFill>
              </a:rPr>
              <a:t>2</a:t>
            </a:r>
            <a:r>
              <a:rPr lang="zh-CN" altLang="en-US" sz="1600">
                <a:solidFill>
                  <a:schemeClr val="tx1"/>
                </a:solidFill>
              </a:rPr>
              <a:t>）精灵图技术的本质：所谓精灵图就是把很多的小图片合并到一张较大的图片里，所以在首次加载页面的时候，就不需要加载过多的小图片，只需要加载出来将小图片合并起来的那一张大图也就是精灵图即可，这样在一定程度上减少了页面的加载速度，也在一定程度上缓解了服务器的压力。</a:t>
            </a:r>
            <a:endParaRPr lang="zh-CN" altLang="en-US" sz="1600">
              <a:solidFill>
                <a:schemeClr val="tx1"/>
              </a:solidFill>
            </a:endParaRPr>
          </a:p>
          <a:p>
            <a:pPr algn="l"/>
            <a:endParaRPr sz="1600">
              <a:solidFill>
                <a:schemeClr val="tx1"/>
              </a:solidFill>
            </a:endParaRPr>
          </a:p>
          <a:p>
            <a:pPr algn="l"/>
            <a:r>
              <a:rPr lang="zh-CN" sz="1600">
                <a:solidFill>
                  <a:schemeClr val="tx1"/>
                </a:solidFill>
              </a:rPr>
              <a:t>例如：王者荣耀页面里的几个小</a:t>
            </a:r>
            <a:r>
              <a:rPr lang="en-US" altLang="zh-CN" sz="1600">
                <a:solidFill>
                  <a:schemeClr val="tx1"/>
                </a:solidFill>
              </a:rPr>
              <a:t>logo</a:t>
            </a:r>
            <a:r>
              <a:rPr lang="zh-CN" altLang="en-US" sz="1600">
                <a:solidFill>
                  <a:schemeClr val="tx1"/>
                </a:solidFill>
              </a:rPr>
              <a:t>。</a:t>
            </a:r>
            <a:endParaRPr lang="zh-CN" altLang="en-US" sz="160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492161" y="142563"/>
            <a:ext cx="2159678" cy="390680"/>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A783A"/>
              </a:solidFill>
            </a:endParaRPr>
          </a:p>
        </p:txBody>
      </p:sp>
      <p:grpSp>
        <p:nvGrpSpPr>
          <p:cNvPr id="3" name="组合 2"/>
          <p:cNvGrpSpPr/>
          <p:nvPr/>
        </p:nvGrpSpPr>
        <p:grpSpPr>
          <a:xfrm>
            <a:off x="5921798" y="256915"/>
            <a:ext cx="453150" cy="161976"/>
            <a:chOff x="264939" y="188640"/>
            <a:chExt cx="604358" cy="216024"/>
          </a:xfrm>
        </p:grpSpPr>
        <p:sp>
          <p:nvSpPr>
            <p:cNvPr id="4" name="燕尾形 3"/>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5" name="燕尾形 4"/>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6" name="燕尾形 5"/>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grpSp>
        <p:nvGrpSpPr>
          <p:cNvPr id="7" name="组合 6"/>
          <p:cNvGrpSpPr/>
          <p:nvPr/>
        </p:nvGrpSpPr>
        <p:grpSpPr>
          <a:xfrm rot="10800000">
            <a:off x="2790266" y="256915"/>
            <a:ext cx="453150" cy="161976"/>
            <a:chOff x="264939" y="188640"/>
            <a:chExt cx="604358" cy="216024"/>
          </a:xfrm>
        </p:grpSpPr>
        <p:sp>
          <p:nvSpPr>
            <p:cNvPr id="8" name="燕尾形 7"/>
            <p:cNvSpPr/>
            <p:nvPr/>
          </p:nvSpPr>
          <p:spPr>
            <a:xfrm>
              <a:off x="264939" y="188640"/>
              <a:ext cx="216024" cy="216024"/>
            </a:xfrm>
            <a:prstGeom prst="chevron">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9" name="燕尾形 8"/>
            <p:cNvSpPr/>
            <p:nvPr/>
          </p:nvSpPr>
          <p:spPr>
            <a:xfrm>
              <a:off x="454914" y="188640"/>
              <a:ext cx="216024" cy="216024"/>
            </a:xfrm>
            <a:prstGeom prst="chevron">
              <a:avLst/>
            </a:prstGeom>
            <a:solidFill>
              <a:srgbClr val="0070C0">
                <a:alpha val="7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0" name="燕尾形 9"/>
            <p:cNvSpPr/>
            <p:nvPr/>
          </p:nvSpPr>
          <p:spPr>
            <a:xfrm>
              <a:off x="653273" y="188640"/>
              <a:ext cx="216024" cy="216024"/>
            </a:xfrm>
            <a:prstGeom prst="chevron">
              <a:avLst/>
            </a:prstGeom>
            <a:solidFill>
              <a:srgbClr val="0070C0">
                <a:alpha val="5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grpSp>
      <p:sp>
        <p:nvSpPr>
          <p:cNvPr id="14" name="文本框 9"/>
          <p:cNvSpPr txBox="1"/>
          <p:nvPr/>
        </p:nvSpPr>
        <p:spPr>
          <a:xfrm>
            <a:off x="3491865" y="173990"/>
            <a:ext cx="2159635" cy="327660"/>
          </a:xfrm>
          <a:prstGeom prst="rect">
            <a:avLst/>
          </a:prstGeom>
          <a:noFill/>
        </p:spPr>
        <p:txBody>
          <a:bodyPr wrap="square" lIns="51421" tIns="25710" rIns="51421" bIns="25710" rtlCol="0">
            <a:spAutoFit/>
          </a:bodyPr>
          <a:p>
            <a:pPr marL="0" lvl="1" algn="ctr"/>
            <a:r>
              <a:rPr lang="en-US" altLang="zh-CN" b="1" dirty="0" smtClean="0">
                <a:solidFill>
                  <a:srgbClr val="0070C0"/>
                </a:solidFill>
                <a:latin typeface="微软雅黑" panose="020B0503020204020204" pitchFamily="34" charset="-122"/>
                <a:ea typeface="微软雅黑" panose="020B0503020204020204" pitchFamily="34" charset="-122"/>
                <a:sym typeface="+mn-ea"/>
              </a:rPr>
              <a:t>CSS</a:t>
            </a:r>
            <a:r>
              <a:rPr lang="zh-CN" altLang="en-US" b="1" dirty="0" smtClean="0">
                <a:solidFill>
                  <a:srgbClr val="0070C0"/>
                </a:solidFill>
                <a:latin typeface="微软雅黑" panose="020B0503020204020204" pitchFamily="34" charset="-122"/>
                <a:ea typeface="微软雅黑" panose="020B0503020204020204" pitchFamily="34" charset="-122"/>
                <a:sym typeface="+mn-ea"/>
              </a:rPr>
              <a:t>属性</a:t>
            </a:r>
            <a:endParaRPr lang="zh-CN" b="1" dirty="0" smtClean="0">
              <a:solidFill>
                <a:srgbClr val="0070C0"/>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1799590" y="1141095"/>
            <a:ext cx="4939665" cy="3415030"/>
          </a:xfrm>
          <a:prstGeom prst="rect">
            <a:avLst/>
          </a:prstGeom>
          <a:noFill/>
        </p:spPr>
        <p:txBody>
          <a:bodyPr wrap="square" rtlCol="0" anchor="t">
            <a:spAutoFit/>
          </a:bodyPr>
          <a:p>
            <a:r>
              <a:rPr lang="en-US" altLang="zh-CN">
                <a:solidFill>
                  <a:srgbClr val="FF0000"/>
                </a:solidFill>
              </a:rPr>
              <a:t>22</a:t>
            </a:r>
            <a:r>
              <a:rPr lang="zh-CN" altLang="en-US">
                <a:solidFill>
                  <a:srgbClr val="FF0000"/>
                </a:solidFill>
              </a:rPr>
              <a:t>、float:定义网页中其它文本如何环绕该元素</a:t>
            </a:r>
            <a:endParaRPr lang="zh-CN" altLang="en-US">
              <a:solidFill>
                <a:srgbClr val="FF0000"/>
              </a:solidFill>
            </a:endParaRPr>
          </a:p>
          <a:p>
            <a:r>
              <a:rPr lang="zh-CN" altLang="en-US"/>
              <a:t>   </a:t>
            </a:r>
            <a:endParaRPr lang="zh-CN" altLang="en-US"/>
          </a:p>
          <a:p>
            <a:r>
              <a:rPr lang="zh-CN" altLang="en-US"/>
              <a:t>有三个取值：</a:t>
            </a:r>
            <a:endParaRPr lang="zh-CN" altLang="en-US"/>
          </a:p>
          <a:p>
            <a:r>
              <a:rPr lang="zh-CN" altLang="en-US"/>
              <a:t>left:元素活动浮动在文本左面</a:t>
            </a:r>
            <a:endParaRPr lang="zh-CN" altLang="en-US"/>
          </a:p>
          <a:p>
            <a:r>
              <a:rPr lang="zh-CN" altLang="en-US"/>
              <a:t>right:元素浮动在右面</a:t>
            </a:r>
            <a:endParaRPr lang="zh-CN" altLang="en-US"/>
          </a:p>
          <a:p>
            <a:r>
              <a:rPr lang="zh-CN" altLang="en-US"/>
              <a:t>none:默认值，不浮动。</a:t>
            </a:r>
            <a:endParaRPr lang="zh-CN" altLang="en-US"/>
          </a:p>
          <a:p>
            <a:endParaRPr lang="zh-CN" altLang="en-US"/>
          </a:p>
          <a:p>
            <a:r>
              <a:rPr lang="zh-CN" altLang="en-US"/>
              <a:t>Clear：清除浮动</a:t>
            </a:r>
            <a:endParaRPr lang="zh-CN" altLang="en-US"/>
          </a:p>
          <a:p>
            <a:r>
              <a:rPr lang="zh-CN" altLang="en-US"/>
              <a:t>none：允许两边都可以有浮动对象</a:t>
            </a:r>
            <a:endParaRPr lang="zh-CN" altLang="en-US"/>
          </a:p>
          <a:p>
            <a:r>
              <a:rPr lang="zh-CN" altLang="en-US"/>
              <a:t>both：清除两边浮动</a:t>
            </a:r>
            <a:endParaRPr lang="zh-CN" altLang="en-US"/>
          </a:p>
          <a:p>
            <a:r>
              <a:rPr lang="zh-CN" altLang="en-US"/>
              <a:t>left：清除左边浮动</a:t>
            </a:r>
            <a:endParaRPr lang="zh-CN" altLang="en-US"/>
          </a:p>
          <a:p>
            <a:r>
              <a:rPr lang="zh-CN" altLang="en-US"/>
              <a:t>right:清除右边浮动</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3484314" y="1525740"/>
            <a:ext cx="1046460" cy="1046460"/>
            <a:chOff x="1677608" y="2996952"/>
            <a:chExt cx="1395643" cy="1395643"/>
          </a:xfrm>
        </p:grpSpPr>
        <p:sp>
          <p:nvSpPr>
            <p:cNvPr id="13"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prstClr val="white"/>
                </a:solidFill>
                <a:latin typeface="微软雅黑" panose="020B0503020204020204" pitchFamily="34" charset="-122"/>
                <a:ea typeface="微软雅黑" panose="020B0503020204020204" pitchFamily="34" charset="-122"/>
              </a:endParaRPr>
            </a:p>
          </p:txBody>
        </p:sp>
        <p:sp>
          <p:nvSpPr>
            <p:cNvPr id="14" name="Oval 29"/>
            <p:cNvSpPr>
              <a:spLocks noChangeAspect="1"/>
            </p:cNvSpPr>
            <p:nvPr/>
          </p:nvSpPr>
          <p:spPr>
            <a:xfrm>
              <a:off x="1850114" y="3169458"/>
              <a:ext cx="1050630" cy="1050630"/>
            </a:xfrm>
            <a:prstGeom prst="ellipse">
              <a:avLst/>
            </a:prstGeom>
            <a:gradFill>
              <a:gsLst>
                <a:gs pos="0">
                  <a:srgbClr val="0070C0"/>
                </a:gs>
                <a:gs pos="100000">
                  <a:srgbClr val="00B0F0"/>
                </a:gs>
              </a:gsLst>
              <a:lin ang="5400000" scaled="1"/>
            </a:gra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grpSp>
        <p:nvGrpSpPr>
          <p:cNvPr id="15" name="组合 14"/>
          <p:cNvGrpSpPr/>
          <p:nvPr/>
        </p:nvGrpSpPr>
        <p:grpSpPr>
          <a:xfrm>
            <a:off x="4584766" y="1525740"/>
            <a:ext cx="1046460" cy="1046460"/>
            <a:chOff x="1677608" y="2996952"/>
            <a:chExt cx="1395643" cy="1395643"/>
          </a:xfrm>
        </p:grpSpPr>
        <p:sp>
          <p:nvSpPr>
            <p:cNvPr id="16"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prstClr val="white"/>
                </a:solidFill>
                <a:latin typeface="微软雅黑" panose="020B0503020204020204" pitchFamily="34" charset="-122"/>
                <a:ea typeface="微软雅黑" panose="020B0503020204020204" pitchFamily="34" charset="-122"/>
              </a:endParaRPr>
            </a:p>
          </p:txBody>
        </p:sp>
        <p:sp>
          <p:nvSpPr>
            <p:cNvPr id="17" name="Oval 29"/>
            <p:cNvSpPr>
              <a:spLocks noChangeAspect="1"/>
            </p:cNvSpPr>
            <p:nvPr/>
          </p:nvSpPr>
          <p:spPr>
            <a:xfrm>
              <a:off x="1850114" y="3169458"/>
              <a:ext cx="1050630" cy="1050630"/>
            </a:xfrm>
            <a:prstGeom prst="ellipse">
              <a:avLst/>
            </a:prstGeom>
            <a:gradFill>
              <a:gsLst>
                <a:gs pos="0">
                  <a:srgbClr val="0070C0"/>
                </a:gs>
                <a:gs pos="100000">
                  <a:srgbClr val="00B0F0"/>
                </a:gs>
              </a:gsLst>
              <a:lin ang="5400000" scaled="1"/>
            </a:gra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grpSp>
        <p:nvGrpSpPr>
          <p:cNvPr id="18" name="组合 17"/>
          <p:cNvGrpSpPr/>
          <p:nvPr/>
        </p:nvGrpSpPr>
        <p:grpSpPr>
          <a:xfrm>
            <a:off x="5685217" y="1525740"/>
            <a:ext cx="1046460" cy="1046460"/>
            <a:chOff x="1677608" y="2996952"/>
            <a:chExt cx="1395643" cy="1395643"/>
          </a:xfrm>
        </p:grpSpPr>
        <p:sp>
          <p:nvSpPr>
            <p:cNvPr id="19"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prstClr val="white"/>
                </a:solidFill>
                <a:latin typeface="微软雅黑" panose="020B0503020204020204" pitchFamily="34" charset="-122"/>
                <a:ea typeface="微软雅黑" panose="020B0503020204020204" pitchFamily="34" charset="-122"/>
              </a:endParaRPr>
            </a:p>
          </p:txBody>
        </p:sp>
        <p:sp>
          <p:nvSpPr>
            <p:cNvPr id="20" name="Oval 29"/>
            <p:cNvSpPr>
              <a:spLocks noChangeAspect="1"/>
            </p:cNvSpPr>
            <p:nvPr/>
          </p:nvSpPr>
          <p:spPr>
            <a:xfrm>
              <a:off x="1850114" y="3169458"/>
              <a:ext cx="1050630" cy="1050630"/>
            </a:xfrm>
            <a:prstGeom prst="ellipse">
              <a:avLst/>
            </a:prstGeom>
            <a:gradFill>
              <a:gsLst>
                <a:gs pos="0">
                  <a:srgbClr val="0070C0"/>
                </a:gs>
                <a:gs pos="100000">
                  <a:srgbClr val="00B0F0"/>
                </a:gs>
              </a:gsLst>
              <a:lin ang="5400000" scaled="1"/>
            </a:gra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grpSp>
        <p:nvGrpSpPr>
          <p:cNvPr id="21" name="组合 20"/>
          <p:cNvGrpSpPr/>
          <p:nvPr/>
        </p:nvGrpSpPr>
        <p:grpSpPr>
          <a:xfrm>
            <a:off x="2414485" y="1517738"/>
            <a:ext cx="1046460" cy="1046460"/>
            <a:chOff x="1677608" y="2996952"/>
            <a:chExt cx="1395643" cy="1395643"/>
          </a:xfrm>
        </p:grpSpPr>
        <p:sp>
          <p:nvSpPr>
            <p:cNvPr id="22"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prstClr val="white"/>
                </a:solidFill>
                <a:latin typeface="微软雅黑" panose="020B0503020204020204" pitchFamily="34" charset="-122"/>
                <a:ea typeface="微软雅黑" panose="020B0503020204020204" pitchFamily="34" charset="-122"/>
              </a:endParaRPr>
            </a:p>
          </p:txBody>
        </p:sp>
        <p:sp>
          <p:nvSpPr>
            <p:cNvPr id="23" name="Oval 29"/>
            <p:cNvSpPr>
              <a:spLocks noChangeAspect="1"/>
            </p:cNvSpPr>
            <p:nvPr/>
          </p:nvSpPr>
          <p:spPr>
            <a:xfrm>
              <a:off x="1850114" y="3169458"/>
              <a:ext cx="1050630" cy="1050630"/>
            </a:xfrm>
            <a:prstGeom prst="ellipse">
              <a:avLst/>
            </a:prstGeom>
            <a:gradFill>
              <a:gsLst>
                <a:gs pos="0">
                  <a:srgbClr val="0070C0"/>
                </a:gs>
                <a:gs pos="100000">
                  <a:srgbClr val="00B0F0"/>
                </a:gs>
              </a:gsLst>
              <a:lin ang="5400000" scaled="1"/>
            </a:gra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24" name="TextBox 23"/>
          <p:cNvSpPr txBox="1"/>
          <p:nvPr/>
        </p:nvSpPr>
        <p:spPr>
          <a:xfrm flipH="1">
            <a:off x="2802397" y="1741708"/>
            <a:ext cx="269960" cy="598805"/>
          </a:xfrm>
          <a:prstGeom prst="rect">
            <a:avLst/>
          </a:prstGeom>
          <a:noFill/>
        </p:spPr>
        <p:txBody>
          <a:bodyPr wrap="square" rtlCol="0">
            <a:spAutoFit/>
          </a:bodyPr>
          <a:lstStyle/>
          <a:p>
            <a:pPr algn="ctr"/>
            <a:r>
              <a:rPr lang="zh-CN" altLang="en-US" sz="3300" b="1" dirty="0" smtClean="0">
                <a:solidFill>
                  <a:schemeClr val="bg1"/>
                </a:solidFill>
                <a:latin typeface="微软雅黑" panose="020B0503020204020204" pitchFamily="34" charset="-122"/>
                <a:ea typeface="微软雅黑" panose="020B0503020204020204" pitchFamily="34" charset="-122"/>
              </a:rPr>
              <a:t>本</a:t>
            </a:r>
            <a:endParaRPr lang="id-ID" sz="3300" b="1" dirty="0">
              <a:solidFill>
                <a:schemeClr val="bg1"/>
              </a:solidFill>
              <a:latin typeface="微软雅黑" panose="020B0503020204020204" pitchFamily="34" charset="-122"/>
              <a:ea typeface="微软雅黑" panose="020B0503020204020204" pitchFamily="34" charset="-122"/>
            </a:endParaRPr>
          </a:p>
        </p:txBody>
      </p:sp>
      <p:sp>
        <p:nvSpPr>
          <p:cNvPr id="25" name="TextBox 24"/>
          <p:cNvSpPr txBox="1"/>
          <p:nvPr/>
        </p:nvSpPr>
        <p:spPr>
          <a:xfrm flipH="1">
            <a:off x="3872902" y="1741073"/>
            <a:ext cx="269960" cy="598805"/>
          </a:xfrm>
          <a:prstGeom prst="rect">
            <a:avLst/>
          </a:prstGeom>
          <a:noFill/>
        </p:spPr>
        <p:txBody>
          <a:bodyPr wrap="square" rtlCol="0">
            <a:spAutoFit/>
          </a:bodyPr>
          <a:lstStyle/>
          <a:p>
            <a:pPr algn="ctr"/>
            <a:r>
              <a:rPr lang="zh-CN" altLang="en-US" sz="3300" b="1" dirty="0">
                <a:solidFill>
                  <a:schemeClr val="bg1"/>
                </a:solidFill>
                <a:latin typeface="微软雅黑" panose="020B0503020204020204" pitchFamily="34" charset="-122"/>
                <a:ea typeface="微软雅黑" panose="020B0503020204020204" pitchFamily="34" charset="-122"/>
              </a:rPr>
              <a:t>章</a:t>
            </a:r>
            <a:endParaRPr lang="id-ID" sz="3300" b="1" dirty="0">
              <a:solidFill>
                <a:schemeClr val="bg1"/>
              </a:solidFill>
              <a:latin typeface="微软雅黑" panose="020B0503020204020204" pitchFamily="34" charset="-122"/>
              <a:ea typeface="微软雅黑" panose="020B0503020204020204" pitchFamily="34" charset="-122"/>
            </a:endParaRPr>
          </a:p>
        </p:txBody>
      </p:sp>
      <p:sp>
        <p:nvSpPr>
          <p:cNvPr id="26" name="TextBox 25"/>
          <p:cNvSpPr txBox="1"/>
          <p:nvPr/>
        </p:nvSpPr>
        <p:spPr>
          <a:xfrm flipH="1">
            <a:off x="4972825" y="1741708"/>
            <a:ext cx="269960" cy="598805"/>
          </a:xfrm>
          <a:prstGeom prst="rect">
            <a:avLst/>
          </a:prstGeom>
          <a:noFill/>
        </p:spPr>
        <p:txBody>
          <a:bodyPr wrap="square" rtlCol="0">
            <a:spAutoFit/>
          </a:bodyPr>
          <a:lstStyle/>
          <a:p>
            <a:pPr algn="ctr"/>
            <a:r>
              <a:rPr lang="zh-CN" altLang="en-US" sz="3300" b="1" dirty="0" smtClean="0">
                <a:solidFill>
                  <a:schemeClr val="bg1"/>
                </a:solidFill>
                <a:latin typeface="微软雅黑" panose="020B0503020204020204" pitchFamily="34" charset="-122"/>
                <a:ea typeface="微软雅黑" panose="020B0503020204020204" pitchFamily="34" charset="-122"/>
              </a:rPr>
              <a:t>结</a:t>
            </a:r>
            <a:endParaRPr lang="id-ID" sz="3300" b="1" dirty="0">
              <a:solidFill>
                <a:schemeClr val="bg1"/>
              </a:solidFill>
              <a:latin typeface="微软雅黑" panose="020B0503020204020204" pitchFamily="34" charset="-122"/>
              <a:ea typeface="微软雅黑" panose="020B0503020204020204" pitchFamily="34" charset="-122"/>
            </a:endParaRPr>
          </a:p>
        </p:txBody>
      </p:sp>
      <p:sp>
        <p:nvSpPr>
          <p:cNvPr id="27" name="TextBox 26"/>
          <p:cNvSpPr txBox="1"/>
          <p:nvPr/>
        </p:nvSpPr>
        <p:spPr>
          <a:xfrm flipH="1">
            <a:off x="6073028" y="1741708"/>
            <a:ext cx="269960" cy="598805"/>
          </a:xfrm>
          <a:prstGeom prst="rect">
            <a:avLst/>
          </a:prstGeom>
          <a:noFill/>
        </p:spPr>
        <p:txBody>
          <a:bodyPr wrap="square" rtlCol="0">
            <a:spAutoFit/>
          </a:bodyPr>
          <a:lstStyle/>
          <a:p>
            <a:pPr algn="ctr"/>
            <a:r>
              <a:rPr lang="zh-CN" altLang="id-ID" sz="3300" b="1" dirty="0">
                <a:solidFill>
                  <a:schemeClr val="bg1"/>
                </a:solidFill>
                <a:latin typeface="微软雅黑" panose="020B0503020204020204" pitchFamily="34" charset="-122"/>
                <a:ea typeface="微软雅黑" panose="020B0503020204020204" pitchFamily="34" charset="-122"/>
              </a:rPr>
              <a:t>束</a:t>
            </a:r>
            <a:endParaRPr lang="zh-CN" altLang="id-ID" sz="3300" b="1" dirty="0">
              <a:solidFill>
                <a:schemeClr val="bg1"/>
              </a:solidFill>
              <a:latin typeface="微软雅黑" panose="020B0503020204020204" pitchFamily="34" charset="-122"/>
              <a:ea typeface="微软雅黑" panose="020B0503020204020204" pitchFamily="34" charset="-122"/>
            </a:endParaRPr>
          </a:p>
        </p:txBody>
      </p:sp>
      <p:sp>
        <p:nvSpPr>
          <p:cNvPr id="2" name="Freeform 9"/>
          <p:cNvSpPr>
            <a:spLocks noEditPoints="1"/>
          </p:cNvSpPr>
          <p:nvPr/>
        </p:nvSpPr>
        <p:spPr bwMode="auto">
          <a:xfrm rot="19469485">
            <a:off x="330912" y="2909257"/>
            <a:ext cx="1167957" cy="1244529"/>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gradFill>
            <a:gsLst>
              <a:gs pos="0">
                <a:srgbClr val="0070C0"/>
              </a:gs>
              <a:gs pos="100000">
                <a:srgbClr val="00B0F0"/>
              </a:gs>
            </a:gsLst>
            <a:lin ang="5400000" scaled="1"/>
          </a:gradFill>
          <a:ln>
            <a:noFill/>
          </a:ln>
        </p:spPr>
        <p:txBody>
          <a:bodyPr vert="horz" wrap="square" lIns="68562" tIns="34281" rIns="68562" bIns="34281" numCol="1" anchor="t" anchorCtr="0" compatLnSpc="1"/>
          <a:p>
            <a:endParaRPr lang="zh-CN" altLang="en-US" sz="1350"/>
          </a:p>
        </p:txBody>
      </p:sp>
      <p:sp>
        <p:nvSpPr>
          <p:cNvPr id="3" name="Freeform 9"/>
          <p:cNvSpPr>
            <a:spLocks noEditPoints="1"/>
          </p:cNvSpPr>
          <p:nvPr/>
        </p:nvSpPr>
        <p:spPr bwMode="auto">
          <a:xfrm rot="19469485">
            <a:off x="2980767" y="3535367"/>
            <a:ext cx="1167957" cy="1244529"/>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gradFill>
            <a:gsLst>
              <a:gs pos="0">
                <a:srgbClr val="0070C0"/>
              </a:gs>
              <a:gs pos="100000">
                <a:srgbClr val="00B0F0"/>
              </a:gs>
            </a:gsLst>
            <a:lin ang="5400000" scaled="1"/>
          </a:gradFill>
          <a:ln>
            <a:noFill/>
          </a:ln>
        </p:spPr>
        <p:txBody>
          <a:bodyPr vert="horz" wrap="square" lIns="68562" tIns="34281" rIns="68562" bIns="34281" numCol="1" anchor="t" anchorCtr="0" compatLnSpc="1"/>
          <a:lstStyle/>
          <a:p>
            <a:endParaRPr lang="zh-CN" altLang="en-US" sz="1350"/>
          </a:p>
        </p:txBody>
      </p:sp>
      <p:sp>
        <p:nvSpPr>
          <p:cNvPr id="8" name="Freeform 9"/>
          <p:cNvSpPr>
            <a:spLocks noEditPoints="1"/>
          </p:cNvSpPr>
          <p:nvPr/>
        </p:nvSpPr>
        <p:spPr bwMode="auto">
          <a:xfrm rot="19469485">
            <a:off x="7621982" y="3632522"/>
            <a:ext cx="1167957" cy="1244529"/>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gradFill>
            <a:gsLst>
              <a:gs pos="0">
                <a:srgbClr val="0070C0"/>
              </a:gs>
              <a:gs pos="100000">
                <a:srgbClr val="00B0F0"/>
              </a:gs>
            </a:gsLst>
            <a:lin ang="5400000" scaled="1"/>
          </a:gradFill>
          <a:ln>
            <a:noFill/>
          </a:ln>
        </p:spPr>
        <p:txBody>
          <a:bodyPr vert="horz" wrap="square" lIns="68562" tIns="34281" rIns="68562" bIns="34281" numCol="1" anchor="t" anchorCtr="0" compatLnSpc="1"/>
          <a:p>
            <a:endParaRPr lang="zh-CN" altLang="en-US" sz="1350"/>
          </a:p>
        </p:txBody>
      </p:sp>
      <p:sp>
        <p:nvSpPr>
          <p:cNvPr id="9" name="Freeform 9"/>
          <p:cNvSpPr>
            <a:spLocks noEditPoints="1"/>
          </p:cNvSpPr>
          <p:nvPr/>
        </p:nvSpPr>
        <p:spPr bwMode="auto">
          <a:xfrm rot="19469485">
            <a:off x="5181677" y="2909257"/>
            <a:ext cx="1167957" cy="1244529"/>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gradFill>
            <a:gsLst>
              <a:gs pos="0">
                <a:srgbClr val="0070C0"/>
              </a:gs>
              <a:gs pos="100000">
                <a:srgbClr val="00B0F0"/>
              </a:gs>
            </a:gsLst>
            <a:lin ang="5400000" scaled="1"/>
          </a:gradFill>
          <a:ln>
            <a:noFill/>
          </a:ln>
        </p:spPr>
        <p:txBody>
          <a:bodyPr vert="horz" wrap="square" lIns="68562" tIns="34281" rIns="68562" bIns="34281" numCol="1" anchor="t" anchorCtr="0" compatLnSpc="1"/>
          <a:lstStyle/>
          <a:p>
            <a:endParaRPr lang="zh-CN" altLang="en-US" sz="1350"/>
          </a:p>
        </p:txBody>
      </p:sp>
    </p:spTree>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290">
                                          <p:stCondLst>
                                            <p:cond delay="0"/>
                                          </p:stCondLst>
                                        </p:cTn>
                                        <p:tgtEl>
                                          <p:spTgt spid="21"/>
                                        </p:tgtEl>
                                      </p:cBhvr>
                                    </p:animEffect>
                                    <p:anim calcmode="lin" valueType="num">
                                      <p:cBhvr>
                                        <p:cTn id="8" dur="911" tmFilter="0,0; 0.14,0.36; 0.43,0.73; 0.71,0.91; 1.0,1.0">
                                          <p:stCondLst>
                                            <p:cond delay="0"/>
                                          </p:stCondLst>
                                        </p:cTn>
                                        <p:tgtEl>
                                          <p:spTgt spid="21"/>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21"/>
                                        </p:tgtEl>
                                        <p:attrNameLst>
                                          <p:attrName>ppt_y</p:attrName>
                                        </p:attrNameLst>
                                      </p:cBhvr>
                                      <p:tavLst>
                                        <p:tav tm="0" fmla="#ppt_y-sin(pi*$)/3">
                                          <p:val>
                                            <p:fltVal val="0.5"/>
                                          </p:val>
                                        </p:tav>
                                        <p:tav tm="100000">
                                          <p:val>
                                            <p:fltVal val="1"/>
                                          </p:val>
                                        </p:tav>
                                      </p:tavLst>
                                    </p:anim>
                                    <p:anim calcmode="lin" valueType="num">
                                      <p:cBhvr>
                                        <p:cTn id="10" dur="332" tmFilter="0, 0; 0.125,0.2665; 0.25,0.4; 0.375,0.465; 0.5,0.5;  0.625,0.535; 0.75,0.6; 0.875,0.7335; 1,1">
                                          <p:stCondLst>
                                            <p:cond delay="332"/>
                                          </p:stCondLst>
                                        </p:cTn>
                                        <p:tgtEl>
                                          <p:spTgt spid="21"/>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2"/>
                                          </p:stCondLst>
                                        </p:cTn>
                                        <p:tgtEl>
                                          <p:spTgt spid="21"/>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8"/>
                                          </p:stCondLst>
                                        </p:cTn>
                                        <p:tgtEl>
                                          <p:spTgt spid="21"/>
                                        </p:tgtEl>
                                        <p:attrNameLst>
                                          <p:attrName>ppt_y</p:attrName>
                                        </p:attrNameLst>
                                      </p:cBhvr>
                                      <p:tavLst>
                                        <p:tav tm="0" fmla="#ppt_y-sin(pi*$)/81">
                                          <p:val>
                                            <p:fltVal val="0"/>
                                          </p:val>
                                        </p:tav>
                                        <p:tav tm="100000">
                                          <p:val>
                                            <p:fltVal val="1"/>
                                          </p:val>
                                        </p:tav>
                                      </p:tavLst>
                                    </p:anim>
                                    <p:animScale>
                                      <p:cBhvr>
                                        <p:cTn id="13" dur="13">
                                          <p:stCondLst>
                                            <p:cond delay="325"/>
                                          </p:stCondLst>
                                        </p:cTn>
                                        <p:tgtEl>
                                          <p:spTgt spid="21"/>
                                        </p:tgtEl>
                                      </p:cBhvr>
                                      <p:to x="100000" y="60000"/>
                                    </p:animScale>
                                    <p:animScale>
                                      <p:cBhvr>
                                        <p:cTn id="14" dur="83" decel="50000">
                                          <p:stCondLst>
                                            <p:cond delay="338"/>
                                          </p:stCondLst>
                                        </p:cTn>
                                        <p:tgtEl>
                                          <p:spTgt spid="21"/>
                                        </p:tgtEl>
                                      </p:cBhvr>
                                      <p:to x="100000" y="100000"/>
                                    </p:animScale>
                                    <p:animScale>
                                      <p:cBhvr>
                                        <p:cTn id="15" dur="13">
                                          <p:stCondLst>
                                            <p:cond delay="656"/>
                                          </p:stCondLst>
                                        </p:cTn>
                                        <p:tgtEl>
                                          <p:spTgt spid="21"/>
                                        </p:tgtEl>
                                      </p:cBhvr>
                                      <p:to x="100000" y="80000"/>
                                    </p:animScale>
                                    <p:animScale>
                                      <p:cBhvr>
                                        <p:cTn id="16" dur="83" decel="50000">
                                          <p:stCondLst>
                                            <p:cond delay="669"/>
                                          </p:stCondLst>
                                        </p:cTn>
                                        <p:tgtEl>
                                          <p:spTgt spid="21"/>
                                        </p:tgtEl>
                                      </p:cBhvr>
                                      <p:to x="100000" y="100000"/>
                                    </p:animScale>
                                    <p:animScale>
                                      <p:cBhvr>
                                        <p:cTn id="17" dur="13">
                                          <p:stCondLst>
                                            <p:cond delay="821"/>
                                          </p:stCondLst>
                                        </p:cTn>
                                        <p:tgtEl>
                                          <p:spTgt spid="21"/>
                                        </p:tgtEl>
                                      </p:cBhvr>
                                      <p:to x="100000" y="90000"/>
                                    </p:animScale>
                                    <p:animScale>
                                      <p:cBhvr>
                                        <p:cTn id="18" dur="83" decel="50000">
                                          <p:stCondLst>
                                            <p:cond delay="834"/>
                                          </p:stCondLst>
                                        </p:cTn>
                                        <p:tgtEl>
                                          <p:spTgt spid="21"/>
                                        </p:tgtEl>
                                      </p:cBhvr>
                                      <p:to x="100000" y="100000"/>
                                    </p:animScale>
                                    <p:animScale>
                                      <p:cBhvr>
                                        <p:cTn id="19" dur="13">
                                          <p:stCondLst>
                                            <p:cond delay="904"/>
                                          </p:stCondLst>
                                        </p:cTn>
                                        <p:tgtEl>
                                          <p:spTgt spid="21"/>
                                        </p:tgtEl>
                                      </p:cBhvr>
                                      <p:to x="100000" y="95000"/>
                                    </p:animScale>
                                    <p:animScale>
                                      <p:cBhvr>
                                        <p:cTn id="20" dur="83" decel="50000">
                                          <p:stCondLst>
                                            <p:cond delay="917"/>
                                          </p:stCondLst>
                                        </p:cTn>
                                        <p:tgtEl>
                                          <p:spTgt spid="21"/>
                                        </p:tgtEl>
                                      </p:cBhvr>
                                      <p:to x="100000" y="100000"/>
                                    </p:animScale>
                                  </p:childTnLst>
                                </p:cTn>
                              </p:par>
                            </p:childTnLst>
                          </p:cTn>
                        </p:par>
                        <p:par>
                          <p:cTn id="21" fill="hold">
                            <p:stCondLst>
                              <p:cond delay="1000"/>
                            </p:stCondLst>
                            <p:childTnLst>
                              <p:par>
                                <p:cTn id="22" presetID="26"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down)">
                                      <p:cBhvr>
                                        <p:cTn id="24" dur="290">
                                          <p:stCondLst>
                                            <p:cond delay="0"/>
                                          </p:stCondLst>
                                        </p:cTn>
                                        <p:tgtEl>
                                          <p:spTgt spid="12"/>
                                        </p:tgtEl>
                                      </p:cBhvr>
                                    </p:animEffect>
                                    <p:anim calcmode="lin" valueType="num">
                                      <p:cBhvr>
                                        <p:cTn id="25" dur="911"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26" dur="332"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27" dur="332" tmFilter="0, 0; 0.125,0.2665; 0.25,0.4; 0.375,0.465; 0.5,0.5;  0.625,0.535; 0.75,0.6; 0.875,0.7335; 1,1">
                                          <p:stCondLst>
                                            <p:cond delay="332"/>
                                          </p:stCondLst>
                                        </p:cTn>
                                        <p:tgtEl>
                                          <p:spTgt spid="12"/>
                                        </p:tgtEl>
                                        <p:attrNameLst>
                                          <p:attrName>ppt_y</p:attrName>
                                        </p:attrNameLst>
                                      </p:cBhvr>
                                      <p:tavLst>
                                        <p:tav tm="0" fmla="#ppt_y-sin(pi*$)/9">
                                          <p:val>
                                            <p:fltVal val="0"/>
                                          </p:val>
                                        </p:tav>
                                        <p:tav tm="100000">
                                          <p:val>
                                            <p:fltVal val="1"/>
                                          </p:val>
                                        </p:tav>
                                      </p:tavLst>
                                    </p:anim>
                                    <p:anim calcmode="lin" valueType="num">
                                      <p:cBhvr>
                                        <p:cTn id="28" dur="166" tmFilter="0, 0; 0.125,0.2665; 0.25,0.4; 0.375,0.465; 0.5,0.5;  0.625,0.535; 0.75,0.6; 0.875,0.7335; 1,1">
                                          <p:stCondLst>
                                            <p:cond delay="662"/>
                                          </p:stCondLst>
                                        </p:cTn>
                                        <p:tgtEl>
                                          <p:spTgt spid="12"/>
                                        </p:tgtEl>
                                        <p:attrNameLst>
                                          <p:attrName>ppt_y</p:attrName>
                                        </p:attrNameLst>
                                      </p:cBhvr>
                                      <p:tavLst>
                                        <p:tav tm="0" fmla="#ppt_y-sin(pi*$)/27">
                                          <p:val>
                                            <p:fltVal val="0"/>
                                          </p:val>
                                        </p:tav>
                                        <p:tav tm="100000">
                                          <p:val>
                                            <p:fltVal val="1"/>
                                          </p:val>
                                        </p:tav>
                                      </p:tavLst>
                                    </p:anim>
                                    <p:anim calcmode="lin" valueType="num">
                                      <p:cBhvr>
                                        <p:cTn id="29" dur="82" tmFilter="0, 0; 0.125,0.2665; 0.25,0.4; 0.375,0.465; 0.5,0.5;  0.625,0.535; 0.75,0.6; 0.875,0.7335; 1,1">
                                          <p:stCondLst>
                                            <p:cond delay="828"/>
                                          </p:stCondLst>
                                        </p:cTn>
                                        <p:tgtEl>
                                          <p:spTgt spid="12"/>
                                        </p:tgtEl>
                                        <p:attrNameLst>
                                          <p:attrName>ppt_y</p:attrName>
                                        </p:attrNameLst>
                                      </p:cBhvr>
                                      <p:tavLst>
                                        <p:tav tm="0" fmla="#ppt_y-sin(pi*$)/81">
                                          <p:val>
                                            <p:fltVal val="0"/>
                                          </p:val>
                                        </p:tav>
                                        <p:tav tm="100000">
                                          <p:val>
                                            <p:fltVal val="1"/>
                                          </p:val>
                                        </p:tav>
                                      </p:tavLst>
                                    </p:anim>
                                    <p:animScale>
                                      <p:cBhvr>
                                        <p:cTn id="30" dur="13">
                                          <p:stCondLst>
                                            <p:cond delay="325"/>
                                          </p:stCondLst>
                                        </p:cTn>
                                        <p:tgtEl>
                                          <p:spTgt spid="12"/>
                                        </p:tgtEl>
                                      </p:cBhvr>
                                      <p:to x="100000" y="60000"/>
                                    </p:animScale>
                                    <p:animScale>
                                      <p:cBhvr>
                                        <p:cTn id="31" dur="83" decel="50000">
                                          <p:stCondLst>
                                            <p:cond delay="338"/>
                                          </p:stCondLst>
                                        </p:cTn>
                                        <p:tgtEl>
                                          <p:spTgt spid="12"/>
                                        </p:tgtEl>
                                      </p:cBhvr>
                                      <p:to x="100000" y="100000"/>
                                    </p:animScale>
                                    <p:animScale>
                                      <p:cBhvr>
                                        <p:cTn id="32" dur="13">
                                          <p:stCondLst>
                                            <p:cond delay="656"/>
                                          </p:stCondLst>
                                        </p:cTn>
                                        <p:tgtEl>
                                          <p:spTgt spid="12"/>
                                        </p:tgtEl>
                                      </p:cBhvr>
                                      <p:to x="100000" y="80000"/>
                                    </p:animScale>
                                    <p:animScale>
                                      <p:cBhvr>
                                        <p:cTn id="33" dur="83" decel="50000">
                                          <p:stCondLst>
                                            <p:cond delay="669"/>
                                          </p:stCondLst>
                                        </p:cTn>
                                        <p:tgtEl>
                                          <p:spTgt spid="12"/>
                                        </p:tgtEl>
                                      </p:cBhvr>
                                      <p:to x="100000" y="100000"/>
                                    </p:animScale>
                                    <p:animScale>
                                      <p:cBhvr>
                                        <p:cTn id="34" dur="13">
                                          <p:stCondLst>
                                            <p:cond delay="821"/>
                                          </p:stCondLst>
                                        </p:cTn>
                                        <p:tgtEl>
                                          <p:spTgt spid="12"/>
                                        </p:tgtEl>
                                      </p:cBhvr>
                                      <p:to x="100000" y="90000"/>
                                    </p:animScale>
                                    <p:animScale>
                                      <p:cBhvr>
                                        <p:cTn id="35" dur="83" decel="50000">
                                          <p:stCondLst>
                                            <p:cond delay="834"/>
                                          </p:stCondLst>
                                        </p:cTn>
                                        <p:tgtEl>
                                          <p:spTgt spid="12"/>
                                        </p:tgtEl>
                                      </p:cBhvr>
                                      <p:to x="100000" y="100000"/>
                                    </p:animScale>
                                    <p:animScale>
                                      <p:cBhvr>
                                        <p:cTn id="36" dur="13">
                                          <p:stCondLst>
                                            <p:cond delay="904"/>
                                          </p:stCondLst>
                                        </p:cTn>
                                        <p:tgtEl>
                                          <p:spTgt spid="12"/>
                                        </p:tgtEl>
                                      </p:cBhvr>
                                      <p:to x="100000" y="95000"/>
                                    </p:animScale>
                                    <p:animScale>
                                      <p:cBhvr>
                                        <p:cTn id="37" dur="83" decel="50000">
                                          <p:stCondLst>
                                            <p:cond delay="917"/>
                                          </p:stCondLst>
                                        </p:cTn>
                                        <p:tgtEl>
                                          <p:spTgt spid="12"/>
                                        </p:tgtEl>
                                      </p:cBhvr>
                                      <p:to x="100000" y="100000"/>
                                    </p:animScale>
                                  </p:childTnLst>
                                </p:cTn>
                              </p:par>
                            </p:childTnLst>
                          </p:cTn>
                        </p:par>
                        <p:par>
                          <p:cTn id="38" fill="hold">
                            <p:stCondLst>
                              <p:cond delay="2000"/>
                            </p:stCondLst>
                            <p:childTnLst>
                              <p:par>
                                <p:cTn id="39" presetID="26" presetClass="entr" presetSubtype="0" fill="hold" nodeType="after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wipe(down)">
                                      <p:cBhvr>
                                        <p:cTn id="41" dur="290">
                                          <p:stCondLst>
                                            <p:cond delay="0"/>
                                          </p:stCondLst>
                                        </p:cTn>
                                        <p:tgtEl>
                                          <p:spTgt spid="15"/>
                                        </p:tgtEl>
                                      </p:cBhvr>
                                    </p:animEffect>
                                    <p:anim calcmode="lin" valueType="num">
                                      <p:cBhvr>
                                        <p:cTn id="42" dur="911"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43" dur="332"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44" dur="332" tmFilter="0, 0; 0.125,0.2665; 0.25,0.4; 0.375,0.465; 0.5,0.5;  0.625,0.535; 0.75,0.6; 0.875,0.7335; 1,1">
                                          <p:stCondLst>
                                            <p:cond delay="332"/>
                                          </p:stCondLst>
                                        </p:cTn>
                                        <p:tgtEl>
                                          <p:spTgt spid="15"/>
                                        </p:tgtEl>
                                        <p:attrNameLst>
                                          <p:attrName>ppt_y</p:attrName>
                                        </p:attrNameLst>
                                      </p:cBhvr>
                                      <p:tavLst>
                                        <p:tav tm="0" fmla="#ppt_y-sin(pi*$)/9">
                                          <p:val>
                                            <p:fltVal val="0"/>
                                          </p:val>
                                        </p:tav>
                                        <p:tav tm="100000">
                                          <p:val>
                                            <p:fltVal val="1"/>
                                          </p:val>
                                        </p:tav>
                                      </p:tavLst>
                                    </p:anim>
                                    <p:anim calcmode="lin" valueType="num">
                                      <p:cBhvr>
                                        <p:cTn id="45" dur="166" tmFilter="0, 0; 0.125,0.2665; 0.25,0.4; 0.375,0.465; 0.5,0.5;  0.625,0.535; 0.75,0.6; 0.875,0.7335; 1,1">
                                          <p:stCondLst>
                                            <p:cond delay="662"/>
                                          </p:stCondLst>
                                        </p:cTn>
                                        <p:tgtEl>
                                          <p:spTgt spid="15"/>
                                        </p:tgtEl>
                                        <p:attrNameLst>
                                          <p:attrName>ppt_y</p:attrName>
                                        </p:attrNameLst>
                                      </p:cBhvr>
                                      <p:tavLst>
                                        <p:tav tm="0" fmla="#ppt_y-sin(pi*$)/27">
                                          <p:val>
                                            <p:fltVal val="0"/>
                                          </p:val>
                                        </p:tav>
                                        <p:tav tm="100000">
                                          <p:val>
                                            <p:fltVal val="1"/>
                                          </p:val>
                                        </p:tav>
                                      </p:tavLst>
                                    </p:anim>
                                    <p:anim calcmode="lin" valueType="num">
                                      <p:cBhvr>
                                        <p:cTn id="46" dur="82" tmFilter="0, 0; 0.125,0.2665; 0.25,0.4; 0.375,0.465; 0.5,0.5;  0.625,0.535; 0.75,0.6; 0.875,0.7335; 1,1">
                                          <p:stCondLst>
                                            <p:cond delay="828"/>
                                          </p:stCondLst>
                                        </p:cTn>
                                        <p:tgtEl>
                                          <p:spTgt spid="15"/>
                                        </p:tgtEl>
                                        <p:attrNameLst>
                                          <p:attrName>ppt_y</p:attrName>
                                        </p:attrNameLst>
                                      </p:cBhvr>
                                      <p:tavLst>
                                        <p:tav tm="0" fmla="#ppt_y-sin(pi*$)/81">
                                          <p:val>
                                            <p:fltVal val="0"/>
                                          </p:val>
                                        </p:tav>
                                        <p:tav tm="100000">
                                          <p:val>
                                            <p:fltVal val="1"/>
                                          </p:val>
                                        </p:tav>
                                      </p:tavLst>
                                    </p:anim>
                                    <p:animScale>
                                      <p:cBhvr>
                                        <p:cTn id="47" dur="13">
                                          <p:stCondLst>
                                            <p:cond delay="325"/>
                                          </p:stCondLst>
                                        </p:cTn>
                                        <p:tgtEl>
                                          <p:spTgt spid="15"/>
                                        </p:tgtEl>
                                      </p:cBhvr>
                                      <p:to x="100000" y="60000"/>
                                    </p:animScale>
                                    <p:animScale>
                                      <p:cBhvr>
                                        <p:cTn id="48" dur="83" decel="50000">
                                          <p:stCondLst>
                                            <p:cond delay="338"/>
                                          </p:stCondLst>
                                        </p:cTn>
                                        <p:tgtEl>
                                          <p:spTgt spid="15"/>
                                        </p:tgtEl>
                                      </p:cBhvr>
                                      <p:to x="100000" y="100000"/>
                                    </p:animScale>
                                    <p:animScale>
                                      <p:cBhvr>
                                        <p:cTn id="49" dur="13">
                                          <p:stCondLst>
                                            <p:cond delay="656"/>
                                          </p:stCondLst>
                                        </p:cTn>
                                        <p:tgtEl>
                                          <p:spTgt spid="15"/>
                                        </p:tgtEl>
                                      </p:cBhvr>
                                      <p:to x="100000" y="80000"/>
                                    </p:animScale>
                                    <p:animScale>
                                      <p:cBhvr>
                                        <p:cTn id="50" dur="83" decel="50000">
                                          <p:stCondLst>
                                            <p:cond delay="669"/>
                                          </p:stCondLst>
                                        </p:cTn>
                                        <p:tgtEl>
                                          <p:spTgt spid="15"/>
                                        </p:tgtEl>
                                      </p:cBhvr>
                                      <p:to x="100000" y="100000"/>
                                    </p:animScale>
                                    <p:animScale>
                                      <p:cBhvr>
                                        <p:cTn id="51" dur="13">
                                          <p:stCondLst>
                                            <p:cond delay="821"/>
                                          </p:stCondLst>
                                        </p:cTn>
                                        <p:tgtEl>
                                          <p:spTgt spid="15"/>
                                        </p:tgtEl>
                                      </p:cBhvr>
                                      <p:to x="100000" y="90000"/>
                                    </p:animScale>
                                    <p:animScale>
                                      <p:cBhvr>
                                        <p:cTn id="52" dur="83" decel="50000">
                                          <p:stCondLst>
                                            <p:cond delay="834"/>
                                          </p:stCondLst>
                                        </p:cTn>
                                        <p:tgtEl>
                                          <p:spTgt spid="15"/>
                                        </p:tgtEl>
                                      </p:cBhvr>
                                      <p:to x="100000" y="100000"/>
                                    </p:animScale>
                                    <p:animScale>
                                      <p:cBhvr>
                                        <p:cTn id="53" dur="13">
                                          <p:stCondLst>
                                            <p:cond delay="904"/>
                                          </p:stCondLst>
                                        </p:cTn>
                                        <p:tgtEl>
                                          <p:spTgt spid="15"/>
                                        </p:tgtEl>
                                      </p:cBhvr>
                                      <p:to x="100000" y="95000"/>
                                    </p:animScale>
                                    <p:animScale>
                                      <p:cBhvr>
                                        <p:cTn id="54" dur="83" decel="50000">
                                          <p:stCondLst>
                                            <p:cond delay="917"/>
                                          </p:stCondLst>
                                        </p:cTn>
                                        <p:tgtEl>
                                          <p:spTgt spid="15"/>
                                        </p:tgtEl>
                                      </p:cBhvr>
                                      <p:to x="100000" y="100000"/>
                                    </p:animScale>
                                  </p:childTnLst>
                                </p:cTn>
                              </p:par>
                            </p:childTnLst>
                          </p:cTn>
                        </p:par>
                        <p:par>
                          <p:cTn id="55" fill="hold">
                            <p:stCondLst>
                              <p:cond delay="3000"/>
                            </p:stCondLst>
                            <p:childTnLst>
                              <p:par>
                                <p:cTn id="56" presetID="26" presetClass="entr" presetSubtype="0" fill="hold"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wipe(down)">
                                      <p:cBhvr>
                                        <p:cTn id="58" dur="290">
                                          <p:stCondLst>
                                            <p:cond delay="0"/>
                                          </p:stCondLst>
                                        </p:cTn>
                                        <p:tgtEl>
                                          <p:spTgt spid="18"/>
                                        </p:tgtEl>
                                      </p:cBhvr>
                                    </p:animEffect>
                                    <p:anim calcmode="lin" valueType="num">
                                      <p:cBhvr>
                                        <p:cTn id="59" dur="911"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60" dur="332"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61" dur="332" tmFilter="0, 0; 0.125,0.2665; 0.25,0.4; 0.375,0.465; 0.5,0.5;  0.625,0.535; 0.75,0.6; 0.875,0.7335; 1,1">
                                          <p:stCondLst>
                                            <p:cond delay="332"/>
                                          </p:stCondLst>
                                        </p:cTn>
                                        <p:tgtEl>
                                          <p:spTgt spid="18"/>
                                        </p:tgtEl>
                                        <p:attrNameLst>
                                          <p:attrName>ppt_y</p:attrName>
                                        </p:attrNameLst>
                                      </p:cBhvr>
                                      <p:tavLst>
                                        <p:tav tm="0" fmla="#ppt_y-sin(pi*$)/9">
                                          <p:val>
                                            <p:fltVal val="0"/>
                                          </p:val>
                                        </p:tav>
                                        <p:tav tm="100000">
                                          <p:val>
                                            <p:fltVal val="1"/>
                                          </p:val>
                                        </p:tav>
                                      </p:tavLst>
                                    </p:anim>
                                    <p:anim calcmode="lin" valueType="num">
                                      <p:cBhvr>
                                        <p:cTn id="62" dur="166" tmFilter="0, 0; 0.125,0.2665; 0.25,0.4; 0.375,0.465; 0.5,0.5;  0.625,0.535; 0.75,0.6; 0.875,0.7335; 1,1">
                                          <p:stCondLst>
                                            <p:cond delay="662"/>
                                          </p:stCondLst>
                                        </p:cTn>
                                        <p:tgtEl>
                                          <p:spTgt spid="18"/>
                                        </p:tgtEl>
                                        <p:attrNameLst>
                                          <p:attrName>ppt_y</p:attrName>
                                        </p:attrNameLst>
                                      </p:cBhvr>
                                      <p:tavLst>
                                        <p:tav tm="0" fmla="#ppt_y-sin(pi*$)/27">
                                          <p:val>
                                            <p:fltVal val="0"/>
                                          </p:val>
                                        </p:tav>
                                        <p:tav tm="100000">
                                          <p:val>
                                            <p:fltVal val="1"/>
                                          </p:val>
                                        </p:tav>
                                      </p:tavLst>
                                    </p:anim>
                                    <p:anim calcmode="lin" valueType="num">
                                      <p:cBhvr>
                                        <p:cTn id="63" dur="82" tmFilter="0, 0; 0.125,0.2665; 0.25,0.4; 0.375,0.465; 0.5,0.5;  0.625,0.535; 0.75,0.6; 0.875,0.7335; 1,1">
                                          <p:stCondLst>
                                            <p:cond delay="828"/>
                                          </p:stCondLst>
                                        </p:cTn>
                                        <p:tgtEl>
                                          <p:spTgt spid="18"/>
                                        </p:tgtEl>
                                        <p:attrNameLst>
                                          <p:attrName>ppt_y</p:attrName>
                                        </p:attrNameLst>
                                      </p:cBhvr>
                                      <p:tavLst>
                                        <p:tav tm="0" fmla="#ppt_y-sin(pi*$)/81">
                                          <p:val>
                                            <p:fltVal val="0"/>
                                          </p:val>
                                        </p:tav>
                                        <p:tav tm="100000">
                                          <p:val>
                                            <p:fltVal val="1"/>
                                          </p:val>
                                        </p:tav>
                                      </p:tavLst>
                                    </p:anim>
                                    <p:animScale>
                                      <p:cBhvr>
                                        <p:cTn id="64" dur="13">
                                          <p:stCondLst>
                                            <p:cond delay="325"/>
                                          </p:stCondLst>
                                        </p:cTn>
                                        <p:tgtEl>
                                          <p:spTgt spid="18"/>
                                        </p:tgtEl>
                                      </p:cBhvr>
                                      <p:to x="100000" y="60000"/>
                                    </p:animScale>
                                    <p:animScale>
                                      <p:cBhvr>
                                        <p:cTn id="65" dur="83" decel="50000">
                                          <p:stCondLst>
                                            <p:cond delay="338"/>
                                          </p:stCondLst>
                                        </p:cTn>
                                        <p:tgtEl>
                                          <p:spTgt spid="18"/>
                                        </p:tgtEl>
                                      </p:cBhvr>
                                      <p:to x="100000" y="100000"/>
                                    </p:animScale>
                                    <p:animScale>
                                      <p:cBhvr>
                                        <p:cTn id="66" dur="13">
                                          <p:stCondLst>
                                            <p:cond delay="656"/>
                                          </p:stCondLst>
                                        </p:cTn>
                                        <p:tgtEl>
                                          <p:spTgt spid="18"/>
                                        </p:tgtEl>
                                      </p:cBhvr>
                                      <p:to x="100000" y="80000"/>
                                    </p:animScale>
                                    <p:animScale>
                                      <p:cBhvr>
                                        <p:cTn id="67" dur="83" decel="50000">
                                          <p:stCondLst>
                                            <p:cond delay="669"/>
                                          </p:stCondLst>
                                        </p:cTn>
                                        <p:tgtEl>
                                          <p:spTgt spid="18"/>
                                        </p:tgtEl>
                                      </p:cBhvr>
                                      <p:to x="100000" y="100000"/>
                                    </p:animScale>
                                    <p:animScale>
                                      <p:cBhvr>
                                        <p:cTn id="68" dur="13">
                                          <p:stCondLst>
                                            <p:cond delay="821"/>
                                          </p:stCondLst>
                                        </p:cTn>
                                        <p:tgtEl>
                                          <p:spTgt spid="18"/>
                                        </p:tgtEl>
                                      </p:cBhvr>
                                      <p:to x="100000" y="90000"/>
                                    </p:animScale>
                                    <p:animScale>
                                      <p:cBhvr>
                                        <p:cTn id="69" dur="83" decel="50000">
                                          <p:stCondLst>
                                            <p:cond delay="834"/>
                                          </p:stCondLst>
                                        </p:cTn>
                                        <p:tgtEl>
                                          <p:spTgt spid="18"/>
                                        </p:tgtEl>
                                      </p:cBhvr>
                                      <p:to x="100000" y="100000"/>
                                    </p:animScale>
                                    <p:animScale>
                                      <p:cBhvr>
                                        <p:cTn id="70" dur="13">
                                          <p:stCondLst>
                                            <p:cond delay="904"/>
                                          </p:stCondLst>
                                        </p:cTn>
                                        <p:tgtEl>
                                          <p:spTgt spid="18"/>
                                        </p:tgtEl>
                                      </p:cBhvr>
                                      <p:to x="100000" y="95000"/>
                                    </p:animScale>
                                    <p:animScale>
                                      <p:cBhvr>
                                        <p:cTn id="71" dur="83" decel="50000">
                                          <p:stCondLst>
                                            <p:cond delay="917"/>
                                          </p:stCondLst>
                                        </p:cTn>
                                        <p:tgtEl>
                                          <p:spTgt spid="18"/>
                                        </p:tgtEl>
                                      </p:cBhvr>
                                      <p:to x="100000" y="100000"/>
                                    </p:animScale>
                                  </p:childTnLst>
                                </p:cTn>
                              </p:par>
                              <p:par>
                                <p:cTn id="72" presetID="42" presetClass="entr" presetSubtype="0" fill="hold" grpId="0" nodeType="withEffect">
                                  <p:stCondLst>
                                    <p:cond delay="100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1000"/>
                                        <p:tgtEl>
                                          <p:spTgt spid="24"/>
                                        </p:tgtEl>
                                      </p:cBhvr>
                                    </p:animEffect>
                                    <p:anim calcmode="lin" valueType="num">
                                      <p:cBhvr>
                                        <p:cTn id="75" dur="1000" fill="hold"/>
                                        <p:tgtEl>
                                          <p:spTgt spid="24"/>
                                        </p:tgtEl>
                                        <p:attrNameLst>
                                          <p:attrName>ppt_x</p:attrName>
                                        </p:attrNameLst>
                                      </p:cBhvr>
                                      <p:tavLst>
                                        <p:tav tm="0">
                                          <p:val>
                                            <p:strVal val="#ppt_x"/>
                                          </p:val>
                                        </p:tav>
                                        <p:tav tm="100000">
                                          <p:val>
                                            <p:strVal val="#ppt_x"/>
                                          </p:val>
                                        </p:tav>
                                      </p:tavLst>
                                    </p:anim>
                                    <p:anim calcmode="lin" valueType="num">
                                      <p:cBhvr>
                                        <p:cTn id="76" dur="1000" fill="hold"/>
                                        <p:tgtEl>
                                          <p:spTgt spid="24"/>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100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1000"/>
                                        <p:tgtEl>
                                          <p:spTgt spid="25"/>
                                        </p:tgtEl>
                                      </p:cBhvr>
                                    </p:animEffect>
                                    <p:anim calcmode="lin" valueType="num">
                                      <p:cBhvr>
                                        <p:cTn id="80" dur="1000" fill="hold"/>
                                        <p:tgtEl>
                                          <p:spTgt spid="25"/>
                                        </p:tgtEl>
                                        <p:attrNameLst>
                                          <p:attrName>ppt_x</p:attrName>
                                        </p:attrNameLst>
                                      </p:cBhvr>
                                      <p:tavLst>
                                        <p:tav tm="0">
                                          <p:val>
                                            <p:strVal val="#ppt_x"/>
                                          </p:val>
                                        </p:tav>
                                        <p:tav tm="100000">
                                          <p:val>
                                            <p:strVal val="#ppt_x"/>
                                          </p:val>
                                        </p:tav>
                                      </p:tavLst>
                                    </p:anim>
                                    <p:anim calcmode="lin" valueType="num">
                                      <p:cBhvr>
                                        <p:cTn id="81" dur="1000" fill="hold"/>
                                        <p:tgtEl>
                                          <p:spTgt spid="25"/>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100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1000"/>
                                        <p:tgtEl>
                                          <p:spTgt spid="26"/>
                                        </p:tgtEl>
                                      </p:cBhvr>
                                    </p:animEffect>
                                    <p:anim calcmode="lin" valueType="num">
                                      <p:cBhvr>
                                        <p:cTn id="85" dur="1000" fill="hold"/>
                                        <p:tgtEl>
                                          <p:spTgt spid="26"/>
                                        </p:tgtEl>
                                        <p:attrNameLst>
                                          <p:attrName>ppt_x</p:attrName>
                                        </p:attrNameLst>
                                      </p:cBhvr>
                                      <p:tavLst>
                                        <p:tav tm="0">
                                          <p:val>
                                            <p:strVal val="#ppt_x"/>
                                          </p:val>
                                        </p:tav>
                                        <p:tav tm="100000">
                                          <p:val>
                                            <p:strVal val="#ppt_x"/>
                                          </p:val>
                                        </p:tav>
                                      </p:tavLst>
                                    </p:anim>
                                    <p:anim calcmode="lin" valueType="num">
                                      <p:cBhvr>
                                        <p:cTn id="86" dur="1000" fill="hold"/>
                                        <p:tgtEl>
                                          <p:spTgt spid="26"/>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1000"/>
                                  </p:stCondLst>
                                  <p:childTnLst>
                                    <p:set>
                                      <p:cBhvr>
                                        <p:cTn id="88" dur="1" fill="hold">
                                          <p:stCondLst>
                                            <p:cond delay="0"/>
                                          </p:stCondLst>
                                        </p:cTn>
                                        <p:tgtEl>
                                          <p:spTgt spid="27"/>
                                        </p:tgtEl>
                                        <p:attrNameLst>
                                          <p:attrName>style.visibility</p:attrName>
                                        </p:attrNameLst>
                                      </p:cBhvr>
                                      <p:to>
                                        <p:strVal val="visible"/>
                                      </p:to>
                                    </p:set>
                                    <p:animEffect transition="in" filter="fade">
                                      <p:cBhvr>
                                        <p:cTn id="89" dur="1000"/>
                                        <p:tgtEl>
                                          <p:spTgt spid="27"/>
                                        </p:tgtEl>
                                      </p:cBhvr>
                                    </p:animEffect>
                                    <p:anim calcmode="lin" valueType="num">
                                      <p:cBhvr>
                                        <p:cTn id="90" dur="1000" fill="hold"/>
                                        <p:tgtEl>
                                          <p:spTgt spid="27"/>
                                        </p:tgtEl>
                                        <p:attrNameLst>
                                          <p:attrName>ppt_x</p:attrName>
                                        </p:attrNameLst>
                                      </p:cBhvr>
                                      <p:tavLst>
                                        <p:tav tm="0">
                                          <p:val>
                                            <p:strVal val="#ppt_x"/>
                                          </p:val>
                                        </p:tav>
                                        <p:tav tm="100000">
                                          <p:val>
                                            <p:strVal val="#ppt_x"/>
                                          </p:val>
                                        </p:tav>
                                      </p:tavLst>
                                    </p:anim>
                                    <p:anim calcmode="lin" valueType="num">
                                      <p:cBhvr>
                                        <p:cTn id="91" dur="1000" fill="hold"/>
                                        <p:tgtEl>
                                          <p:spTgt spid="27"/>
                                        </p:tgtEl>
                                        <p:attrNameLst>
                                          <p:attrName>ppt_y</p:attrName>
                                        </p:attrNameLst>
                                      </p:cBhvr>
                                      <p:tavLst>
                                        <p:tav tm="0">
                                          <p:val>
                                            <p:strVal val="#ppt_y+.1"/>
                                          </p:val>
                                        </p:tav>
                                        <p:tav tm="100000">
                                          <p:val>
                                            <p:strVal val="#ppt_y"/>
                                          </p:val>
                                        </p:tav>
                                      </p:tavLst>
                                    </p:anim>
                                  </p:childTnLst>
                                </p:cTn>
                              </p:par>
                            </p:childTnLst>
                          </p:cTn>
                        </p:par>
                        <p:par>
                          <p:cTn id="92" fill="hold">
                            <p:stCondLst>
                              <p:cond delay="4000"/>
                            </p:stCondLst>
                            <p:childTnLst>
                              <p:par>
                                <p:cTn id="93" presetID="53" presetClass="entr" presetSubtype="16" fill="hold" grpId="0" nodeType="afterEffect">
                                  <p:stCondLst>
                                    <p:cond delay="0"/>
                                  </p:stCondLst>
                                  <p:childTnLst>
                                    <p:set>
                                      <p:cBhvr>
                                        <p:cTn id="94" dur="1" fill="hold">
                                          <p:stCondLst>
                                            <p:cond delay="0"/>
                                          </p:stCondLst>
                                        </p:cTn>
                                        <p:tgtEl>
                                          <p:spTgt spid="2"/>
                                        </p:tgtEl>
                                        <p:attrNameLst>
                                          <p:attrName>style.visibility</p:attrName>
                                        </p:attrNameLst>
                                      </p:cBhvr>
                                      <p:to>
                                        <p:strVal val="visible"/>
                                      </p:to>
                                    </p:set>
                                    <p:anim calcmode="lin" valueType="num">
                                      <p:cBhvr>
                                        <p:cTn id="95" dur="500" fill="hold"/>
                                        <p:tgtEl>
                                          <p:spTgt spid="2"/>
                                        </p:tgtEl>
                                        <p:attrNameLst>
                                          <p:attrName>ppt_w</p:attrName>
                                        </p:attrNameLst>
                                      </p:cBhvr>
                                      <p:tavLst>
                                        <p:tav tm="0">
                                          <p:val>
                                            <p:fltVal val="0"/>
                                          </p:val>
                                        </p:tav>
                                        <p:tav tm="100000">
                                          <p:val>
                                            <p:strVal val="#ppt_w"/>
                                          </p:val>
                                        </p:tav>
                                      </p:tavLst>
                                    </p:anim>
                                    <p:anim calcmode="lin" valueType="num">
                                      <p:cBhvr>
                                        <p:cTn id="96" dur="500" fill="hold"/>
                                        <p:tgtEl>
                                          <p:spTgt spid="2"/>
                                        </p:tgtEl>
                                        <p:attrNameLst>
                                          <p:attrName>ppt_h</p:attrName>
                                        </p:attrNameLst>
                                      </p:cBhvr>
                                      <p:tavLst>
                                        <p:tav tm="0">
                                          <p:val>
                                            <p:fltVal val="0"/>
                                          </p:val>
                                        </p:tav>
                                        <p:tav tm="100000">
                                          <p:val>
                                            <p:strVal val="#ppt_h"/>
                                          </p:val>
                                        </p:tav>
                                      </p:tavLst>
                                    </p:anim>
                                    <p:animEffect transition="in" filter="fade">
                                      <p:cBhvr>
                                        <p:cTn id="97" dur="500"/>
                                        <p:tgtEl>
                                          <p:spTgt spid="2"/>
                                        </p:tgtEl>
                                      </p:cBhvr>
                                    </p:animEffect>
                                  </p:childTnLst>
                                </p:cTn>
                              </p:par>
                            </p:childTnLst>
                          </p:cTn>
                        </p:par>
                        <p:par>
                          <p:cTn id="98" fill="hold">
                            <p:stCondLst>
                              <p:cond delay="4500"/>
                            </p:stCondLst>
                            <p:childTnLst>
                              <p:par>
                                <p:cTn id="99" presetID="53" presetClass="entr" presetSubtype="16" fill="hold" grpId="0" nodeType="afterEffect">
                                  <p:stCondLst>
                                    <p:cond delay="0"/>
                                  </p:stCondLst>
                                  <p:childTnLst>
                                    <p:set>
                                      <p:cBhvr>
                                        <p:cTn id="100" dur="1" fill="hold">
                                          <p:stCondLst>
                                            <p:cond delay="0"/>
                                          </p:stCondLst>
                                        </p:cTn>
                                        <p:tgtEl>
                                          <p:spTgt spid="3"/>
                                        </p:tgtEl>
                                        <p:attrNameLst>
                                          <p:attrName>style.visibility</p:attrName>
                                        </p:attrNameLst>
                                      </p:cBhvr>
                                      <p:to>
                                        <p:strVal val="visible"/>
                                      </p:to>
                                    </p:set>
                                    <p:anim calcmode="lin" valueType="num">
                                      <p:cBhvr>
                                        <p:cTn id="101" dur="500" fill="hold"/>
                                        <p:tgtEl>
                                          <p:spTgt spid="3"/>
                                        </p:tgtEl>
                                        <p:attrNameLst>
                                          <p:attrName>ppt_w</p:attrName>
                                        </p:attrNameLst>
                                      </p:cBhvr>
                                      <p:tavLst>
                                        <p:tav tm="0">
                                          <p:val>
                                            <p:fltVal val="0"/>
                                          </p:val>
                                        </p:tav>
                                        <p:tav tm="100000">
                                          <p:val>
                                            <p:strVal val="#ppt_w"/>
                                          </p:val>
                                        </p:tav>
                                      </p:tavLst>
                                    </p:anim>
                                    <p:anim calcmode="lin" valueType="num">
                                      <p:cBhvr>
                                        <p:cTn id="102" dur="500" fill="hold"/>
                                        <p:tgtEl>
                                          <p:spTgt spid="3"/>
                                        </p:tgtEl>
                                        <p:attrNameLst>
                                          <p:attrName>ppt_h</p:attrName>
                                        </p:attrNameLst>
                                      </p:cBhvr>
                                      <p:tavLst>
                                        <p:tav tm="0">
                                          <p:val>
                                            <p:fltVal val="0"/>
                                          </p:val>
                                        </p:tav>
                                        <p:tav tm="100000">
                                          <p:val>
                                            <p:strVal val="#ppt_h"/>
                                          </p:val>
                                        </p:tav>
                                      </p:tavLst>
                                    </p:anim>
                                    <p:animEffect transition="in" filter="fade">
                                      <p:cBhvr>
                                        <p:cTn id="103" dur="500"/>
                                        <p:tgtEl>
                                          <p:spTgt spid="3"/>
                                        </p:tgtEl>
                                      </p:cBhvr>
                                    </p:animEffect>
                                  </p:childTnLst>
                                </p:cTn>
                              </p:par>
                            </p:childTnLst>
                          </p:cTn>
                        </p:par>
                        <p:par>
                          <p:cTn id="104" fill="hold">
                            <p:stCondLst>
                              <p:cond delay="5000"/>
                            </p:stCondLst>
                            <p:childTnLst>
                              <p:par>
                                <p:cTn id="105" presetID="53" presetClass="entr" presetSubtype="16" fill="hold" grpId="0" nodeType="afterEffect">
                                  <p:stCondLst>
                                    <p:cond delay="0"/>
                                  </p:stCondLst>
                                  <p:childTnLst>
                                    <p:set>
                                      <p:cBhvr>
                                        <p:cTn id="106" dur="1" fill="hold">
                                          <p:stCondLst>
                                            <p:cond delay="0"/>
                                          </p:stCondLst>
                                        </p:cTn>
                                        <p:tgtEl>
                                          <p:spTgt spid="8"/>
                                        </p:tgtEl>
                                        <p:attrNameLst>
                                          <p:attrName>style.visibility</p:attrName>
                                        </p:attrNameLst>
                                      </p:cBhvr>
                                      <p:to>
                                        <p:strVal val="visible"/>
                                      </p:to>
                                    </p:set>
                                    <p:anim calcmode="lin" valueType="num">
                                      <p:cBhvr>
                                        <p:cTn id="107" dur="500" fill="hold"/>
                                        <p:tgtEl>
                                          <p:spTgt spid="8"/>
                                        </p:tgtEl>
                                        <p:attrNameLst>
                                          <p:attrName>ppt_w</p:attrName>
                                        </p:attrNameLst>
                                      </p:cBhvr>
                                      <p:tavLst>
                                        <p:tav tm="0">
                                          <p:val>
                                            <p:fltVal val="0"/>
                                          </p:val>
                                        </p:tav>
                                        <p:tav tm="100000">
                                          <p:val>
                                            <p:strVal val="#ppt_w"/>
                                          </p:val>
                                        </p:tav>
                                      </p:tavLst>
                                    </p:anim>
                                    <p:anim calcmode="lin" valueType="num">
                                      <p:cBhvr>
                                        <p:cTn id="108" dur="500" fill="hold"/>
                                        <p:tgtEl>
                                          <p:spTgt spid="8"/>
                                        </p:tgtEl>
                                        <p:attrNameLst>
                                          <p:attrName>ppt_h</p:attrName>
                                        </p:attrNameLst>
                                      </p:cBhvr>
                                      <p:tavLst>
                                        <p:tav tm="0">
                                          <p:val>
                                            <p:fltVal val="0"/>
                                          </p:val>
                                        </p:tav>
                                        <p:tav tm="100000">
                                          <p:val>
                                            <p:strVal val="#ppt_h"/>
                                          </p:val>
                                        </p:tav>
                                      </p:tavLst>
                                    </p:anim>
                                    <p:animEffect transition="in" filter="fade">
                                      <p:cBhvr>
                                        <p:cTn id="109" dur="500"/>
                                        <p:tgtEl>
                                          <p:spTgt spid="8"/>
                                        </p:tgtEl>
                                      </p:cBhvr>
                                    </p:animEffect>
                                  </p:childTnLst>
                                </p:cTn>
                              </p:par>
                            </p:childTnLst>
                          </p:cTn>
                        </p:par>
                        <p:par>
                          <p:cTn id="110" fill="hold">
                            <p:stCondLst>
                              <p:cond delay="5500"/>
                            </p:stCondLst>
                            <p:childTnLst>
                              <p:par>
                                <p:cTn id="111" presetID="53" presetClass="entr" presetSubtype="16" fill="hold" grpId="0" nodeType="afterEffect">
                                  <p:stCondLst>
                                    <p:cond delay="0"/>
                                  </p:stCondLst>
                                  <p:childTnLst>
                                    <p:set>
                                      <p:cBhvr>
                                        <p:cTn id="112" dur="1" fill="hold">
                                          <p:stCondLst>
                                            <p:cond delay="0"/>
                                          </p:stCondLst>
                                        </p:cTn>
                                        <p:tgtEl>
                                          <p:spTgt spid="9"/>
                                        </p:tgtEl>
                                        <p:attrNameLst>
                                          <p:attrName>style.visibility</p:attrName>
                                        </p:attrNameLst>
                                      </p:cBhvr>
                                      <p:to>
                                        <p:strVal val="visible"/>
                                      </p:to>
                                    </p:set>
                                    <p:anim calcmode="lin" valueType="num">
                                      <p:cBhvr>
                                        <p:cTn id="113" dur="500" fill="hold"/>
                                        <p:tgtEl>
                                          <p:spTgt spid="9"/>
                                        </p:tgtEl>
                                        <p:attrNameLst>
                                          <p:attrName>ppt_w</p:attrName>
                                        </p:attrNameLst>
                                      </p:cBhvr>
                                      <p:tavLst>
                                        <p:tav tm="0">
                                          <p:val>
                                            <p:fltVal val="0"/>
                                          </p:val>
                                        </p:tav>
                                        <p:tav tm="100000">
                                          <p:val>
                                            <p:strVal val="#ppt_w"/>
                                          </p:val>
                                        </p:tav>
                                      </p:tavLst>
                                    </p:anim>
                                    <p:anim calcmode="lin" valueType="num">
                                      <p:cBhvr>
                                        <p:cTn id="114" dur="500" fill="hold"/>
                                        <p:tgtEl>
                                          <p:spTgt spid="9"/>
                                        </p:tgtEl>
                                        <p:attrNameLst>
                                          <p:attrName>ppt_h</p:attrName>
                                        </p:attrNameLst>
                                      </p:cBhvr>
                                      <p:tavLst>
                                        <p:tav tm="0">
                                          <p:val>
                                            <p:fltVal val="0"/>
                                          </p:val>
                                        </p:tav>
                                        <p:tav tm="100000">
                                          <p:val>
                                            <p:strVal val="#ppt_h"/>
                                          </p:val>
                                        </p:tav>
                                      </p:tavLst>
                                    </p:anim>
                                    <p:animEffect transition="in" filter="fade">
                                      <p:cBhvr>
                                        <p:cTn id="1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2" grpId="0" bldLvl="0" animBg="1"/>
      <p:bldP spid="3" grpId="0" bldLvl="0" animBg="1"/>
      <p:bldP spid="8" grpId="0" bldLvl="0" animBg="1"/>
      <p:bldP spid="9" grpId="0" bldLvl="0" animBg="1"/>
    </p:bldLst>
  </p:timing>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4979</Words>
  <Application>WPS 演示</Application>
  <PresentationFormat>全屏显示(16:9)</PresentationFormat>
  <Paragraphs>364</Paragraphs>
  <Slides>36</Slides>
  <Notes>35</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36</vt:i4>
      </vt:variant>
    </vt:vector>
  </HeadingPairs>
  <TitlesOfParts>
    <vt:vector size="46" baseType="lpstr">
      <vt:lpstr>Arial</vt:lpstr>
      <vt:lpstr>宋体</vt:lpstr>
      <vt:lpstr>Wingdings</vt:lpstr>
      <vt:lpstr>DIN-BoldItalic</vt:lpstr>
      <vt:lpstr>微软雅黑</vt:lpstr>
      <vt:lpstr>Impact MT Std</vt:lpstr>
      <vt:lpstr>Segoe Print</vt:lpstr>
      <vt:lpstr>Calibri</vt:lpstr>
      <vt:lpstr>Arial Unicode MS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毕业答辩</dc:title>
  <dc:creator>第一PPT</dc:creator>
  <cp:keywords>www.1ppt.com</cp:keywords>
  <cp:lastModifiedBy>裕</cp:lastModifiedBy>
  <cp:revision>276</cp:revision>
  <dcterms:created xsi:type="dcterms:W3CDTF">2016-01-14T08:47:00Z</dcterms:created>
  <dcterms:modified xsi:type="dcterms:W3CDTF">2020-10-27T06:27:13Z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y fmtid="{D5CDD505-2E9C-101B-9397-08002B2CF9AE}" pid="3" name="KSORubyTemplateID">
    <vt:lpwstr>8</vt:lpwstr>
  </property>
</Properties>
</file>